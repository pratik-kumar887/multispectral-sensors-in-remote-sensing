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emf" ContentType="image/x-emf"/>
  <Default Extension="xlsx" ContentType="application/vnd.openxmlformats-officedocument.spreadsheetml.sheet"/>
  <Default Extension="jpg" ContentType="image/jpeg"/>
  <Default Extension="bin" ContentType="application/vnd.openxmlformats-officedocument.oleObject"/>
  <Default Extension="rels" ContentType="application/vnd.openxmlformats-package.relationships+xml"/>
  <Override PartName="/ppt/presentation.xml" ContentType="application/vnd.openxmlformats-officedocument.presentationml.presentation.main+xml"/>
  <Override PartName="/ppt/slides/slide24.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9.xml" ContentType="application/vnd.openxmlformats-officedocument.presentationml.slide+xml"/>
  <Override PartName="/ppt/slides/slide40.xml" ContentType="application/vnd.openxmlformats-officedocument.presentationml.slide+xml"/>
  <Override PartName="/ppt/slides/slide45.xml" ContentType="application/vnd.openxmlformats-officedocument.presentationml.slide+xml"/>
  <Override PartName="/ppt/slides/slide61.xml" ContentType="application/vnd.openxmlformats-officedocument.presentationml.slide+xml"/>
  <Override PartName="/ppt/slides/slide66.xml" ContentType="application/vnd.openxmlformats-officedocument.presentationml.slide+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Layouts/slideLayout8.xml" ContentType="application/vnd.openxmlformats-officedocument.presentationml.slideLayout+xml"/>
  <Override PartName="/ppt/slides/slide14.xml" ContentType="application/vnd.openxmlformats-officedocument.presentationml.slide+xml"/>
  <Override PartName="/ppt/slides/slide27.xml" ContentType="application/vnd.openxmlformats-officedocument.presentationml.slide+xml"/>
  <Override PartName="/ppt/slides/slide9.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43.xml" ContentType="application/vnd.openxmlformats-officedocument.presentationml.slide+xml"/>
  <Override PartName="/ppt/slides/slide5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slides/slide56.xml" ContentType="application/vnd.openxmlformats-officedocument.presentationml.slide+xml"/>
  <Override PartName="/ppt/slides/slide64.xml" ContentType="application/vnd.openxmlformats-officedocument.presentationml.slide+xml"/>
  <Override PartName="/ppt/slides/slide3.xml" ContentType="application/vnd.openxmlformats-officedocument.presentationml.slide+xml"/>
  <Override PartName="/ppt/slides/slide59.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33.xml" ContentType="application/vnd.openxmlformats-officedocument.presentationml.slide+xml"/>
  <Override PartName="/ppt/slides/slide41.xml" ContentType="application/vnd.openxmlformats-officedocument.presentationml.slide+xml"/>
  <Override PartName="/ppt/slides/slide46.xml" ContentType="application/vnd.openxmlformats-officedocument.presentationml.slide+xml"/>
  <Override PartName="/ppt/slides/slide54.xml" ContentType="application/vnd.openxmlformats-officedocument.presentationml.slide+xml"/>
  <Override PartName="/ppt/slides/slide62.xml" ContentType="application/vnd.openxmlformats-officedocument.presentationml.slide+xml"/>
  <Override PartName="/ppt/slides/slide67.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6.xml" ContentType="application/vnd.openxmlformats-officedocument.presentationml.slide+xml"/>
  <Override PartName="/ppt/slides/slide44.xml" ContentType="application/vnd.openxmlformats-officedocument.presentationml.slide+xml"/>
  <Override PartName="/ppt/slides/slide57.xml" ContentType="application/vnd.openxmlformats-officedocument.presentationml.slide+xml"/>
  <Override PartName="/ppt/slides/slide65.xml" ContentType="application/vnd.openxmlformats-officedocument.presentationml.slide+xml"/>
  <Override PartName="/ppt/slides/slide18.xml" ContentType="application/vnd.openxmlformats-officedocument.presentationml.slide+xml"/>
  <Override PartName="/ppt/slides/slide39.xml" ContentType="application/vnd.openxmlformats-officedocument.presentationml.slide+xml"/>
  <Override PartName="/ppt/slides/slide52.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slides/slide4.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34.xml" ContentType="application/vnd.openxmlformats-officedocument.presentationml.slide+xml"/>
  <Override PartName="/ppt/slides/slide47.xml" ContentType="application/vnd.openxmlformats-officedocument.presentationml.slide+xml"/>
  <Override PartName="/ppt/slides/slide55.xml" ContentType="application/vnd.openxmlformats-officedocument.presentationml.slide+xml"/>
  <Override PartName="/ppt/slides/slide8.xml" ContentType="application/vnd.openxmlformats-officedocument.presentationml.slide+xml"/>
  <Override PartName="/ppt/slides/slide29.xml" ContentType="application/vnd.openxmlformats-officedocument.presentationml.slide+xml"/>
  <Override PartName="/ppt/slides/slide42.xml" ContentType="application/vnd.openxmlformats-officedocument.presentationml.slide+xml"/>
  <Override PartName="/ppt/slides/slide50.xml" ContentType="application/vnd.openxmlformats-officedocument.presentationml.slide+xml"/>
  <Override PartName="/ppt/slides/slide58.xml" ContentType="application/vnd.openxmlformats-officedocument.presentationml.slide+xml"/>
  <Override PartName="/ppt/slides/slide63.xml" ContentType="application/vnd.openxmlformats-officedocument.presentationml.slide+xml"/>
  <Override PartName="/ppt/viewProps.xml" ContentType="application/vnd.openxmlformats-officedocument.presentationml.viewProps+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37.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53.xml" ContentType="application/vnd.openxmlformats-officedocument.presentationml.slide+xml"/>
  <Override PartName="/ppt/slides/slide5.xml" ContentType="application/vnd.openxmlformats-officedocument.presentationml.slide+xml"/>
  <Override PartName="/ppt/commentAuthors.xml" ContentType="application/vnd.openxmlformats-officedocument.presentationml.commentAuthor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70"/>
  </p:notesMasterIdLst>
  <p:sldIdLst>
    <p:sldId id="257" r:id="rId3"/>
    <p:sldId id="389" r:id="rId4"/>
    <p:sldId id="418" r:id="rId5"/>
    <p:sldId id="410" r:id="rId6"/>
    <p:sldId id="413" r:id="rId7"/>
    <p:sldId id="411" r:id="rId8"/>
    <p:sldId id="412" r:id="rId9"/>
    <p:sldId id="409" r:id="rId10"/>
    <p:sldId id="414" r:id="rId11"/>
    <p:sldId id="408" r:id="rId12"/>
    <p:sldId id="415" r:id="rId13"/>
    <p:sldId id="407" r:id="rId14"/>
    <p:sldId id="406" r:id="rId15"/>
    <p:sldId id="417" r:id="rId16"/>
    <p:sldId id="390" r:id="rId17"/>
    <p:sldId id="391" r:id="rId18"/>
    <p:sldId id="392" r:id="rId19"/>
    <p:sldId id="393" r:id="rId20"/>
    <p:sldId id="394" r:id="rId21"/>
    <p:sldId id="455" r:id="rId22"/>
    <p:sldId id="395" r:id="rId23"/>
    <p:sldId id="398" r:id="rId24"/>
    <p:sldId id="456" r:id="rId25"/>
    <p:sldId id="396" r:id="rId26"/>
    <p:sldId id="402" r:id="rId27"/>
    <p:sldId id="399" r:id="rId28"/>
    <p:sldId id="403" r:id="rId29"/>
    <p:sldId id="404" r:id="rId30"/>
    <p:sldId id="434" r:id="rId31"/>
    <p:sldId id="433" r:id="rId32"/>
    <p:sldId id="432" r:id="rId33"/>
    <p:sldId id="431" r:id="rId34"/>
    <p:sldId id="430" r:id="rId35"/>
    <p:sldId id="429" r:id="rId36"/>
    <p:sldId id="428" r:id="rId37"/>
    <p:sldId id="427" r:id="rId38"/>
    <p:sldId id="426" r:id="rId39"/>
    <p:sldId id="425" r:id="rId40"/>
    <p:sldId id="424" r:id="rId41"/>
    <p:sldId id="423" r:id="rId42"/>
    <p:sldId id="405" r:id="rId43"/>
    <p:sldId id="436" r:id="rId44"/>
    <p:sldId id="437" r:id="rId45"/>
    <p:sldId id="438" r:id="rId46"/>
    <p:sldId id="439" r:id="rId47"/>
    <p:sldId id="440" r:id="rId48"/>
    <p:sldId id="441" r:id="rId49"/>
    <p:sldId id="442" r:id="rId50"/>
    <p:sldId id="443" r:id="rId51"/>
    <p:sldId id="444" r:id="rId52"/>
    <p:sldId id="445" r:id="rId53"/>
    <p:sldId id="446" r:id="rId54"/>
    <p:sldId id="420" r:id="rId55"/>
    <p:sldId id="447" r:id="rId56"/>
    <p:sldId id="448" r:id="rId57"/>
    <p:sldId id="449" r:id="rId58"/>
    <p:sldId id="419" r:id="rId59"/>
    <p:sldId id="450" r:id="rId60"/>
    <p:sldId id="451" r:id="rId61"/>
    <p:sldId id="452" r:id="rId62"/>
    <p:sldId id="453" r:id="rId63"/>
    <p:sldId id="454" r:id="rId64"/>
    <p:sldId id="324" r:id="rId65"/>
    <p:sldId id="321" r:id="rId66"/>
    <p:sldId id="318" r:id="rId67"/>
    <p:sldId id="325" r:id="rId68"/>
    <p:sldId id="400"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tik Kumar" initials="PK" lastIdx="1" clrIdx="0">
    <p:extLst>
      <p:ext uri="{19B8F6BF-5375-455C-9EA6-DF929625EA0E}">
        <p15:presenceInfo xmlns:p15="http://schemas.microsoft.com/office/powerpoint/2012/main" userId="db497f68dd8dc62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47" d="100"/>
          <a:sy n="47" d="100"/>
        </p:scale>
        <p:origin x="77" y="787"/>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24.xml" Id="rId26" /><Relationship Type="http://schemas.openxmlformats.org/officeDocument/2006/relationships/slide" Target="/ppt/slides/slide19.xml" Id="rId21" /><Relationship Type="http://schemas.openxmlformats.org/officeDocument/2006/relationships/slide" Target="/ppt/slides/slide40.xml" Id="rId42" /><Relationship Type="http://schemas.openxmlformats.org/officeDocument/2006/relationships/slide" Target="/ppt/slides/slide45.xml" Id="rId47" /><Relationship Type="http://schemas.openxmlformats.org/officeDocument/2006/relationships/slide" Target="/ppt/slides/slide61.xml" Id="rId63" /><Relationship Type="http://schemas.openxmlformats.org/officeDocument/2006/relationships/slide" Target="/ppt/slides/slide66.xml" Id="rId68" /><Relationship Type="http://schemas.openxmlformats.org/officeDocument/2006/relationships/slideMaster" Target="/ppt/slideMasters/slideMaster2.xml" Id="rId2" /><Relationship Type="http://schemas.openxmlformats.org/officeDocument/2006/relationships/slide" Target="/ppt/slides/slide14.xml" Id="rId16" /><Relationship Type="http://schemas.openxmlformats.org/officeDocument/2006/relationships/slide" Target="/ppt/slides/slide27.xml" Id="rId29" /><Relationship Type="http://schemas.openxmlformats.org/officeDocument/2006/relationships/slide" Target="/ppt/slides/slide9.xml" Id="rId11" /><Relationship Type="http://schemas.openxmlformats.org/officeDocument/2006/relationships/slide" Target="/ppt/slides/slide22.xml" Id="rId24" /><Relationship Type="http://schemas.openxmlformats.org/officeDocument/2006/relationships/slide" Target="/ppt/slides/slide30.xml" Id="rId32" /><Relationship Type="http://schemas.openxmlformats.org/officeDocument/2006/relationships/slide" Target="/ppt/slides/slide35.xml" Id="rId37" /><Relationship Type="http://schemas.openxmlformats.org/officeDocument/2006/relationships/slide" Target="/ppt/slides/slide38.xml" Id="rId40" /><Relationship Type="http://schemas.openxmlformats.org/officeDocument/2006/relationships/slide" Target="/ppt/slides/slide43.xml" Id="rId45" /><Relationship Type="http://schemas.openxmlformats.org/officeDocument/2006/relationships/slide" Target="/ppt/slides/slide51.xml" Id="rId53" /><Relationship Type="http://schemas.openxmlformats.org/officeDocument/2006/relationships/slide" Target="/ppt/slides/slide56.xml" Id="rId58" /><Relationship Type="http://schemas.openxmlformats.org/officeDocument/2006/relationships/slide" Target="/ppt/slides/slide64.xml" Id="rId66" /><Relationship Type="http://schemas.openxmlformats.org/officeDocument/2006/relationships/theme" Target="/ppt/theme/theme1.xml" Id="rId74" /><Relationship Type="http://schemas.openxmlformats.org/officeDocument/2006/relationships/slide" Target="/ppt/slides/slide3.xml" Id="rId5" /><Relationship Type="http://schemas.openxmlformats.org/officeDocument/2006/relationships/slide" Target="/ppt/slides/slide59.xml" Id="rId61" /><Relationship Type="http://schemas.openxmlformats.org/officeDocument/2006/relationships/slide" Target="/ppt/slides/slide17.xml" Id="rId19" /><Relationship Type="http://schemas.openxmlformats.org/officeDocument/2006/relationships/slide" Target="/ppt/slides/slide12.xml" Id="rId14" /><Relationship Type="http://schemas.openxmlformats.org/officeDocument/2006/relationships/slide" Target="/ppt/slides/slide20.xml" Id="rId22" /><Relationship Type="http://schemas.openxmlformats.org/officeDocument/2006/relationships/slide" Target="/ppt/slides/slide25.xml" Id="rId27" /><Relationship Type="http://schemas.openxmlformats.org/officeDocument/2006/relationships/slide" Target="/ppt/slides/slide28.xml" Id="rId30" /><Relationship Type="http://schemas.openxmlformats.org/officeDocument/2006/relationships/slide" Target="/ppt/slides/slide33.xml" Id="rId35" /><Relationship Type="http://schemas.openxmlformats.org/officeDocument/2006/relationships/slide" Target="/ppt/slides/slide41.xml" Id="rId43" /><Relationship Type="http://schemas.openxmlformats.org/officeDocument/2006/relationships/slide" Target="/ppt/slides/slide46.xml" Id="rId48" /><Relationship Type="http://schemas.openxmlformats.org/officeDocument/2006/relationships/slide" Target="/ppt/slides/slide54.xml" Id="rId56" /><Relationship Type="http://schemas.openxmlformats.org/officeDocument/2006/relationships/slide" Target="/ppt/slides/slide62.xml" Id="rId64" /><Relationship Type="http://schemas.openxmlformats.org/officeDocument/2006/relationships/slide" Target="/ppt/slides/slide67.xml" Id="rId69" /><Relationship Type="http://schemas.openxmlformats.org/officeDocument/2006/relationships/slide" Target="/ppt/slides/slide6.xml" Id="rId8" /><Relationship Type="http://schemas.openxmlformats.org/officeDocument/2006/relationships/slide" Target="/ppt/slides/slide49.xml" Id="rId51" /><Relationship Type="http://schemas.openxmlformats.org/officeDocument/2006/relationships/presProps" Target="/ppt/presProps.xml" Id="rId72" /><Relationship Type="http://schemas.openxmlformats.org/officeDocument/2006/relationships/slide" Target="/ppt/slides/slide1.xml" Id="rId3" /><Relationship Type="http://schemas.openxmlformats.org/officeDocument/2006/relationships/slide" Target="/ppt/slides/slide10.xml" Id="rId12" /><Relationship Type="http://schemas.openxmlformats.org/officeDocument/2006/relationships/slide" Target="/ppt/slides/slide15.xml" Id="rId17" /><Relationship Type="http://schemas.openxmlformats.org/officeDocument/2006/relationships/slide" Target="/ppt/slides/slide23.xml" Id="rId25" /><Relationship Type="http://schemas.openxmlformats.org/officeDocument/2006/relationships/slide" Target="/ppt/slides/slide31.xml" Id="rId33" /><Relationship Type="http://schemas.openxmlformats.org/officeDocument/2006/relationships/slide" Target="/ppt/slides/slide36.xml" Id="rId38" /><Relationship Type="http://schemas.openxmlformats.org/officeDocument/2006/relationships/slide" Target="/ppt/slides/slide44.xml" Id="rId46" /><Relationship Type="http://schemas.openxmlformats.org/officeDocument/2006/relationships/slide" Target="/ppt/slides/slide57.xml" Id="rId59" /><Relationship Type="http://schemas.openxmlformats.org/officeDocument/2006/relationships/slide" Target="/ppt/slides/slide65.xml" Id="rId67" /><Relationship Type="http://schemas.openxmlformats.org/officeDocument/2006/relationships/slide" Target="/ppt/slides/slide18.xml" Id="rId20" /><Relationship Type="http://schemas.openxmlformats.org/officeDocument/2006/relationships/slide" Target="/ppt/slides/slide39.xml" Id="rId41" /><Relationship Type="http://schemas.openxmlformats.org/officeDocument/2006/relationships/slide" Target="/ppt/slides/slide52.xml" Id="rId54" /><Relationship Type="http://schemas.openxmlformats.org/officeDocument/2006/relationships/slide" Target="/ppt/slides/slide60.xml" Id="rId62" /><Relationship Type="http://schemas.openxmlformats.org/officeDocument/2006/relationships/notesMaster" Target="/ppt/notesMasters/notesMaster1.xml" Id="rId70" /><Relationship Type="http://schemas.openxmlformats.org/officeDocument/2006/relationships/tableStyles" Target="/ppt/tableStyles.xml" Id="rId75" /><Relationship Type="http://schemas.openxmlformats.org/officeDocument/2006/relationships/slideMaster" Target="/ppt/slideMasters/slideMaster1.xml" Id="rId1" /><Relationship Type="http://schemas.openxmlformats.org/officeDocument/2006/relationships/slide" Target="/ppt/slides/slide4.xml" Id="rId6" /><Relationship Type="http://schemas.openxmlformats.org/officeDocument/2006/relationships/slide" Target="/ppt/slides/slide13.xml" Id="rId15" /><Relationship Type="http://schemas.openxmlformats.org/officeDocument/2006/relationships/slide" Target="/ppt/slides/slide21.xml" Id="rId23" /><Relationship Type="http://schemas.openxmlformats.org/officeDocument/2006/relationships/slide" Target="/ppt/slides/slide26.xml" Id="rId28" /><Relationship Type="http://schemas.openxmlformats.org/officeDocument/2006/relationships/slide" Target="/ppt/slides/slide34.xml" Id="rId36" /><Relationship Type="http://schemas.openxmlformats.org/officeDocument/2006/relationships/slide" Target="/ppt/slides/slide47.xml" Id="rId49" /><Relationship Type="http://schemas.openxmlformats.org/officeDocument/2006/relationships/slide" Target="/ppt/slides/slide55.xml" Id="rId57" /><Relationship Type="http://schemas.openxmlformats.org/officeDocument/2006/relationships/slide" Target="/ppt/slides/slide8.xml" Id="rId10" /><Relationship Type="http://schemas.openxmlformats.org/officeDocument/2006/relationships/slide" Target="/ppt/slides/slide29.xml" Id="rId31" /><Relationship Type="http://schemas.openxmlformats.org/officeDocument/2006/relationships/slide" Target="/ppt/slides/slide42.xml" Id="rId44" /><Relationship Type="http://schemas.openxmlformats.org/officeDocument/2006/relationships/slide" Target="/ppt/slides/slide50.xml" Id="rId52" /><Relationship Type="http://schemas.openxmlformats.org/officeDocument/2006/relationships/slide" Target="/ppt/slides/slide58.xml" Id="rId60" /><Relationship Type="http://schemas.openxmlformats.org/officeDocument/2006/relationships/slide" Target="/ppt/slides/slide63.xml" Id="rId65" /><Relationship Type="http://schemas.openxmlformats.org/officeDocument/2006/relationships/viewProps" Target="/ppt/viewProps.xml" Id="rId73" /><Relationship Type="http://schemas.openxmlformats.org/officeDocument/2006/relationships/slide" Target="/ppt/slides/slide2.xml" Id="rId4" /><Relationship Type="http://schemas.openxmlformats.org/officeDocument/2006/relationships/slide" Target="/ppt/slides/slide7.xml" Id="rId9" /><Relationship Type="http://schemas.openxmlformats.org/officeDocument/2006/relationships/slide" Target="/ppt/slides/slide11.xml" Id="rId13" /><Relationship Type="http://schemas.openxmlformats.org/officeDocument/2006/relationships/slide" Target="/ppt/slides/slide16.xml" Id="rId18" /><Relationship Type="http://schemas.openxmlformats.org/officeDocument/2006/relationships/slide" Target="/ppt/slides/slide37.xml" Id="rId39" /><Relationship Type="http://schemas.openxmlformats.org/officeDocument/2006/relationships/slide" Target="/ppt/slides/slide32.xml" Id="rId34" /><Relationship Type="http://schemas.openxmlformats.org/officeDocument/2006/relationships/slide" Target="/ppt/slides/slide48.xml" Id="rId50" /><Relationship Type="http://schemas.openxmlformats.org/officeDocument/2006/relationships/slide" Target="/ppt/slides/slide53.xml" Id="rId55" /><Relationship Type="http://schemas.openxmlformats.org/officeDocument/2006/relationships/slide" Target="/ppt/slides/slide5.xml" Id="rId7" /><Relationship Type="http://schemas.openxmlformats.org/officeDocument/2006/relationships/commentAuthors" Target="/ppt/commentAuthors.xml" Id="rId71" /></Relationships>
</file>

<file path=ppt/notesMasters/_rels/notesMaster1.xml.rels>&#65279;<?xml version="1.0" encoding="utf-8"?><Relationships xmlns="http://schemas.openxmlformats.org/package/2006/relationships"><Relationship Type="http://schemas.openxmlformats.org/officeDocument/2006/relationships/theme" Target="/ppt/theme/theme3.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DF4020-A0E0-41E2-A47A-5334AF41C0F9}" type="datetimeFigureOut">
              <a:rPr lang="en-IN" smtClean="0"/>
              <a:t>09-10-2025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6CDCE5-0A56-4C52-AE88-78EA3594426D}" type="slidenum">
              <a:rPr lang="en-IN" smtClean="0"/>
              <a:t>‹#›</a:t>
            </a:fld>
            <a:endParaRPr lang="en-IN"/>
          </a:p>
        </p:txBody>
      </p:sp>
    </p:spTree>
    <p:extLst>
      <p:ext uri="{BB962C8B-B14F-4D97-AF65-F5344CB8AC3E}">
        <p14:creationId xmlns:p14="http://schemas.microsoft.com/office/powerpoint/2010/main" val="1911754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51.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952E47-29F4-4AA4-84E5-231D8E3FF7E4}" type="slidenum">
              <a:rPr lang="en-IN" smtClean="0"/>
              <a:t>51</a:t>
            </a:fld>
            <a:endParaRPr lang="en-IN"/>
          </a:p>
        </p:txBody>
      </p:sp>
    </p:spTree>
    <p:extLst>
      <p:ext uri="{BB962C8B-B14F-4D97-AF65-F5344CB8AC3E}">
        <p14:creationId xmlns:p14="http://schemas.microsoft.com/office/powerpoint/2010/main" val="3053643661"/>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I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Inhalt blauer Rahmen einspalti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1C0180-3DB0-0525-AD5B-12D2E5A205F2}"/>
              </a:ext>
            </a:extLst>
          </p:cNvPr>
          <p:cNvSpPr txBox="1">
            <a:spLocks noGrp="1"/>
          </p:cNvSpPr>
          <p:nvPr>
            <p:ph type="title"/>
          </p:nvPr>
        </p:nvSpPr>
        <p:spPr>
          <a:xfrm>
            <a:off x="1221044" y="50926"/>
            <a:ext cx="9906070" cy="699211"/>
          </a:xfrm>
          <a:prstGeom prst="rect">
            <a:avLst/>
          </a:prstGeom>
          <a:noFill/>
          <a:ln>
            <a:noFill/>
          </a:ln>
        </p:spPr>
        <p:txBody>
          <a:bodyPr vert="horz" wrap="square" lIns="91440" tIns="45720" rIns="91440" bIns="45720" anchor="t" anchorCtr="0" compatLnSpc="1">
            <a:noAutofit/>
          </a:bodyPr>
          <a:lstStyle>
            <a:lvl1pPr marL="0" marR="0" lvl="0" indent="0" fontAlgn="auto">
              <a:lnSpc>
                <a:spcPct val="100000"/>
              </a:lnSpc>
              <a:spcBef>
                <a:spcPts val="0"/>
              </a:spcBef>
              <a:spcAft>
                <a:spcPts val="0"/>
              </a:spcAft>
              <a:tabLst/>
              <a:defRPr lang="en-US" sz="4000" b="0" i="0" u="none" strike="noStrike" cap="none" spc="0" baseline="0">
                <a:solidFill>
                  <a:srgbClr val="000000"/>
                </a:solidFill>
                <a:uFillTx/>
                <a:latin typeface="Helvetica" pitchFamily="34"/>
                <a:cs typeface="Helvetica" pitchFamily="34"/>
              </a:defRPr>
            </a:lvl1pPr>
          </a:lstStyle>
          <a:p>
            <a:pPr lvl="0"/>
            <a:r>
              <a:rPr lang="en-US"/>
              <a:t>Click to edit Master title style</a:t>
            </a:r>
            <a:endParaRPr lang="de-DE"/>
          </a:p>
        </p:txBody>
      </p:sp>
      <p:sp>
        <p:nvSpPr>
          <p:cNvPr id="3" name="Inhaltsplatzhalter 2">
            <a:extLst>
              <a:ext uri="{FF2B5EF4-FFF2-40B4-BE49-F238E27FC236}">
                <a16:creationId xmlns:a16="http://schemas.microsoft.com/office/drawing/2014/main" id="{2398A32C-AC78-6FA2-F9AF-415191FA77B5}"/>
              </a:ext>
            </a:extLst>
          </p:cNvPr>
          <p:cNvSpPr txBox="1">
            <a:spLocks noGrp="1"/>
          </p:cNvSpPr>
          <p:nvPr>
            <p:ph idx="1"/>
          </p:nvPr>
        </p:nvSpPr>
        <p:spPr>
          <a:xfrm>
            <a:off x="695401" y="1354729"/>
            <a:ext cx="9906070" cy="3554419"/>
          </a:xfrm>
        </p:spPr>
        <p:txBody>
          <a:bodyPr/>
          <a:lstStyle>
            <a:lvl1pPr marL="457200" indent="-457200">
              <a:defRPr lang="en-US">
                <a:latin typeface="Helvetica" pitchFamily="34"/>
                <a:cs typeface="Helvetica" pitchFamily="34"/>
              </a:defRPr>
            </a:lvl1pPr>
            <a:lvl2pPr>
              <a:defRPr lang="en-US">
                <a:latin typeface="Helvetica" pitchFamily="34"/>
                <a:cs typeface="Helvetica" pitchFamily="34"/>
              </a:defRPr>
            </a:lvl2pPr>
            <a:lvl3pPr>
              <a:spcBef>
                <a:spcPts val="500"/>
              </a:spcBef>
              <a:defRPr lang="en-US" sz="2000">
                <a:latin typeface="Helvetica" pitchFamily="34"/>
                <a:cs typeface="Helvetica" pitchFamily="34"/>
              </a:defRPr>
            </a:lvl3pPr>
            <a:lvl4pPr>
              <a:defRPr lang="en-US" sz="1800">
                <a:latin typeface="Helvetica" pitchFamily="34"/>
                <a:cs typeface="Helvetica" pitchFamily="34"/>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liennummernplatzhalter 5">
            <a:extLst>
              <a:ext uri="{FF2B5EF4-FFF2-40B4-BE49-F238E27FC236}">
                <a16:creationId xmlns:a16="http://schemas.microsoft.com/office/drawing/2014/main" id="{54381E46-0B0A-C200-DA83-BD519891FFDC}"/>
              </a:ext>
            </a:extLst>
          </p:cNvPr>
          <p:cNvSpPr txBox="1">
            <a:spLocks noGrp="1"/>
          </p:cNvSpPr>
          <p:nvPr>
            <p:ph type="sldNum" sz="quarter" idx="8"/>
          </p:nvPr>
        </p:nvSpPr>
        <p:spPr>
          <a:xfrm>
            <a:off x="11783166" y="6492871"/>
            <a:ext cx="408834" cy="365129"/>
          </a:xfrm>
        </p:spPr>
        <p:txBody>
          <a:bodyPr/>
          <a:lstStyle>
            <a:lvl1pPr>
              <a:defRPr sz="1400">
                <a:solidFill>
                  <a:srgbClr val="006699"/>
                </a:solidFill>
                <a:latin typeface="Helvetica" pitchFamily="34"/>
                <a:cs typeface="Helvetica" pitchFamily="34"/>
              </a:defRPr>
            </a:lvl1pPr>
          </a:lstStyle>
          <a:p>
            <a:r>
              <a:rPr lang="en-IN" dirty="0"/>
              <a:t>1</a:t>
            </a:r>
          </a:p>
        </p:txBody>
      </p:sp>
    </p:spTree>
    <p:extLst>
      <p:ext uri="{BB962C8B-B14F-4D97-AF65-F5344CB8AC3E}">
        <p14:creationId xmlns:p14="http://schemas.microsoft.com/office/powerpoint/2010/main" val="2093302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EC366-CDEA-A482-7232-D724D0A2E810}"/>
              </a:ext>
            </a:extLst>
          </p:cNvPr>
          <p:cNvSpPr txBox="1">
            <a:spLocks noGrp="1"/>
          </p:cNvSpPr>
          <p:nvPr>
            <p:ph type="ctrTitle"/>
          </p:nvPr>
        </p:nvSpPr>
        <p:spPr>
          <a:xfrm>
            <a:off x="1524003" y="1122361"/>
            <a:ext cx="9144000" cy="2387598"/>
          </a:xfrm>
          <a:prstGeom prst="rect">
            <a:avLst/>
          </a:prstGeom>
          <a:noFill/>
          <a:ln>
            <a:noFill/>
          </a:ln>
        </p:spPr>
        <p:txBody>
          <a:bodyPr vert="horz" wrap="square" lIns="91440" tIns="45720" rIns="91440" bIns="45720" anchor="b" anchorCtr="1" compatLnSpc="1">
            <a:noAutofit/>
          </a:bodyPr>
          <a:lstStyle>
            <a:lvl1pPr marL="0" marR="0" lvl="0" indent="0" algn="ctr" fontAlgn="auto">
              <a:lnSpc>
                <a:spcPct val="100000"/>
              </a:lnSpc>
              <a:spcBef>
                <a:spcPts val="0"/>
              </a:spcBef>
              <a:spcAft>
                <a:spcPts val="0"/>
              </a:spcAft>
              <a:tabLst/>
              <a:defRPr lang="en-US" sz="6000" b="0" i="0" u="none" strike="noStrike" cap="none" spc="0" baseline="0">
                <a:solidFill>
                  <a:srgbClr val="000000"/>
                </a:solidFill>
                <a:uFillTx/>
                <a:latin typeface="Arial" pitchFamily="34"/>
                <a:cs typeface="Arial" pitchFamily="34"/>
              </a:defRPr>
            </a:lvl1pPr>
          </a:lstStyle>
          <a:p>
            <a:pPr lvl="0"/>
            <a:r>
              <a:rPr lang="en-US"/>
              <a:t>Click to edit Master title style</a:t>
            </a:r>
            <a:endParaRPr lang="en-AT"/>
          </a:p>
        </p:txBody>
      </p:sp>
      <p:sp>
        <p:nvSpPr>
          <p:cNvPr id="3" name="Subtitle 2">
            <a:extLst>
              <a:ext uri="{FF2B5EF4-FFF2-40B4-BE49-F238E27FC236}">
                <a16:creationId xmlns:a16="http://schemas.microsoft.com/office/drawing/2014/main" id="{FFB52D03-DCDE-7856-46B9-1DBC244A976F}"/>
              </a:ext>
            </a:extLst>
          </p:cNvPr>
          <p:cNvSpPr txBox="1">
            <a:spLocks noGrp="1"/>
          </p:cNvSpPr>
          <p:nvPr>
            <p:ph type="subTitle" idx="1"/>
          </p:nvPr>
        </p:nvSpPr>
        <p:spPr>
          <a:xfrm>
            <a:off x="1524003" y="3602041"/>
            <a:ext cx="9144000" cy="1655758"/>
          </a:xfrm>
        </p:spPr>
        <p:txBody>
          <a:bodyPr anchorCtr="1"/>
          <a:lstStyle>
            <a:lvl1pPr marL="0" indent="0" algn="ctr">
              <a:buNone/>
              <a:defRPr lang="en-US"/>
            </a:lvl1pPr>
          </a:lstStyle>
          <a:p>
            <a:pPr lvl="0"/>
            <a:r>
              <a:rPr lang="en-US"/>
              <a:t>Click to edit Master subtitle style</a:t>
            </a:r>
            <a:endParaRPr lang="en-AT"/>
          </a:p>
        </p:txBody>
      </p:sp>
      <p:sp>
        <p:nvSpPr>
          <p:cNvPr id="4" name="Date Placeholder 3">
            <a:extLst>
              <a:ext uri="{FF2B5EF4-FFF2-40B4-BE49-F238E27FC236}">
                <a16:creationId xmlns:a16="http://schemas.microsoft.com/office/drawing/2014/main" id="{7DB98FB5-DFDE-2707-B261-D3E8315AED16}"/>
              </a:ext>
            </a:extLst>
          </p:cNvPr>
          <p:cNvSpPr txBox="1">
            <a:spLocks noGrp="1"/>
          </p:cNvSpPr>
          <p:nvPr>
            <p:ph type="dt" sz="half" idx="7"/>
          </p:nvPr>
        </p:nvSpPr>
        <p:spPr/>
        <p:txBody>
          <a:bodyPr/>
          <a:lstStyle>
            <a:lvl1pPr>
              <a:defRPr/>
            </a:lvl1pPr>
          </a:lstStyle>
          <a:p>
            <a:pPr lvl="0"/>
            <a:fld id="{60E4474B-8A5F-438C-8A68-84B03F476D38}" type="datetime8">
              <a:rPr lang="en-AT"/>
              <a:pPr lvl="0"/>
              <a:t>10/09/2025 11:08</a:t>
            </a:fld>
            <a:endParaRPr lang="en-AT"/>
          </a:p>
        </p:txBody>
      </p:sp>
      <p:sp>
        <p:nvSpPr>
          <p:cNvPr id="5" name="Footer Placeholder 4">
            <a:extLst>
              <a:ext uri="{FF2B5EF4-FFF2-40B4-BE49-F238E27FC236}">
                <a16:creationId xmlns:a16="http://schemas.microsoft.com/office/drawing/2014/main" id="{0ABE1158-D871-79CF-DDA7-91281178A184}"/>
              </a:ext>
            </a:extLst>
          </p:cNvPr>
          <p:cNvSpPr txBox="1">
            <a:spLocks noGrp="1"/>
          </p:cNvSpPr>
          <p:nvPr>
            <p:ph type="ftr" sz="quarter" idx="9"/>
          </p:nvPr>
        </p:nvSpPr>
        <p:spPr/>
        <p:txBody>
          <a:bodyPr/>
          <a:lstStyle>
            <a:lvl1pPr>
              <a:defRPr/>
            </a:lvl1pPr>
          </a:lstStyle>
          <a:p>
            <a:pPr lvl="0"/>
            <a:endParaRPr lang="en-AT"/>
          </a:p>
        </p:txBody>
      </p:sp>
      <p:sp>
        <p:nvSpPr>
          <p:cNvPr id="6" name="Slide Number Placeholder 5">
            <a:extLst>
              <a:ext uri="{FF2B5EF4-FFF2-40B4-BE49-F238E27FC236}">
                <a16:creationId xmlns:a16="http://schemas.microsoft.com/office/drawing/2014/main" id="{18983F50-E9A1-B073-280C-0B6ACB4AFBCC}"/>
              </a:ext>
            </a:extLst>
          </p:cNvPr>
          <p:cNvSpPr txBox="1">
            <a:spLocks noGrp="1"/>
          </p:cNvSpPr>
          <p:nvPr>
            <p:ph type="sldNum" sz="quarter" idx="8"/>
          </p:nvPr>
        </p:nvSpPr>
        <p:spPr/>
        <p:txBody>
          <a:bodyPr/>
          <a:lstStyle>
            <a:lvl1pPr>
              <a:defRPr/>
            </a:lvl1pPr>
          </a:lstStyle>
          <a:p>
            <a:pPr lvl="0"/>
            <a:fld id="{6776AC9F-C206-41D8-B836-C0322FFA171D}" type="slidenum">
              <a:t>‹#›</a:t>
            </a:fld>
            <a:endParaRPr lang="en-AT"/>
          </a:p>
        </p:txBody>
      </p:sp>
    </p:spTree>
    <p:extLst>
      <p:ext uri="{BB962C8B-B14F-4D97-AF65-F5344CB8AC3E}">
        <p14:creationId xmlns:p14="http://schemas.microsoft.com/office/powerpoint/2010/main" val="429195205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9D1A-590B-EE8D-4EED-F7919DC68CC6}"/>
              </a:ext>
            </a:extLst>
          </p:cNvPr>
          <p:cNvSpPr txBox="1">
            <a:spLocks noGrp="1"/>
          </p:cNvSpPr>
          <p:nvPr>
            <p:ph type="title"/>
          </p:nvPr>
        </p:nvSpPr>
        <p:spPr/>
        <p:txBody>
          <a:bodyPr/>
          <a:lstStyle>
            <a:lvl1pPr>
              <a:defRPr/>
            </a:lvl1pPr>
          </a:lstStyle>
          <a:p>
            <a:pPr lvl="0"/>
            <a:r>
              <a:rPr lang="en-GB"/>
              <a:t>Click to edit Master title style</a:t>
            </a:r>
            <a:endParaRPr lang="en-IN"/>
          </a:p>
        </p:txBody>
      </p:sp>
      <p:sp>
        <p:nvSpPr>
          <p:cNvPr id="3" name="Date Placeholder 2">
            <a:extLst>
              <a:ext uri="{FF2B5EF4-FFF2-40B4-BE49-F238E27FC236}">
                <a16:creationId xmlns:a16="http://schemas.microsoft.com/office/drawing/2014/main" id="{7E900ECD-5F16-8BBA-388B-0E359BC9A335}"/>
              </a:ext>
            </a:extLst>
          </p:cNvPr>
          <p:cNvSpPr txBox="1">
            <a:spLocks noGrp="1"/>
          </p:cNvSpPr>
          <p:nvPr>
            <p:ph type="dt" sz="half" idx="7"/>
          </p:nvPr>
        </p:nvSpPr>
        <p:spPr/>
        <p:txBody>
          <a:bodyPr/>
          <a:lstStyle>
            <a:lvl1pPr>
              <a:defRPr/>
            </a:lvl1pPr>
          </a:lstStyle>
          <a:p>
            <a:pPr lvl="0"/>
            <a:fld id="{9BBB7037-18FC-45B5-8781-000D2D374F0D}" type="datetime1">
              <a:rPr lang="en-IN"/>
              <a:pPr lvl="0"/>
              <a:t>09-10-2025</a:t>
            </a:fld>
            <a:endParaRPr lang="en-IN"/>
          </a:p>
        </p:txBody>
      </p:sp>
      <p:sp>
        <p:nvSpPr>
          <p:cNvPr id="4" name="Footer Placeholder 3">
            <a:extLst>
              <a:ext uri="{FF2B5EF4-FFF2-40B4-BE49-F238E27FC236}">
                <a16:creationId xmlns:a16="http://schemas.microsoft.com/office/drawing/2014/main" id="{BBE44EEE-00DD-B99B-D1ED-E5A0968B88F7}"/>
              </a:ext>
            </a:extLst>
          </p:cNvPr>
          <p:cNvSpPr txBox="1">
            <a:spLocks noGrp="1"/>
          </p:cNvSpPr>
          <p:nvPr>
            <p:ph type="ftr" sz="quarter" idx="9"/>
          </p:nvPr>
        </p:nvSpPr>
        <p:spPr/>
        <p:txBody>
          <a:bodyPr/>
          <a:lstStyle>
            <a:lvl1pPr>
              <a:defRPr/>
            </a:lvl1pPr>
          </a:lstStyle>
          <a:p>
            <a:pPr lvl="0"/>
            <a:endParaRPr lang="en-IN"/>
          </a:p>
        </p:txBody>
      </p:sp>
      <p:sp>
        <p:nvSpPr>
          <p:cNvPr id="5" name="Slide Number Placeholder 4">
            <a:extLst>
              <a:ext uri="{FF2B5EF4-FFF2-40B4-BE49-F238E27FC236}">
                <a16:creationId xmlns:a16="http://schemas.microsoft.com/office/drawing/2014/main" id="{FA90FF75-F3BC-5E19-93D7-F5073CACB445}"/>
              </a:ext>
            </a:extLst>
          </p:cNvPr>
          <p:cNvSpPr txBox="1">
            <a:spLocks noGrp="1"/>
          </p:cNvSpPr>
          <p:nvPr>
            <p:ph type="sldNum" sz="quarter" idx="8"/>
          </p:nvPr>
        </p:nvSpPr>
        <p:spPr/>
        <p:txBody>
          <a:bodyPr/>
          <a:lstStyle>
            <a:lvl1pPr>
              <a:defRPr/>
            </a:lvl1pPr>
          </a:lstStyle>
          <a:p>
            <a:pPr lvl="0"/>
            <a:fld id="{3216AC97-E42B-4D36-AAF1-9ED66E28B6F4}" type="slidenum">
              <a:t>‹#›</a:t>
            </a:fld>
            <a:endParaRPr lang="en-IN"/>
          </a:p>
        </p:txBody>
      </p:sp>
    </p:spTree>
    <p:extLst>
      <p:ext uri="{BB962C8B-B14F-4D97-AF65-F5344CB8AC3E}">
        <p14:creationId xmlns:p14="http://schemas.microsoft.com/office/powerpoint/2010/main" val="134420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438FDD-6D03-FFDB-19F0-412CD9785A7B}"/>
              </a:ext>
            </a:extLst>
          </p:cNvPr>
          <p:cNvSpPr txBox="1">
            <a:spLocks noGrp="1"/>
          </p:cNvSpPr>
          <p:nvPr>
            <p:ph type="dt" sz="half" idx="7"/>
          </p:nvPr>
        </p:nvSpPr>
        <p:spPr/>
        <p:txBody>
          <a:bodyPr/>
          <a:lstStyle>
            <a:lvl1pPr>
              <a:defRPr/>
            </a:lvl1pPr>
          </a:lstStyle>
          <a:p>
            <a:pPr lvl="0"/>
            <a:fld id="{0EB80109-3238-4CFE-97F1-DA6033196BC7}" type="datetime1">
              <a:rPr lang="en-IN"/>
              <a:pPr lvl="0"/>
              <a:t>09-10-2025</a:t>
            </a:fld>
            <a:endParaRPr lang="en-IN"/>
          </a:p>
        </p:txBody>
      </p:sp>
      <p:sp>
        <p:nvSpPr>
          <p:cNvPr id="3" name="Footer Placeholder 2">
            <a:extLst>
              <a:ext uri="{FF2B5EF4-FFF2-40B4-BE49-F238E27FC236}">
                <a16:creationId xmlns:a16="http://schemas.microsoft.com/office/drawing/2014/main" id="{78FAED6E-E381-E869-46EF-7B79ED581AB3}"/>
              </a:ext>
            </a:extLst>
          </p:cNvPr>
          <p:cNvSpPr txBox="1">
            <a:spLocks noGrp="1"/>
          </p:cNvSpPr>
          <p:nvPr>
            <p:ph type="ftr" sz="quarter" idx="9"/>
          </p:nvPr>
        </p:nvSpPr>
        <p:spPr/>
        <p:txBody>
          <a:bodyPr/>
          <a:lstStyle>
            <a:lvl1pPr>
              <a:defRPr/>
            </a:lvl1pPr>
          </a:lstStyle>
          <a:p>
            <a:pPr lvl="0"/>
            <a:endParaRPr lang="en-IN"/>
          </a:p>
        </p:txBody>
      </p:sp>
      <p:sp>
        <p:nvSpPr>
          <p:cNvPr id="4" name="Slide Number Placeholder 3">
            <a:extLst>
              <a:ext uri="{FF2B5EF4-FFF2-40B4-BE49-F238E27FC236}">
                <a16:creationId xmlns:a16="http://schemas.microsoft.com/office/drawing/2014/main" id="{BE0D6703-1B30-7573-E97A-953FF93436AF}"/>
              </a:ext>
            </a:extLst>
          </p:cNvPr>
          <p:cNvSpPr txBox="1">
            <a:spLocks noGrp="1"/>
          </p:cNvSpPr>
          <p:nvPr>
            <p:ph type="sldNum" sz="quarter" idx="8"/>
          </p:nvPr>
        </p:nvSpPr>
        <p:spPr/>
        <p:txBody>
          <a:bodyPr/>
          <a:lstStyle>
            <a:lvl1pPr>
              <a:defRPr/>
            </a:lvl1pPr>
          </a:lstStyle>
          <a:p>
            <a:pPr lvl="0"/>
            <a:fld id="{8F0BB649-8FE5-4AF8-887D-C8514FADED09}" type="slidenum">
              <a:t>‹#›</a:t>
            </a:fld>
            <a:endParaRPr lang="en-IN"/>
          </a:p>
        </p:txBody>
      </p:sp>
    </p:spTree>
    <p:extLst>
      <p:ext uri="{BB962C8B-B14F-4D97-AF65-F5344CB8AC3E}">
        <p14:creationId xmlns:p14="http://schemas.microsoft.com/office/powerpoint/2010/main" val="3608371579"/>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theme/theme1.xml" Id="rId3"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image" Target="/ppt/media/image1.png" Id="rId4" /></Relationships>
</file>

<file path=ppt/slideMasters/_rels/slideMaster2.xml.rels>&#65279;<?xml version="1.0" encoding="utf-8"?><Relationships xmlns="http://schemas.openxmlformats.org/package/2006/relationships"><Relationship Type="http://schemas.openxmlformats.org/officeDocument/2006/relationships/slideLayout" Target="/ppt/slideLayouts/slideLayout9.xml" Id="rId7" /><Relationship Type="http://schemas.openxmlformats.org/officeDocument/2006/relationships/theme" Target="/ppt/theme/theme2.xml" Id="rId12" /><Relationship Type="http://schemas.openxmlformats.org/officeDocument/2006/relationships/slideLayout" Target="/ppt/slideLayouts/slideLayout8.xml" Id="rId6" /></Relationships>
</file>

<file path=ppt/slideMasters/slideMaster1.xml><?xml version="1.0" encoding="utf-8"?>
<p:sldMaster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platzhalter 2">
            <a:extLst>
              <a:ext uri="{FF2B5EF4-FFF2-40B4-BE49-F238E27FC236}">
                <a16:creationId xmlns:a16="http://schemas.microsoft.com/office/drawing/2014/main" id="{C7F90584-2F4D-15CD-BBF8-40E477FAC6E0}"/>
              </a:ext>
            </a:extLst>
          </p:cNvPr>
          <p:cNvSpPr txBox="1">
            <a:spLocks noGrp="1"/>
          </p:cNvSpPr>
          <p:nvPr>
            <p:ph type="body" idx="1"/>
          </p:nvPr>
        </p:nvSpPr>
        <p:spPr>
          <a:xfrm>
            <a:off x="609603" y="1600200"/>
            <a:ext cx="10972800" cy="4525959"/>
          </a:xfrm>
          <a:prstGeom prst="rect">
            <a:avLst/>
          </a:prstGeom>
          <a:noFill/>
          <a:ln>
            <a:noFill/>
          </a:ln>
        </p:spPr>
        <p:txBody>
          <a:bodyPr vert="horz" wrap="square" lIns="91440" tIns="45720" rIns="91440" bIns="45720" anchor="t" anchorCtr="0" compatLnSpc="1">
            <a:noAutofit/>
          </a:bodyPr>
          <a:lstStyle/>
          <a:p>
            <a:pPr lvl="0"/>
            <a:r>
              <a:rPr lang="de-DE"/>
              <a:t>Textmasterformate durch Klicken bearbeiten</a:t>
            </a:r>
          </a:p>
          <a:p>
            <a:pPr lvl="1"/>
            <a:r>
              <a:rPr lang="de-DE"/>
              <a:t>Zweite Ebene</a:t>
            </a:r>
          </a:p>
          <a:p>
            <a:pPr lvl="2"/>
            <a:r>
              <a:rPr lang="de-DE"/>
              <a:t>Dritte Ebene</a:t>
            </a:r>
          </a:p>
          <a:p>
            <a:pPr lvl="3"/>
            <a:r>
              <a:rPr lang="de-DE"/>
              <a:t>Vierte Ebene</a:t>
            </a:r>
          </a:p>
        </p:txBody>
      </p:sp>
      <p:sp>
        <p:nvSpPr>
          <p:cNvPr id="3" name="Datumsplatzhalter 3">
            <a:extLst>
              <a:ext uri="{FF2B5EF4-FFF2-40B4-BE49-F238E27FC236}">
                <a16:creationId xmlns:a16="http://schemas.microsoft.com/office/drawing/2014/main" id="{DE7DF644-5A4E-3E71-4BD2-B12F4830954B}"/>
              </a:ext>
            </a:extLst>
          </p:cNvPr>
          <p:cNvSpPr txBox="1">
            <a:spLocks noGrp="1"/>
          </p:cNvSpPr>
          <p:nvPr>
            <p:ph type="dt" sz="half" idx="2"/>
          </p:nvPr>
        </p:nvSpPr>
        <p:spPr>
          <a:xfrm>
            <a:off x="609603" y="6356351"/>
            <a:ext cx="2844798"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AT" sz="1200" b="0" i="0" u="none" strike="noStrike" kern="1200" cap="none" spc="0" baseline="0">
                <a:solidFill>
                  <a:srgbClr val="898989"/>
                </a:solidFill>
                <a:uFillTx/>
                <a:latin typeface="Calibri"/>
              </a:defRPr>
            </a:lvl1pPr>
          </a:lstStyle>
          <a:p>
            <a:pPr lvl="0"/>
            <a:fld id="{4775AF66-568B-4F29-A1A2-0E199856C7EC}" type="datetime8">
              <a:rPr lang="en-AT"/>
              <a:pPr lvl="0"/>
              <a:t>10/09/2025 11:08</a:t>
            </a:fld>
            <a:endParaRPr lang="en-AT"/>
          </a:p>
        </p:txBody>
      </p:sp>
      <p:sp>
        <p:nvSpPr>
          <p:cNvPr id="4" name="Fußzeilenplatzhalter 4">
            <a:extLst>
              <a:ext uri="{FF2B5EF4-FFF2-40B4-BE49-F238E27FC236}">
                <a16:creationId xmlns:a16="http://schemas.microsoft.com/office/drawing/2014/main" id="{2E26B6F5-4CE9-8A3C-0306-42B76DB0CE87}"/>
              </a:ext>
            </a:extLst>
          </p:cNvPr>
          <p:cNvSpPr txBox="1">
            <a:spLocks noGrp="1"/>
          </p:cNvSpPr>
          <p:nvPr>
            <p:ph type="ftr" sz="quarter" idx="3"/>
          </p:nvPr>
        </p:nvSpPr>
        <p:spPr>
          <a:xfrm>
            <a:off x="4165604" y="6356351"/>
            <a:ext cx="3860797"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AT" sz="1200" b="0" i="0" u="none" strike="noStrike" kern="1200" cap="none" spc="0" baseline="0">
                <a:solidFill>
                  <a:srgbClr val="898989"/>
                </a:solidFill>
                <a:uFillTx/>
                <a:latin typeface="Calibri"/>
              </a:defRPr>
            </a:lvl1pPr>
          </a:lstStyle>
          <a:p>
            <a:pPr lvl="0"/>
            <a:endParaRPr lang="en-AT"/>
          </a:p>
        </p:txBody>
      </p:sp>
      <p:sp>
        <p:nvSpPr>
          <p:cNvPr id="5" name="Foliennummernplatzhalter 5">
            <a:extLst>
              <a:ext uri="{FF2B5EF4-FFF2-40B4-BE49-F238E27FC236}">
                <a16:creationId xmlns:a16="http://schemas.microsoft.com/office/drawing/2014/main" id="{CE99A759-EEA8-EFB8-C6C5-C23EC8B71C3F}"/>
              </a:ext>
            </a:extLst>
          </p:cNvPr>
          <p:cNvSpPr txBox="1">
            <a:spLocks noGrp="1"/>
          </p:cNvSpPr>
          <p:nvPr>
            <p:ph type="sldNum" sz="quarter" idx="4"/>
          </p:nvPr>
        </p:nvSpPr>
        <p:spPr>
          <a:xfrm>
            <a:off x="8737604" y="6356351"/>
            <a:ext cx="2844798"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AT" sz="1200" b="0" i="0" u="none" strike="noStrike" kern="1200" cap="none" spc="0" baseline="0">
                <a:solidFill>
                  <a:srgbClr val="898989"/>
                </a:solidFill>
                <a:uFillTx/>
                <a:latin typeface="Calibri" pitchFamily="34"/>
              </a:defRPr>
            </a:lvl1pPr>
          </a:lstStyle>
          <a:p>
            <a:pPr lvl="0"/>
            <a:fld id="{BB0F4B9F-FEBE-4057-B2AA-4042F08303E2}" type="slidenum">
              <a:t>‹#›</a:t>
            </a:fld>
            <a:endParaRPr lang="en-AT"/>
          </a:p>
        </p:txBody>
      </p:sp>
      <p:grpSp>
        <p:nvGrpSpPr>
          <p:cNvPr id="6" name="Gruppieren 11">
            <a:extLst>
              <a:ext uri="{FF2B5EF4-FFF2-40B4-BE49-F238E27FC236}">
                <a16:creationId xmlns:a16="http://schemas.microsoft.com/office/drawing/2014/main" id="{4C23D409-9575-F11B-03FB-4B8F286750F8}"/>
              </a:ext>
            </a:extLst>
          </p:cNvPr>
          <p:cNvGrpSpPr/>
          <p:nvPr/>
        </p:nvGrpSpPr>
        <p:grpSpPr>
          <a:xfrm>
            <a:off x="0" y="799417"/>
            <a:ext cx="11795146" cy="6058582"/>
            <a:chOff x="0" y="857231"/>
            <a:chExt cx="11523195" cy="6000768"/>
          </a:xfrm>
        </p:grpSpPr>
        <p:sp>
          <p:nvSpPr>
            <p:cNvPr id="7" name="Rectangle 12">
              <a:extLst>
                <a:ext uri="{FF2B5EF4-FFF2-40B4-BE49-F238E27FC236}">
                  <a16:creationId xmlns:a16="http://schemas.microsoft.com/office/drawing/2014/main" id="{05A27902-296D-03C0-34EC-89FC0E90D931}"/>
                </a:ext>
              </a:extLst>
            </p:cNvPr>
            <p:cNvSpPr/>
            <p:nvPr/>
          </p:nvSpPr>
          <p:spPr>
            <a:xfrm>
              <a:off x="0" y="857231"/>
              <a:ext cx="10858536" cy="6000768"/>
            </a:xfrm>
            <a:prstGeom prst="rect">
              <a:avLst/>
            </a:prstGeom>
            <a:solidFill>
              <a:srgbClr val="FFFFFF"/>
            </a:solidFill>
            <a:ln cap="flat">
              <a:noFill/>
              <a:prstDash val="solid"/>
            </a:ln>
          </p:spPr>
          <p:txBody>
            <a:bodyPr vert="horz" wrap="non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de-DE" sz="1800" b="0" i="0" u="none" strike="noStrike" kern="1200" cap="none" spc="0" baseline="0">
                <a:solidFill>
                  <a:srgbClr val="000000"/>
                </a:solidFill>
                <a:uFillTx/>
                <a:latin typeface="Calibri"/>
              </a:endParaRPr>
            </a:p>
          </p:txBody>
        </p:sp>
        <p:sp>
          <p:nvSpPr>
            <p:cNvPr id="8" name="Oval 14">
              <a:extLst>
                <a:ext uri="{FF2B5EF4-FFF2-40B4-BE49-F238E27FC236}">
                  <a16:creationId xmlns:a16="http://schemas.microsoft.com/office/drawing/2014/main" id="{35882F9D-6A17-EA3F-9B6F-EA7DAFA56159}"/>
                </a:ext>
              </a:extLst>
            </p:cNvPr>
            <p:cNvSpPr/>
            <p:nvPr/>
          </p:nvSpPr>
          <p:spPr>
            <a:xfrm>
              <a:off x="10171200" y="858072"/>
              <a:ext cx="1349288" cy="126956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FFFFFF"/>
            </a:solidFill>
            <a:ln cap="flat">
              <a:noFill/>
              <a:prstDash val="solid"/>
            </a:ln>
          </p:spPr>
          <p:txBody>
            <a:bodyPr vert="horz" wrap="non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de-DE" sz="1800" b="0" i="0" u="none" strike="noStrike" kern="1200" cap="none" spc="0" baseline="0">
                <a:solidFill>
                  <a:srgbClr val="000000"/>
                </a:solidFill>
                <a:uFillTx/>
                <a:latin typeface="Calibri"/>
              </a:endParaRPr>
            </a:p>
          </p:txBody>
        </p:sp>
        <p:sp>
          <p:nvSpPr>
            <p:cNvPr id="9" name="Rectangle 15">
              <a:extLst>
                <a:ext uri="{FF2B5EF4-FFF2-40B4-BE49-F238E27FC236}">
                  <a16:creationId xmlns:a16="http://schemas.microsoft.com/office/drawing/2014/main" id="{6EA1EF28-8FF0-090F-E21C-5FE7EC129C5D}"/>
                </a:ext>
              </a:extLst>
            </p:cNvPr>
            <p:cNvSpPr/>
            <p:nvPr/>
          </p:nvSpPr>
          <p:spPr>
            <a:xfrm>
              <a:off x="6527444" y="1478731"/>
              <a:ext cx="4995751" cy="5379268"/>
            </a:xfrm>
            <a:prstGeom prst="rect">
              <a:avLst/>
            </a:prstGeom>
            <a:solidFill>
              <a:srgbClr val="FFFFFF"/>
            </a:solidFill>
            <a:ln cap="flat">
              <a:noFill/>
              <a:prstDash val="solid"/>
            </a:ln>
          </p:spPr>
          <p:txBody>
            <a:bodyPr vert="horz" wrap="non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de-DE" sz="1800" b="0" i="0" u="none" strike="noStrike" kern="1200" cap="none" spc="0" baseline="0">
                <a:solidFill>
                  <a:srgbClr val="000000"/>
                </a:solidFill>
                <a:uFillTx/>
                <a:latin typeface="Calibri"/>
              </a:endParaRPr>
            </a:p>
          </p:txBody>
        </p:sp>
      </p:grpSp>
      <p:pic>
        <p:nvPicPr>
          <p:cNvPr id="11" name="Picture 2" descr="undefined">
            <a:extLst>
              <a:ext uri="{FF2B5EF4-FFF2-40B4-BE49-F238E27FC236}">
                <a16:creationId xmlns:a16="http://schemas.microsoft.com/office/drawing/2014/main" id="{6FBDAAC8-2566-0743-372E-FC5880F3AAD1}"/>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88649" y="67577"/>
            <a:ext cx="616242" cy="70186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C5A423A0-F280-CB57-FDF6-27AC69685277}"/>
              </a:ext>
            </a:extLst>
          </p:cNvPr>
          <p:cNvSpPr txBox="1"/>
          <p:nvPr userDrawn="1"/>
        </p:nvSpPr>
        <p:spPr>
          <a:xfrm rot="5400000">
            <a:off x="10201122" y="3440081"/>
            <a:ext cx="3612427" cy="369332"/>
          </a:xfrm>
          <a:prstGeom prst="rect">
            <a:avLst/>
          </a:prstGeom>
          <a:noFill/>
        </p:spPr>
        <p:txBody>
          <a:bodyPr wrap="square">
            <a:spAutoFit/>
          </a:bodyPr>
          <a:lstStyle/>
          <a:p>
            <a:pPr algn="l">
              <a:spcAft>
                <a:spcPts val="900"/>
              </a:spcAft>
              <a:buNone/>
            </a:pPr>
            <a:r>
              <a:rPr lang="en-IN" b="1" i="0" dirty="0">
                <a:solidFill>
                  <a:srgbClr val="000000"/>
                </a:solidFill>
                <a:effectLst/>
                <a:latin typeface="Playfair"/>
              </a:rPr>
              <a:t>Department of Mining Engineering</a:t>
            </a:r>
          </a:p>
        </p:txBody>
      </p:sp>
    </p:spTree>
    <p:extLst>
      <p:ext uri="{BB962C8B-B14F-4D97-AF65-F5344CB8AC3E}">
        <p14:creationId xmlns:p14="http://schemas.microsoft.com/office/powerpoint/2010/main" val="1593913928"/>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F7E123-63D5-E275-3DDC-455691902589}"/>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GB"/>
              <a:t>Click to edit Master title style</a:t>
            </a:r>
            <a:endParaRPr lang="en-IN"/>
          </a:p>
        </p:txBody>
      </p:sp>
      <p:sp>
        <p:nvSpPr>
          <p:cNvPr id="3" name="Text Placeholder 2">
            <a:extLst>
              <a:ext uri="{FF2B5EF4-FFF2-40B4-BE49-F238E27FC236}">
                <a16:creationId xmlns:a16="http://schemas.microsoft.com/office/drawing/2014/main" id="{BE960814-34E3-8FFD-C1FC-C940150E274B}"/>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1F744BE-27E1-2070-9A8B-B4CE4EF39670}"/>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IN" sz="1200" b="0" i="0" u="none" strike="noStrike" kern="1200" cap="none" spc="0" baseline="0">
                <a:solidFill>
                  <a:srgbClr val="898989"/>
                </a:solidFill>
                <a:uFillTx/>
                <a:latin typeface="Calibri"/>
              </a:defRPr>
            </a:lvl1pPr>
          </a:lstStyle>
          <a:p>
            <a:pPr lvl="0"/>
            <a:fld id="{D41DB0FB-629C-4D7A-8BE6-1D3EBC4B77BF}" type="datetime1">
              <a:rPr lang="en-IN"/>
              <a:pPr lvl="0"/>
              <a:t>09-10-2025</a:t>
            </a:fld>
            <a:endParaRPr lang="en-IN"/>
          </a:p>
        </p:txBody>
      </p:sp>
      <p:sp>
        <p:nvSpPr>
          <p:cNvPr id="5" name="Footer Placeholder 4">
            <a:extLst>
              <a:ext uri="{FF2B5EF4-FFF2-40B4-BE49-F238E27FC236}">
                <a16:creationId xmlns:a16="http://schemas.microsoft.com/office/drawing/2014/main" id="{4DCF034B-E1D1-E2FA-618E-3238141A33D8}"/>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IN" sz="1200" b="0" i="0" u="none" strike="noStrike" kern="1200" cap="none" spc="0" baseline="0">
                <a:solidFill>
                  <a:srgbClr val="898989"/>
                </a:solidFill>
                <a:uFillTx/>
                <a:latin typeface="Calibri"/>
              </a:defRPr>
            </a:lvl1pPr>
          </a:lstStyle>
          <a:p>
            <a:pPr lvl="0"/>
            <a:endParaRPr lang="en-IN"/>
          </a:p>
        </p:txBody>
      </p:sp>
      <p:sp>
        <p:nvSpPr>
          <p:cNvPr id="6" name="Slide Number Placeholder 5">
            <a:extLst>
              <a:ext uri="{FF2B5EF4-FFF2-40B4-BE49-F238E27FC236}">
                <a16:creationId xmlns:a16="http://schemas.microsoft.com/office/drawing/2014/main" id="{2472871D-52DE-BF34-161A-0653966870B3}"/>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IN" sz="1200" b="0" i="0" u="none" strike="noStrike" kern="1200" cap="none" spc="0" baseline="0">
                <a:solidFill>
                  <a:srgbClr val="898989"/>
                </a:solidFill>
                <a:uFillTx/>
                <a:latin typeface="Calibri"/>
              </a:defRPr>
            </a:lvl1pPr>
          </a:lstStyle>
          <a:p>
            <a:pPr lvl="0"/>
            <a:fld id="{F58A94DE-A078-4698-A1E0-79A38B8708B4}" type="slidenum">
              <a:t>‹#›</a:t>
            </a:fld>
            <a:endParaRPr lang="en-IN"/>
          </a:p>
        </p:txBody>
      </p:sp>
    </p:spTree>
    <p:extLst>
      <p:ext uri="{BB962C8B-B14F-4D97-AF65-F5344CB8AC3E}">
        <p14:creationId xmlns:p14="http://schemas.microsoft.com/office/powerpoint/2010/main" val="2238010988"/>
      </p:ext>
    </p:extLst>
  </p:cSld>
  <p:clrMap bg1="lt1" tx1="dk1" bg2="lt2" tx2="dk2" accent1="accent1" accent2="accent2" accent3="accent3" accent4="accent4" accent5="accent5" accent6="accent6" hlink="hlink" folHlink="folHlink"/>
  <p:sldLayoutIdLst>
    <p:sldLayoutId id="2147483669" r:id="rId6"/>
    <p:sldLayoutId id="2147483670" r:id="rId7"/>
  </p:sldLayoutIdLst>
  <p:txStyles>
    <p:titleStyle>
      <a:lvl1pPr marL="0" marR="0" lvl="0" indent="0" algn="l" defTabSz="914400" rtl="0" fontAlgn="auto" hangingPunct="1">
        <a:lnSpc>
          <a:spcPct val="90000"/>
        </a:lnSpc>
        <a:spcBef>
          <a:spcPts val="0"/>
        </a:spcBef>
        <a:spcAft>
          <a:spcPts val="0"/>
        </a:spcAft>
        <a:buNone/>
        <a:tabLst/>
        <a:defRPr lang="en-GB"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GB"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GB"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GB"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GB"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GB"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image" Target="/ppt/media/image2.png" Id="rId2" /><Relationship Type="http://schemas.openxmlformats.org/officeDocument/2006/relationships/slideLayout" Target="/ppt/slideLayouts/slideLayout8.xml"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image" Target="/ppt/media/image4.jpg" Id="rId2" /><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image" Target="/ppt/media/image5.jpeg" Id="rId2" /><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image" Target="/ppt/media/image6.emf" Id="rId3" /><Relationship Type="http://schemas.openxmlformats.org/officeDocument/2006/relationships/package" Target="/ppt/embeddings/Microsoft_Excel_Worksheet.xlsx" Id="rId2" /><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image" Target="/ppt/media/image7.jpeg" Id="rId2" /><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image" Target="/ppt/media/image8.emf" Id="rId3" /><Relationship Type="http://schemas.openxmlformats.org/officeDocument/2006/relationships/package" Target="/ppt/embeddings/Microsoft_Excel_Worksheet1.xlsx" Id="rId2" /><Relationship Type="http://schemas.openxmlformats.org/officeDocument/2006/relationships/slideLayout" Target="/ppt/slideLayouts/slideLayout2.xml" Id="rI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9.xml.rels>&#65279;<?xml version="1.0" encoding="utf-8"?><Relationships xmlns="http://schemas.openxmlformats.org/package/2006/relationships"><Relationship Type="http://schemas.openxmlformats.org/officeDocument/2006/relationships/image" Target="/ppt/media/image9.emf" Id="rId3" /><Relationship Type="http://schemas.openxmlformats.org/officeDocument/2006/relationships/package" Target="/ppt/embeddings/Microsoft_Excel_Worksheet2.xlsx" Id="rId2" /><Relationship Type="http://schemas.openxmlformats.org/officeDocument/2006/relationships/slideLayout" Target="/ppt/slideLayouts/slideLayout2.xml" Id="rI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1.xml.rels>&#65279;<?xml version="1.0" encoding="utf-8"?><Relationships xmlns="http://schemas.openxmlformats.org/package/2006/relationships"><Relationship Type="http://schemas.openxmlformats.org/officeDocument/2006/relationships/image" Target="/ppt/media/image10.emf" Id="rId3" /><Relationship Type="http://schemas.openxmlformats.org/officeDocument/2006/relationships/package" Target="/ppt/embeddings/Microsoft_Excel_Worksheet3.xlsx" Id="rId2" /><Relationship Type="http://schemas.openxmlformats.org/officeDocument/2006/relationships/slideLayout" Target="/ppt/slideLayouts/slideLayout2.xml" Id="rId1" /></Relationships>
</file>

<file path=ppt/slides/_rels/slide12.xml.rels>&#65279;<?xml version="1.0" encoding="utf-8"?><Relationships xmlns="http://schemas.openxmlformats.org/package/2006/relationships"><Relationship Type="http://schemas.openxmlformats.org/officeDocument/2006/relationships/image" Target="/ppt/media/image11.emf" Id="rId3" /><Relationship Type="http://schemas.openxmlformats.org/officeDocument/2006/relationships/oleObject" Target="/ppt/embeddings/oleObject1.bin" Id="rId2" /><Relationship Type="http://schemas.openxmlformats.org/officeDocument/2006/relationships/slideLayout" Target="/ppt/slideLayouts/slideLayout2.xml" Id="rI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4.xml.rels>&#65279;<?xml version="1.0" encoding="utf-8"?><Relationships xmlns="http://schemas.openxmlformats.org/package/2006/relationships"><Relationship Type="http://schemas.openxmlformats.org/officeDocument/2006/relationships/image" Target="/ppt/media/image12.emf" Id="rId3" /><Relationship Type="http://schemas.openxmlformats.org/officeDocument/2006/relationships/package" Target="/ppt/embeddings/Microsoft_Excel_Worksheet4.xlsx" Id="rId2" /><Relationship Type="http://schemas.openxmlformats.org/officeDocument/2006/relationships/slideLayout" Target="/ppt/slideLayouts/slideLayout2.xml" Id="rI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3.xml.rels>&#65279;<?xml version="1.0" encoding="utf-8"?><Relationships xmlns="http://schemas.openxmlformats.org/package/2006/relationships"><Relationship Type="http://schemas.openxmlformats.org/officeDocument/2006/relationships/image" Target="/ppt/media/image13.jpg" Id="rId2" /><Relationship Type="http://schemas.openxmlformats.org/officeDocument/2006/relationships/slideLayout" Target="/ppt/slideLayouts/slideLayout1.xml" Id="rI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8.xml.rels>&#65279;<?xml version="1.0" encoding="utf-8"?><Relationships xmlns="http://schemas.openxmlformats.org/package/2006/relationships"><Relationship Type="http://schemas.openxmlformats.org/officeDocument/2006/relationships/image" Target="/ppt/media/image14.jpg" Id="rId2" /><Relationship Type="http://schemas.openxmlformats.org/officeDocument/2006/relationships/slideLayout" Target="/ppt/slideLayouts/slideLayout2.xml" Id="rI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7.xml.rels>&#65279;<?xml version="1.0" encoding="utf-8"?><Relationships xmlns="http://schemas.openxmlformats.org/package/2006/relationships"><Relationship Type="http://schemas.openxmlformats.org/officeDocument/2006/relationships/image" Target="/ppt/media/image15.png" Id="rId2" /><Relationship Type="http://schemas.openxmlformats.org/officeDocument/2006/relationships/slideLayout" Target="/ppt/slideLayouts/slideLayout2.xml" Id="rId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1.xml.rels>&#65279;<?xml version="1.0" encoding="utf-8"?><Relationships xmlns="http://schemas.openxmlformats.org/package/2006/relationships"><Relationship Type="http://schemas.openxmlformats.org/officeDocument/2006/relationships/image" Target="/ppt/media/image16.png" Id="rId3" /><Relationship Type="http://schemas.openxmlformats.org/officeDocument/2006/relationships/notesSlide" Target="/ppt/notesSlides/notesSlide1.xml" Id="rId2" /><Relationship Type="http://schemas.openxmlformats.org/officeDocument/2006/relationships/slideLayout" Target="/ppt/slideLayouts/slideLayout2.xml" Id="rId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9.xml" Id="rId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9.xml" Id="rId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9.xml" Id="rId1" /></Relationships>
</file>

<file path=ppt/slides/_rels/slide66.xml.rels>&#65279;<?xml version="1.0" encoding="utf-8"?><Relationships xmlns="http://schemas.openxmlformats.org/package/2006/relationships"><Relationship Type="http://schemas.openxmlformats.org/officeDocument/2006/relationships/image" Target="/ppt/media/image17.emf" Id="rId3" /><Relationship Type="http://schemas.openxmlformats.org/officeDocument/2006/relationships/package" Target="/ppt/embeddings/Microsoft_Excel_Worksheet5.xlsx" Id="rId2" /><Relationship Type="http://schemas.openxmlformats.org/officeDocument/2006/relationships/slideLayout" Target="/ppt/slideLayouts/slideLayout9.xml" Id="rId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3DB16AFF-AE2A-6CCF-BBD2-5085DD4EE1A1}"/>
              </a:ext>
            </a:extLst>
          </p:cNvPr>
          <p:cNvPicPr>
            <a:picLocks noChangeAspect="1"/>
          </p:cNvPicPr>
          <p:nvPr/>
        </p:nvPicPr>
        <p:blipFill>
          <a:blip r:embed="rId2"/>
          <a:stretch>
            <a:fillRect/>
          </a:stretch>
        </p:blipFill>
        <p:spPr>
          <a:xfrm>
            <a:off x="0" y="11722"/>
            <a:ext cx="12191996" cy="6858000"/>
          </a:xfrm>
          <a:prstGeom prst="rect">
            <a:avLst/>
          </a:prstGeom>
          <a:noFill/>
          <a:ln cap="flat">
            <a:noFill/>
          </a:ln>
        </p:spPr>
      </p:pic>
      <p:sp>
        <p:nvSpPr>
          <p:cNvPr id="3" name="Rectangle: Single Corner Rounded 5">
            <a:extLst>
              <a:ext uri="{FF2B5EF4-FFF2-40B4-BE49-F238E27FC236}">
                <a16:creationId xmlns:a16="http://schemas.microsoft.com/office/drawing/2014/main" id="{083FF1BB-2013-5941-04C1-BA41BD6B0CBB}"/>
              </a:ext>
            </a:extLst>
          </p:cNvPr>
          <p:cNvSpPr/>
          <p:nvPr/>
        </p:nvSpPr>
        <p:spPr>
          <a:xfrm>
            <a:off x="0" y="2950591"/>
            <a:ext cx="11849493" cy="3919132"/>
          </a:xfrm>
          <a:custGeom>
            <a:avLst/>
            <a:gdLst>
              <a:gd name="f0" fmla="val 5400000"/>
              <a:gd name="f1" fmla="val 16200000"/>
              <a:gd name="f2" fmla="val w"/>
              <a:gd name="f3" fmla="val h"/>
              <a:gd name="f4" fmla="val ss"/>
              <a:gd name="f5" fmla="val 0"/>
              <a:gd name="f6" fmla="val 16667"/>
              <a:gd name="f7" fmla="abs f2"/>
              <a:gd name="f8" fmla="abs f3"/>
              <a:gd name="f9" fmla="abs f4"/>
              <a:gd name="f10" fmla="?: f7 f2 1"/>
              <a:gd name="f11" fmla="?: f8 f3 1"/>
              <a:gd name="f12" fmla="?: f9 f4 1"/>
              <a:gd name="f13" fmla="*/ f10 1 21600"/>
              <a:gd name="f14" fmla="*/ f11 1 21600"/>
              <a:gd name="f15" fmla="*/ 21600 f10 1"/>
              <a:gd name="f16" fmla="*/ 21600 f11 1"/>
              <a:gd name="f17" fmla="min f14 f13"/>
              <a:gd name="f18" fmla="*/ f15 1 f12"/>
              <a:gd name="f19" fmla="*/ f16 1 f12"/>
              <a:gd name="f20" fmla="val f18"/>
              <a:gd name="f21" fmla="val f19"/>
              <a:gd name="f22" fmla="*/ f5 f17 1"/>
              <a:gd name="f23" fmla="+- f21 0 f5"/>
              <a:gd name="f24" fmla="+- f20 0 f5"/>
              <a:gd name="f25" fmla="*/ f21 f17 1"/>
              <a:gd name="f26" fmla="*/ f20 f17 1"/>
              <a:gd name="f27" fmla="min f24 f23"/>
              <a:gd name="f28" fmla="*/ f27 f6 1"/>
              <a:gd name="f29" fmla="*/ f28 1 100000"/>
              <a:gd name="f30" fmla="+- f20 0 f29"/>
              <a:gd name="f31" fmla="*/ f29 29289 1"/>
              <a:gd name="f32" fmla="*/ f29 f17 1"/>
              <a:gd name="f33" fmla="*/ f31 1 100000"/>
              <a:gd name="f34" fmla="*/ f30 f17 1"/>
              <a:gd name="f35" fmla="+- f20 0 f33"/>
              <a:gd name="f36" fmla="*/ f35 f17 1"/>
            </a:gdLst>
            <a:ahLst/>
            <a:cxnLst>
              <a:cxn ang="3cd4">
                <a:pos x="hc" y="t"/>
              </a:cxn>
              <a:cxn ang="0">
                <a:pos x="r" y="vc"/>
              </a:cxn>
              <a:cxn ang="cd4">
                <a:pos x="hc" y="b"/>
              </a:cxn>
              <a:cxn ang="cd2">
                <a:pos x="l" y="vc"/>
              </a:cxn>
            </a:cxnLst>
            <a:rect l="f22" t="f22" r="f36" b="f25"/>
            <a:pathLst>
              <a:path>
                <a:moveTo>
                  <a:pt x="f22" y="f22"/>
                </a:moveTo>
                <a:lnTo>
                  <a:pt x="f34" y="f22"/>
                </a:lnTo>
                <a:arcTo wR="f32" hR="f32" stAng="f1" swAng="f0"/>
                <a:lnTo>
                  <a:pt x="f26" y="f25"/>
                </a:lnTo>
                <a:lnTo>
                  <a:pt x="f22" y="f25"/>
                </a:lnTo>
                <a:close/>
              </a:path>
            </a:pathLst>
          </a:custGeom>
          <a:solidFill>
            <a:srgbClr val="4472C4"/>
          </a:solidFill>
          <a:ln w="12701" cap="flat">
            <a:solidFill>
              <a:srgbClr val="172C51"/>
            </a:solidFill>
            <a:prstDash val="solid"/>
            <a:miter/>
          </a:ln>
        </p:spPr>
        <p:txBody>
          <a:bodyPr vert="horz" wrap="square" lIns="91440" tIns="45720" rIns="91440" bIns="45720" anchor="ctr" anchorCtr="1"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lang="en-IN" sz="2400" dirty="0">
              <a:solidFill>
                <a:srgbClr val="FFFFFF"/>
              </a:solidFill>
              <a:latin typeface="Calibri"/>
            </a:endParaRPr>
          </a:p>
          <a:p>
            <a:pPr>
              <a:defRPr sz="1800" b="0" i="0" u="none" strike="noStrike" kern="0" cap="none" spc="0" baseline="0">
                <a:solidFill>
                  <a:srgbClr val="000000"/>
                </a:solidFill>
                <a:uFillTx/>
              </a:defRPr>
            </a:pPr>
            <a:r>
              <a:rPr lang="en-IN" dirty="0">
                <a:solidFill>
                  <a:schemeClr val="bg1"/>
                </a:solidFill>
                <a:latin typeface="Calibri"/>
              </a:rPr>
              <a:t>                                                   Group Members:      </a:t>
            </a:r>
            <a:r>
              <a:rPr lang="en-IN" dirty="0">
                <a:solidFill>
                  <a:schemeClr val="bg1"/>
                </a:solidFill>
              </a:rPr>
              <a:t>Pratik Kumar (25DR0173)</a:t>
            </a:r>
          </a:p>
          <a:p>
            <a:pPr marL="0" marR="0" lvl="0" indent="0"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IN" b="0" i="0" u="none" strike="noStrike" kern="1200" cap="none" spc="0" normalizeH="0" baseline="0" noProof="0" dirty="0">
                <a:ln>
                  <a:noFill/>
                </a:ln>
                <a:solidFill>
                  <a:schemeClr val="bg1"/>
                </a:solidFill>
                <a:effectLst/>
                <a:uLnTx/>
                <a:uFillTx/>
                <a:latin typeface="Calibri"/>
                <a:ea typeface="+mn-ea"/>
                <a:cs typeface="+mn-cs"/>
              </a:rPr>
              <a:t>                                                                                        Antika </a:t>
            </a:r>
            <a:r>
              <a:rPr lang="en-IN" dirty="0">
                <a:solidFill>
                  <a:schemeClr val="bg1"/>
                </a:solidFill>
                <a:latin typeface="Calibri"/>
              </a:rPr>
              <a:t>K</a:t>
            </a:r>
            <a:r>
              <a:rPr kumimoji="0" lang="en-IN" b="0" i="0" u="none" strike="noStrike" kern="1200" cap="none" spc="0" normalizeH="0" baseline="0" noProof="0" dirty="0" err="1">
                <a:ln>
                  <a:noFill/>
                </a:ln>
                <a:solidFill>
                  <a:schemeClr val="bg1"/>
                </a:solidFill>
                <a:effectLst/>
                <a:uLnTx/>
                <a:uFillTx/>
                <a:latin typeface="Calibri"/>
                <a:ea typeface="+mn-ea"/>
                <a:cs typeface="+mn-cs"/>
              </a:rPr>
              <a:t>uila</a:t>
            </a:r>
            <a:r>
              <a:rPr kumimoji="0" lang="en-IN" b="0" i="0" u="none" strike="noStrike" kern="1200" cap="none" spc="0" normalizeH="0" baseline="0" noProof="0" dirty="0">
                <a:ln>
                  <a:noFill/>
                </a:ln>
                <a:solidFill>
                  <a:schemeClr val="bg1"/>
                </a:solidFill>
                <a:effectLst/>
                <a:uLnTx/>
                <a:uFillTx/>
                <a:latin typeface="Calibri"/>
                <a:ea typeface="+mn-ea"/>
                <a:cs typeface="+mn-cs"/>
              </a:rPr>
              <a:t> (25MT0083)</a:t>
            </a:r>
          </a:p>
          <a:p>
            <a:pPr>
              <a:defRPr sz="1800" b="0" i="0" u="none" strike="noStrike" kern="0" cap="none" spc="0" baseline="0">
                <a:solidFill>
                  <a:srgbClr val="000000"/>
                </a:solidFill>
                <a:uFillTx/>
              </a:defRPr>
            </a:pPr>
            <a:r>
              <a:rPr kumimoji="0" lang="en-IN" b="0" i="0" u="none" strike="noStrike" kern="1200" cap="none" spc="0" normalizeH="0" baseline="0" noProof="0" dirty="0">
                <a:ln>
                  <a:noFill/>
                </a:ln>
                <a:solidFill>
                  <a:schemeClr val="bg1"/>
                </a:solidFill>
                <a:effectLst/>
                <a:uLnTx/>
                <a:uFillTx/>
                <a:latin typeface="Calibri"/>
                <a:ea typeface="+mn-ea"/>
                <a:cs typeface="+mn-cs"/>
              </a:rPr>
              <a:t>                                                                                        </a:t>
            </a:r>
            <a:r>
              <a:rPr lang="en-IN" dirty="0">
                <a:solidFill>
                  <a:schemeClr val="bg1"/>
                </a:solidFill>
              </a:rPr>
              <a:t>Anirban Gayen (25MT0068)</a:t>
            </a:r>
          </a:p>
          <a:p>
            <a:pPr marL="0" marR="0" lvl="0" indent="0"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IN" b="0" i="0" u="none" strike="noStrike" kern="1200" cap="none" spc="0" normalizeH="0" baseline="0" noProof="0" dirty="0">
                <a:ln>
                  <a:noFill/>
                </a:ln>
                <a:solidFill>
                  <a:schemeClr val="bg1"/>
                </a:solidFill>
                <a:effectLst/>
                <a:uLnTx/>
                <a:uFillTx/>
                <a:latin typeface="Calibri"/>
                <a:ea typeface="+mn-ea"/>
                <a:cs typeface="+mn-cs"/>
              </a:rPr>
              <a:t>                                                                                        Akash Jadhav (25MT0035)</a:t>
            </a:r>
          </a:p>
          <a:p>
            <a:pPr marL="0" marR="0" lvl="0" indent="0"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IN" b="0" i="0" u="none" strike="noStrike" kern="1200" cap="none" spc="0" normalizeH="0" baseline="0" noProof="0" dirty="0">
                <a:ln>
                  <a:noFill/>
                </a:ln>
                <a:solidFill>
                  <a:schemeClr val="bg1"/>
                </a:solidFill>
                <a:effectLst/>
                <a:uLnTx/>
                <a:uFillTx/>
                <a:latin typeface="Calibri"/>
                <a:ea typeface="+mn-ea"/>
                <a:cs typeface="+mn-cs"/>
              </a:rPr>
              <a:t>                                                                                        Neeraj </a:t>
            </a:r>
            <a:r>
              <a:rPr kumimoji="0" lang="en-IN" b="0" i="0" u="none" strike="noStrike" kern="1200" cap="none" spc="0" normalizeH="0" baseline="0" noProof="0" dirty="0" err="1">
                <a:ln>
                  <a:noFill/>
                </a:ln>
                <a:solidFill>
                  <a:schemeClr val="bg1"/>
                </a:solidFill>
                <a:effectLst/>
                <a:uLnTx/>
                <a:uFillTx/>
                <a:latin typeface="Calibri"/>
                <a:ea typeface="+mn-ea"/>
                <a:cs typeface="+mn-cs"/>
              </a:rPr>
              <a:t>Yadaw</a:t>
            </a:r>
            <a:r>
              <a:rPr kumimoji="0" lang="en-IN" b="0" i="0" u="none" strike="noStrike" kern="1200" cap="none" spc="0" normalizeH="0" baseline="0" noProof="0" dirty="0">
                <a:ln>
                  <a:noFill/>
                </a:ln>
                <a:solidFill>
                  <a:schemeClr val="bg1"/>
                </a:solidFill>
                <a:effectLst/>
                <a:uLnTx/>
                <a:uFillTx/>
                <a:latin typeface="Calibri"/>
                <a:ea typeface="+mn-ea"/>
                <a:cs typeface="+mn-cs"/>
              </a:rPr>
              <a:t> (25DP0031)</a:t>
            </a:r>
          </a:p>
          <a:p>
            <a:pPr lvl="0">
              <a:defRPr sz="1800" b="0" i="0" u="none" strike="noStrike" kern="0" cap="none" spc="0" baseline="0">
                <a:solidFill>
                  <a:srgbClr val="000000"/>
                </a:solidFill>
                <a:uFillTx/>
              </a:defRPr>
            </a:pPr>
            <a:r>
              <a:rPr lang="en-IN" sz="2000" dirty="0">
                <a:solidFill>
                  <a:schemeClr val="bg1"/>
                </a:solidFill>
              </a:rPr>
              <a:t>                                                                           </a:t>
            </a:r>
          </a:p>
          <a:p>
            <a:pPr lvl="0">
              <a:defRPr sz="1800" b="0" i="0" u="none" strike="noStrike" kern="0" cap="none" spc="0" baseline="0">
                <a:solidFill>
                  <a:srgbClr val="000000"/>
                </a:solidFill>
                <a:uFillTx/>
              </a:defRPr>
            </a:pPr>
            <a:r>
              <a:rPr lang="en-IN" sz="2000" dirty="0">
                <a:solidFill>
                  <a:schemeClr val="bg1"/>
                </a:solidFill>
              </a:rPr>
              <a:t>                                                                </a:t>
            </a:r>
            <a:r>
              <a:rPr lang="en-IN" dirty="0">
                <a:solidFill>
                  <a:schemeClr val="bg1"/>
                </a:solidFill>
              </a:rPr>
              <a:t>Date:      7 October 2025</a:t>
            </a:r>
          </a:p>
          <a:p>
            <a:pPr lvl="0">
              <a:defRPr sz="1800" b="0" i="0" u="none" strike="noStrike" kern="0" cap="none" spc="0" baseline="0">
                <a:solidFill>
                  <a:srgbClr val="000000"/>
                </a:solidFill>
                <a:uFillTx/>
              </a:defRPr>
            </a:pPr>
            <a:endParaRPr lang="en-IN" dirty="0">
              <a:solidFill>
                <a:schemeClr val="bg1"/>
              </a:solidFill>
            </a:endParaRPr>
          </a:p>
          <a:p>
            <a:pPr lvl="0">
              <a:defRPr sz="1800" b="0" i="0" u="none" strike="noStrike" kern="0" cap="none" spc="0" baseline="0">
                <a:solidFill>
                  <a:srgbClr val="000000"/>
                </a:solidFill>
                <a:uFillTx/>
              </a:defRPr>
            </a:pPr>
            <a:r>
              <a:rPr kumimoji="0" lang="en-IN" b="0" i="0" u="none" strike="noStrike" kern="1200" cap="none" spc="0" normalizeH="0" baseline="0" noProof="0" dirty="0">
                <a:ln>
                  <a:noFill/>
                </a:ln>
                <a:solidFill>
                  <a:schemeClr val="bg1"/>
                </a:solidFill>
                <a:effectLst/>
                <a:uLnTx/>
                <a:uFillTx/>
                <a:latin typeface="Calibri"/>
                <a:ea typeface="+mn-ea"/>
                <a:cs typeface="+mn-cs"/>
              </a:rPr>
              <a:t>                                                                                         </a:t>
            </a:r>
            <a:r>
              <a:rPr kumimoji="0" lang="en-IN" b="0" i="0" u="none" strike="noStrike" kern="1200" cap="none" spc="0" normalizeH="0" baseline="0" noProof="0" dirty="0" err="1">
                <a:ln>
                  <a:noFill/>
                </a:ln>
                <a:solidFill>
                  <a:schemeClr val="bg1"/>
                </a:solidFill>
                <a:effectLst/>
                <a:uLnTx/>
                <a:uFillTx/>
                <a:latin typeface="Calibri"/>
                <a:ea typeface="+mn-ea"/>
                <a:cs typeface="+mn-cs"/>
              </a:rPr>
              <a:t>M.Tech</a:t>
            </a:r>
            <a:r>
              <a:rPr kumimoji="0" lang="en-IN" b="0" i="0" u="none" strike="noStrike" kern="1200" cap="none" spc="0" normalizeH="0" baseline="0" noProof="0" dirty="0">
                <a:ln>
                  <a:noFill/>
                </a:ln>
                <a:solidFill>
                  <a:schemeClr val="bg1"/>
                </a:solidFill>
                <a:effectLst/>
                <a:uLnTx/>
                <a:uFillTx/>
                <a:latin typeface="Calibri"/>
                <a:ea typeface="+mn-ea"/>
                <a:cs typeface="+mn-cs"/>
              </a:rPr>
              <a:t> in Geomatics</a:t>
            </a:r>
          </a:p>
          <a:p>
            <a:pPr marL="0" marR="0" lvl="0" indent="0"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en-US" dirty="0">
                <a:solidFill>
                  <a:schemeClr val="bg1"/>
                </a:solidFill>
                <a:latin typeface="Calibri"/>
              </a:rPr>
              <a:t>                                                                           </a:t>
            </a:r>
            <a:r>
              <a:rPr lang="en-DE" dirty="0">
                <a:solidFill>
                  <a:schemeClr val="bg1"/>
                </a:solidFill>
                <a:latin typeface="Calibri"/>
              </a:rPr>
              <a:t>Department of Mining </a:t>
            </a:r>
            <a:r>
              <a:rPr lang="en-IN" dirty="0">
                <a:solidFill>
                  <a:schemeClr val="bg1"/>
                </a:solidFill>
                <a:latin typeface="Calibri"/>
              </a:rPr>
              <a:t>Engineering</a:t>
            </a:r>
          </a:p>
          <a:p>
            <a:pPr marL="0" marR="0" lvl="0" indent="0"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IN" b="0" i="0" u="none" strike="noStrike" kern="1200" cap="none" spc="0" normalizeH="0" baseline="0" noProof="0" dirty="0">
                <a:ln>
                  <a:noFill/>
                </a:ln>
                <a:solidFill>
                  <a:schemeClr val="bg1"/>
                </a:solidFill>
                <a:effectLst/>
                <a:uLnTx/>
                <a:uFillTx/>
                <a:latin typeface="Calibri"/>
                <a:ea typeface="+mn-ea"/>
                <a:cs typeface="+mn-cs"/>
              </a:rPr>
              <a:t>                                                                                            IIT(ISM) Dhanbad</a:t>
            </a:r>
          </a:p>
        </p:txBody>
      </p:sp>
      <p:sp>
        <p:nvSpPr>
          <p:cNvPr id="6" name="Title 11">
            <a:extLst>
              <a:ext uri="{FF2B5EF4-FFF2-40B4-BE49-F238E27FC236}">
                <a16:creationId xmlns:a16="http://schemas.microsoft.com/office/drawing/2014/main" id="{754A8EDD-4FFD-538C-0666-6648E6A0FEE6}"/>
              </a:ext>
            </a:extLst>
          </p:cNvPr>
          <p:cNvSpPr txBox="1">
            <a:spLocks noGrp="1"/>
          </p:cNvSpPr>
          <p:nvPr>
            <p:ph type="title"/>
          </p:nvPr>
        </p:nvSpPr>
        <p:spPr>
          <a:xfrm>
            <a:off x="838198" y="1215367"/>
            <a:ext cx="10515600" cy="1640954"/>
          </a:xfrm>
        </p:spPr>
        <p:txBody>
          <a:bodyPr anchorCtr="1"/>
          <a:lstStyle/>
          <a:p>
            <a:pPr lvl="0" algn="ctr"/>
            <a:r>
              <a:rPr lang="en-US" sz="3600" b="1" dirty="0">
                <a:solidFill>
                  <a:srgbClr val="2F5597"/>
                </a:solidFill>
                <a:latin typeface="Calibri"/>
              </a:rPr>
              <a:t>Multispectral Sensors in Remote Sensing</a:t>
            </a:r>
            <a:endParaRPr lang="en-IN" sz="3600" b="1" dirty="0">
              <a:solidFill>
                <a:srgbClr val="2F5597"/>
              </a:solidFill>
              <a:latin typeface="Calibri"/>
            </a:endParaRPr>
          </a:p>
        </p:txBody>
      </p:sp>
      <p:pic>
        <p:nvPicPr>
          <p:cNvPr id="1026" name="Picture 2" descr="IIT (ISM) Dhanbad - Wikipedia">
            <a:extLst>
              <a:ext uri="{FF2B5EF4-FFF2-40B4-BE49-F238E27FC236}">
                <a16:creationId xmlns:a16="http://schemas.microsoft.com/office/drawing/2014/main" id="{7AB8D0FA-B196-ADBC-6138-6DAFD112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498" y="87335"/>
            <a:ext cx="1266886" cy="1442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078BDF2A-C407-1323-7D53-A39A26214358}"/>
              </a:ext>
            </a:extLst>
          </p:cNvPr>
          <p:cNvSpPr>
            <a:spLocks noGrp="1"/>
          </p:cNvSpPr>
          <p:nvPr>
            <p:ph type="ctrTitle"/>
          </p:nvPr>
        </p:nvSpPr>
        <p:spPr>
          <a:xfrm>
            <a:off x="1060940" y="82061"/>
            <a:ext cx="10433535" cy="715108"/>
          </a:xfrm>
        </p:spPr>
        <p:txBody>
          <a:bodyPr/>
          <a:lstStyle/>
          <a:p>
            <a:r>
              <a:rPr lang="en-IN" sz="4000" b="1" dirty="0">
                <a:solidFill>
                  <a:srgbClr val="002060"/>
                </a:solidFill>
              </a:rPr>
              <a:t>Multispectral Sensors</a:t>
            </a:r>
          </a:p>
        </p:txBody>
      </p:sp>
      <p:sp>
        <p:nvSpPr>
          <p:cNvPr id="29" name="Text Placeholder 6">
            <a:extLst>
              <a:ext uri="{FF2B5EF4-FFF2-40B4-BE49-F238E27FC236}">
                <a16:creationId xmlns:a16="http://schemas.microsoft.com/office/drawing/2014/main" id="{E2D01293-A98E-39DC-B54A-B60D6FC65A50}"/>
              </a:ext>
            </a:extLst>
          </p:cNvPr>
          <p:cNvSpPr txBox="1">
            <a:spLocks/>
          </p:cNvSpPr>
          <p:nvPr/>
        </p:nvSpPr>
        <p:spPr>
          <a:xfrm>
            <a:off x="433633" y="1875296"/>
            <a:ext cx="10799530" cy="2077998"/>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Multispectral sensors capture image data at specific wavelength bands across the electromagnetic spectrum.</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Widely used in Earth Observation for detailed analysis of land, water, and atmospheric phenomena.</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They differ from panchromatic (single band) and hyperspectral (hundreds of narrow bands) sensors.</a:t>
            </a:r>
          </a:p>
          <a:p>
            <a:pPr algn="just"/>
            <a:endParaRPr lang="en-IN" sz="2600" b="1" dirty="0">
              <a:latin typeface="Times New Roman" panose="02020603050405020304" pitchFamily="18" charset="0"/>
              <a:cs typeface="Times New Roman" panose="02020603050405020304" pitchFamily="18" charset="0"/>
            </a:endParaRPr>
          </a:p>
          <a:p>
            <a:endParaRPr lang="en-IN" b="1" dirty="0"/>
          </a:p>
        </p:txBody>
      </p:sp>
      <p:sp>
        <p:nvSpPr>
          <p:cNvPr id="3" name="TextBox 2">
            <a:extLst>
              <a:ext uri="{FF2B5EF4-FFF2-40B4-BE49-F238E27FC236}">
                <a16:creationId xmlns:a16="http://schemas.microsoft.com/office/drawing/2014/main" id="{1EC7DDDA-AEBE-DF93-CEB9-D888C585AC6C}"/>
              </a:ext>
            </a:extLst>
          </p:cNvPr>
          <p:cNvSpPr txBox="1"/>
          <p:nvPr/>
        </p:nvSpPr>
        <p:spPr>
          <a:xfrm>
            <a:off x="433633" y="1105400"/>
            <a:ext cx="195842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Introduction</a:t>
            </a:r>
            <a:r>
              <a:rPr lang="en-US" sz="2400" b="1" dirty="0">
                <a:latin typeface="Arial" panose="020B0604020202020204" pitchFamily="34" charset="0"/>
                <a:cs typeface="Arial" panose="020B0604020202020204" pitchFamily="34" charset="0"/>
              </a:rPr>
              <a:t>:</a:t>
            </a:r>
            <a:endParaRPr lang="en-IN" sz="24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88520AF-B03E-68E8-89A0-858829C90421}"/>
              </a:ext>
            </a:extLst>
          </p:cNvPr>
          <p:cNvSpPr txBox="1"/>
          <p:nvPr/>
        </p:nvSpPr>
        <p:spPr>
          <a:xfrm>
            <a:off x="433633" y="3722462"/>
            <a:ext cx="2108269"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Key Concepts</a:t>
            </a:r>
            <a:r>
              <a:rPr lang="en-US" sz="2400" b="1"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
        <p:nvSpPr>
          <p:cNvPr id="5" name="Text Placeholder 6">
            <a:extLst>
              <a:ext uri="{FF2B5EF4-FFF2-40B4-BE49-F238E27FC236}">
                <a16:creationId xmlns:a16="http://schemas.microsoft.com/office/drawing/2014/main" id="{F1424D03-19DA-2C6A-EC65-E5C0D8CA0212}"/>
              </a:ext>
            </a:extLst>
          </p:cNvPr>
          <p:cNvSpPr txBox="1">
            <a:spLocks/>
          </p:cNvSpPr>
          <p:nvPr/>
        </p:nvSpPr>
        <p:spPr>
          <a:xfrm>
            <a:off x="433633" y="4569757"/>
            <a:ext cx="10780676" cy="1969311"/>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Electromagnetic spectrum regions: </a:t>
            </a:r>
            <a:r>
              <a:rPr lang="en-US" sz="2000" dirty="0">
                <a:latin typeface="Times New Roman" panose="02020603050405020304" pitchFamily="18" charset="0"/>
                <a:cs typeface="Times New Roman" panose="02020603050405020304" pitchFamily="18" charset="0"/>
              </a:rPr>
              <a:t>Visible (VIS), Near-Infrared (NIR), Shortwave Infrared (SWIR), Thermal Infrared (TIR).</a:t>
            </a: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Sensor Types:</a:t>
            </a:r>
            <a:r>
              <a:rPr lang="en-US" sz="2000" dirty="0">
                <a:latin typeface="Times New Roman" panose="02020603050405020304" pitchFamily="18" charset="0"/>
                <a:cs typeface="Times New Roman" panose="02020603050405020304" pitchFamily="18" charset="0"/>
              </a:rPr>
              <a:t> Passive optical (collecting naturally reflected sunlight), active sensors (emit their own signals).</a:t>
            </a:r>
            <a:endParaRPr lang="en-IN" b="1" dirty="0">
              <a:latin typeface="Times New Roman" panose="02020603050405020304" pitchFamily="18" charset="0"/>
              <a:cs typeface="Times New Roman" panose="02020603050405020304" pitchFamily="18" charset="0"/>
            </a:endParaRPr>
          </a:p>
          <a:p>
            <a:endParaRPr lang="en-US" dirty="0"/>
          </a:p>
          <a:p>
            <a:pPr marL="285750" indent="-285750">
              <a:buFont typeface="Arial" panose="020B0604020202020204" pitchFamily="34" charset="0"/>
              <a:buChar cha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8E7CF-0C5E-DF75-0743-204E427C660F}"/>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A11CA031-ED17-DF75-8D95-C578284C2CF9}"/>
              </a:ext>
            </a:extLst>
          </p:cNvPr>
          <p:cNvSpPr>
            <a:spLocks noGrp="1"/>
          </p:cNvSpPr>
          <p:nvPr>
            <p:ph type="ctrTitle"/>
          </p:nvPr>
        </p:nvSpPr>
        <p:spPr>
          <a:xfrm>
            <a:off x="1060940" y="82061"/>
            <a:ext cx="10433535" cy="715108"/>
          </a:xfrm>
        </p:spPr>
        <p:txBody>
          <a:bodyPr/>
          <a:lstStyle/>
          <a:p>
            <a:r>
              <a:rPr lang="en-IN" sz="4000" b="1" dirty="0">
                <a:solidFill>
                  <a:srgbClr val="002060"/>
                </a:solidFill>
              </a:rPr>
              <a:t>Multispectral Sensors</a:t>
            </a:r>
          </a:p>
        </p:txBody>
      </p:sp>
      <p:sp>
        <p:nvSpPr>
          <p:cNvPr id="2" name="TextBox 1">
            <a:extLst>
              <a:ext uri="{FF2B5EF4-FFF2-40B4-BE49-F238E27FC236}">
                <a16:creationId xmlns:a16="http://schemas.microsoft.com/office/drawing/2014/main" id="{3550C9DF-5EE5-5E3F-023B-48EA2A4D2CD1}"/>
              </a:ext>
            </a:extLst>
          </p:cNvPr>
          <p:cNvSpPr txBox="1"/>
          <p:nvPr/>
        </p:nvSpPr>
        <p:spPr>
          <a:xfrm>
            <a:off x="315965" y="1203186"/>
            <a:ext cx="7027516" cy="4678204"/>
          </a:xfrm>
          <a:prstGeom prst="rect">
            <a:avLst/>
          </a:prstGeom>
          <a:noFill/>
        </p:spPr>
        <p:txBody>
          <a:bodyPr wrap="square" rtlCol="0">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Scanning Mechanisms:</a:t>
            </a:r>
          </a:p>
          <a:p>
            <a:endParaRPr lang="en-US" sz="2000" b="1" dirty="0">
              <a:latin typeface="Times New Roman" panose="02020603050405020304" pitchFamily="18" charset="0"/>
              <a:cs typeface="Times New Roman" panose="02020603050405020304" pitchFamily="18" charset="0"/>
            </a:endParaRPr>
          </a:p>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Whiskbroom (across-track): </a:t>
            </a:r>
            <a:r>
              <a:rPr lang="en-US" sz="2000" dirty="0">
                <a:latin typeface="Times New Roman" panose="02020603050405020304" pitchFamily="18" charset="0"/>
                <a:cs typeface="Times New Roman" panose="02020603050405020304" pitchFamily="18" charset="0"/>
              </a:rPr>
              <a:t>Uses moving mirrors; precise, but slower coverage.</a:t>
            </a:r>
          </a:p>
          <a:p>
            <a:pPr lvl="1"/>
            <a:endParaRPr lang="en-US" sz="2000" dirty="0">
              <a:latin typeface="Times New Roman" panose="02020603050405020304" pitchFamily="18" charset="0"/>
              <a:cs typeface="Times New Roman" panose="02020603050405020304" pitchFamily="18" charset="0"/>
            </a:endParaRPr>
          </a:p>
          <a:p>
            <a:pPr marL="800100" lvl="1" indent="-342900">
              <a:buFont typeface="Courier New" panose="02070309020205020404" pitchFamily="49" charset="0"/>
              <a:buChar char="o"/>
            </a:pPr>
            <a:r>
              <a:rPr lang="en-US" sz="2000" b="1" dirty="0" err="1">
                <a:latin typeface="Times New Roman" panose="02020603050405020304" pitchFamily="18" charset="0"/>
                <a:cs typeface="Times New Roman" panose="02020603050405020304" pitchFamily="18" charset="0"/>
              </a:rPr>
              <a:t>Pushbroom</a:t>
            </a:r>
            <a:r>
              <a:rPr lang="en-US" sz="2000" b="1" dirty="0">
                <a:latin typeface="Times New Roman" panose="02020603050405020304" pitchFamily="18" charset="0"/>
                <a:cs typeface="Times New Roman" panose="02020603050405020304" pitchFamily="18" charset="0"/>
              </a:rPr>
              <a:t> (along-track): </a:t>
            </a:r>
            <a:r>
              <a:rPr lang="en-US" sz="2000" dirty="0">
                <a:latin typeface="Times New Roman" panose="02020603050405020304" pitchFamily="18" charset="0"/>
                <a:cs typeface="Times New Roman" panose="02020603050405020304" pitchFamily="18" charset="0"/>
              </a:rPr>
              <a:t>Linear array detects data across a swath in one go.</a:t>
            </a: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Important Parameters:</a:t>
            </a:r>
          </a:p>
          <a:p>
            <a:endParaRPr lang="en-US" sz="2000" b="1" dirty="0">
              <a:latin typeface="Times New Roman" panose="02020603050405020304" pitchFamily="18" charset="0"/>
              <a:cs typeface="Times New Roman" panose="02020603050405020304" pitchFamily="18" charset="0"/>
            </a:endParaRPr>
          </a:p>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Spatial resolution </a:t>
            </a:r>
            <a:r>
              <a:rPr lang="en-US" sz="2000" dirty="0">
                <a:latin typeface="Times New Roman" panose="02020603050405020304" pitchFamily="18" charset="0"/>
                <a:cs typeface="Times New Roman" panose="02020603050405020304" pitchFamily="18" charset="0"/>
              </a:rPr>
              <a:t>(detail of ground features),</a:t>
            </a:r>
          </a:p>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Spectral resolution </a:t>
            </a:r>
            <a:r>
              <a:rPr lang="en-US" sz="2000" dirty="0">
                <a:latin typeface="Times New Roman" panose="02020603050405020304" pitchFamily="18" charset="0"/>
                <a:cs typeface="Times New Roman" panose="02020603050405020304" pitchFamily="18" charset="0"/>
              </a:rPr>
              <a:t>(number/width of bands),</a:t>
            </a:r>
          </a:p>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Temporal resolution </a:t>
            </a:r>
            <a:r>
              <a:rPr lang="en-US" sz="2000" dirty="0">
                <a:latin typeface="Times New Roman" panose="02020603050405020304" pitchFamily="18" charset="0"/>
                <a:cs typeface="Times New Roman" panose="02020603050405020304" pitchFamily="18" charset="0"/>
              </a:rPr>
              <a:t>(revisit frequency).</a:t>
            </a:r>
          </a:p>
          <a:p>
            <a:endParaRPr lang="en-IN" dirty="0"/>
          </a:p>
        </p:txBody>
      </p:sp>
      <p:pic>
        <p:nvPicPr>
          <p:cNvPr id="6" name="Picture 5" descr="A graph of different types of soil&#10;&#10;AI-generated content may be incorrect.">
            <a:extLst>
              <a:ext uri="{FF2B5EF4-FFF2-40B4-BE49-F238E27FC236}">
                <a16:creationId xmlns:a16="http://schemas.microsoft.com/office/drawing/2014/main" id="{3711CC8A-4A74-C6A8-8F2E-2EC3F91E1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3481" y="1841384"/>
            <a:ext cx="4150994" cy="3401808"/>
          </a:xfrm>
          <a:prstGeom prst="rect">
            <a:avLst/>
          </a:prstGeom>
        </p:spPr>
      </p:pic>
      <p:sp>
        <p:nvSpPr>
          <p:cNvPr id="7" name="TextBox 6">
            <a:extLst>
              <a:ext uri="{FF2B5EF4-FFF2-40B4-BE49-F238E27FC236}">
                <a16:creationId xmlns:a16="http://schemas.microsoft.com/office/drawing/2014/main" id="{BF99B427-62B7-9DD8-2208-DD9F88415715}"/>
              </a:ext>
            </a:extLst>
          </p:cNvPr>
          <p:cNvSpPr txBox="1"/>
          <p:nvPr/>
        </p:nvSpPr>
        <p:spPr>
          <a:xfrm>
            <a:off x="8201337" y="5393014"/>
            <a:ext cx="2435282" cy="338554"/>
          </a:xfrm>
          <a:prstGeom prst="rect">
            <a:avLst/>
          </a:prstGeom>
          <a:noFill/>
        </p:spPr>
        <p:txBody>
          <a:bodyPr wrap="none" rtlCol="0">
            <a:spAutoFit/>
          </a:bodyPr>
          <a:lstStyle/>
          <a:p>
            <a:r>
              <a:rPr lang="en-GB" sz="1600" i="1" dirty="0">
                <a:latin typeface="Times New Roman" panose="02020603050405020304" pitchFamily="18" charset="0"/>
                <a:cs typeface="Times New Roman" panose="02020603050405020304" pitchFamily="18" charset="0"/>
              </a:rPr>
              <a:t>Spectral Reflectance Curve</a:t>
            </a:r>
            <a:endParaRPr lang="en-IN" sz="16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199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68D0-E8C4-BBA3-CD22-3F19E02E5818}"/>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CC58279-4115-234C-D092-39D6FF11D6B5}"/>
              </a:ext>
            </a:extLst>
          </p:cNvPr>
          <p:cNvSpPr>
            <a:spLocks noGrp="1"/>
          </p:cNvSpPr>
          <p:nvPr>
            <p:ph type="ctrTitle"/>
          </p:nvPr>
        </p:nvSpPr>
        <p:spPr>
          <a:xfrm>
            <a:off x="738556" y="70338"/>
            <a:ext cx="11383106" cy="715108"/>
          </a:xfrm>
        </p:spPr>
        <p:txBody>
          <a:bodyPr/>
          <a:lstStyle/>
          <a:p>
            <a:r>
              <a:rPr lang="en-GB" sz="4000" b="1" dirty="0">
                <a:solidFill>
                  <a:srgbClr val="002060"/>
                </a:solidFill>
              </a:rPr>
              <a:t>MSS: Multispectral Scanner</a:t>
            </a:r>
            <a:endParaRPr lang="en-IN" sz="4000" b="1" dirty="0">
              <a:solidFill>
                <a:srgbClr val="002060"/>
              </a:solidFill>
            </a:endParaRPr>
          </a:p>
        </p:txBody>
      </p:sp>
      <p:sp>
        <p:nvSpPr>
          <p:cNvPr id="29" name="Text Placeholder 6">
            <a:extLst>
              <a:ext uri="{FF2B5EF4-FFF2-40B4-BE49-F238E27FC236}">
                <a16:creationId xmlns:a16="http://schemas.microsoft.com/office/drawing/2014/main" id="{FBE2079A-286A-4376-73FC-873640644812}"/>
              </a:ext>
            </a:extLst>
          </p:cNvPr>
          <p:cNvSpPr txBox="1">
            <a:spLocks/>
          </p:cNvSpPr>
          <p:nvPr/>
        </p:nvSpPr>
        <p:spPr>
          <a:xfrm>
            <a:off x="21571" y="881906"/>
            <a:ext cx="11486070" cy="5905755"/>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4" name="Text Placeholder 16">
            <a:extLst>
              <a:ext uri="{FF2B5EF4-FFF2-40B4-BE49-F238E27FC236}">
                <a16:creationId xmlns:a16="http://schemas.microsoft.com/office/drawing/2014/main" id="{1BF4ADBD-A31D-7A17-6743-E99BDAE9E490}"/>
              </a:ext>
            </a:extLst>
          </p:cNvPr>
          <p:cNvSpPr txBox="1">
            <a:spLocks/>
          </p:cNvSpPr>
          <p:nvPr/>
        </p:nvSpPr>
        <p:spPr>
          <a:xfrm>
            <a:off x="101741" y="1474621"/>
            <a:ext cx="6712171" cy="5057447"/>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Satellites: </a:t>
            </a:r>
            <a:r>
              <a:rPr lang="en-IN" sz="2200" dirty="0">
                <a:solidFill>
                  <a:srgbClr val="FF0000"/>
                </a:solidFill>
                <a:latin typeface="Times New Roman" panose="02020603050405020304" pitchFamily="18" charset="0"/>
                <a:cs typeface="Times New Roman" panose="02020603050405020304" pitchFamily="18" charset="0"/>
              </a:rPr>
              <a:t>Landsat 1, 2, 3, 4, 5</a:t>
            </a:r>
          </a:p>
          <a:p>
            <a:r>
              <a:rPr lang="en-IN" sz="2200" b="1" dirty="0">
                <a:latin typeface="Times New Roman" panose="02020603050405020304" pitchFamily="18" charset="0"/>
                <a:cs typeface="Times New Roman" panose="02020603050405020304" pitchFamily="18" charset="0"/>
              </a:rPr>
              <a:t>Agency:</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NASA/USGS (USA)</a:t>
            </a:r>
          </a:p>
          <a:p>
            <a:r>
              <a:rPr lang="en-GB" sz="2000" b="1" dirty="0">
                <a:latin typeface="Times New Roman" panose="02020603050405020304" pitchFamily="18" charset="0"/>
                <a:cs typeface="Times New Roman" panose="02020603050405020304" pitchFamily="18" charset="0"/>
              </a:rPr>
              <a:t>Launched: </a:t>
            </a:r>
            <a:r>
              <a:rPr lang="en-GB" sz="2000" dirty="0">
                <a:latin typeface="Times New Roman" panose="02020603050405020304" pitchFamily="18" charset="0"/>
                <a:cs typeface="Times New Roman" panose="02020603050405020304" pitchFamily="18" charset="0"/>
              </a:rPr>
              <a:t>1972-2013</a:t>
            </a:r>
            <a:endParaRPr lang="en-IN" sz="2000" dirty="0">
              <a:solidFill>
                <a:srgbClr val="FF0000"/>
              </a:solidFill>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Type: </a:t>
            </a:r>
            <a:r>
              <a:rPr lang="en-IN" sz="2200" dirty="0">
                <a:latin typeface="Times New Roman" panose="02020603050405020304" pitchFamily="18" charset="0"/>
                <a:cs typeface="Times New Roman" panose="02020603050405020304" pitchFamily="18" charset="0"/>
              </a:rPr>
              <a:t>Passive OIR, Scanning-Imaging (Whiskbroom)</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Spatial Resolution: </a:t>
            </a:r>
            <a:r>
              <a:rPr lang="en-IN" sz="2200" dirty="0">
                <a:latin typeface="Times New Roman" panose="02020603050405020304" pitchFamily="18" charset="0"/>
                <a:cs typeface="Times New Roman" panose="02020603050405020304" pitchFamily="18" charset="0"/>
              </a:rPr>
              <a:t>79 m (VIS/NIR), 240 m (TIR)</a:t>
            </a:r>
          </a:p>
          <a:p>
            <a:r>
              <a:rPr lang="en-IN" sz="2200" b="1" dirty="0">
                <a:latin typeface="Times New Roman" panose="02020603050405020304" pitchFamily="18" charset="0"/>
                <a:cs typeface="Times New Roman" panose="02020603050405020304" pitchFamily="18" charset="0"/>
              </a:rPr>
              <a:t>Spectral Resolution: </a:t>
            </a:r>
            <a:r>
              <a:rPr lang="en-US" sz="2200" dirty="0">
                <a:solidFill>
                  <a:srgbClr val="FF0000"/>
                </a:solidFill>
                <a:latin typeface="Times New Roman" panose="02020603050405020304" pitchFamily="18" charset="0"/>
                <a:cs typeface="Times New Roman" panose="02020603050405020304" pitchFamily="18" charset="0"/>
              </a:rPr>
              <a:t>4 bands, 5 bands (for Landsat 3)</a:t>
            </a:r>
            <a:endParaRPr lang="en-IN" sz="2200" dirty="0">
              <a:solidFill>
                <a:srgbClr val="FF0000"/>
              </a:solidFill>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Temporal: </a:t>
            </a:r>
            <a:r>
              <a:rPr lang="en-IN" sz="2200" dirty="0">
                <a:latin typeface="Times New Roman" panose="02020603050405020304" pitchFamily="18" charset="0"/>
                <a:cs typeface="Times New Roman" panose="02020603050405020304" pitchFamily="18" charset="0"/>
              </a:rPr>
              <a:t>18 days</a:t>
            </a:r>
          </a:p>
          <a:p>
            <a:r>
              <a:rPr lang="en-IN" sz="2200" b="1" dirty="0">
                <a:latin typeface="Times New Roman" panose="02020603050405020304" pitchFamily="18" charset="0"/>
                <a:cs typeface="Times New Roman" panose="02020603050405020304" pitchFamily="18" charset="0"/>
              </a:rPr>
              <a:t>Radiometric:</a:t>
            </a:r>
            <a:r>
              <a:rPr lang="en-IN" sz="2200" dirty="0">
                <a:latin typeface="Times New Roman" panose="02020603050405020304" pitchFamily="18" charset="0"/>
                <a:cs typeface="Times New Roman" panose="02020603050405020304" pitchFamily="18" charset="0"/>
              </a:rPr>
              <a:t> 6 bits</a:t>
            </a:r>
          </a:p>
          <a:p>
            <a:r>
              <a:rPr lang="en-IN" sz="2200" b="1" dirty="0">
                <a:latin typeface="Times New Roman" panose="02020603050405020304" pitchFamily="18" charset="0"/>
                <a:cs typeface="Times New Roman" panose="02020603050405020304" pitchFamily="18" charset="0"/>
              </a:rPr>
              <a:t>Swath:</a:t>
            </a:r>
            <a:r>
              <a:rPr lang="en-IN" sz="2200" dirty="0">
                <a:latin typeface="Times New Roman" panose="02020603050405020304" pitchFamily="18" charset="0"/>
                <a:cs typeface="Times New Roman" panose="02020603050405020304" pitchFamily="18" charset="0"/>
              </a:rPr>
              <a:t> 185 km</a:t>
            </a:r>
          </a:p>
          <a:p>
            <a:r>
              <a:rPr lang="en-US" sz="2200" b="1" dirty="0">
                <a:latin typeface="Times New Roman" panose="02020603050405020304" pitchFamily="18" charset="0"/>
                <a:cs typeface="Times New Roman" panose="02020603050405020304" pitchFamily="18" charset="0"/>
              </a:rPr>
              <a:t>Impact:</a:t>
            </a:r>
            <a:r>
              <a:rPr lang="en-US" sz="2200" dirty="0">
                <a:latin typeface="Times New Roman" panose="02020603050405020304" pitchFamily="18" charset="0"/>
                <a:cs typeface="Times New Roman" panose="02020603050405020304" pitchFamily="18" charset="0"/>
              </a:rPr>
              <a:t> Revolutionized ability to monitor large areas.</a:t>
            </a:r>
            <a:br>
              <a:rPr lang="en-IN" sz="1800" dirty="0"/>
            </a:br>
            <a:endParaRPr lang="en-US" sz="18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5" name="Text Placeholder 6">
            <a:extLst>
              <a:ext uri="{FF2B5EF4-FFF2-40B4-BE49-F238E27FC236}">
                <a16:creationId xmlns:a16="http://schemas.microsoft.com/office/drawing/2014/main" id="{71817D04-D0FE-C545-567C-5722776B1F97}"/>
              </a:ext>
            </a:extLst>
          </p:cNvPr>
          <p:cNvSpPr txBox="1">
            <a:spLocks/>
          </p:cNvSpPr>
          <p:nvPr/>
        </p:nvSpPr>
        <p:spPr>
          <a:xfrm>
            <a:off x="4082526" y="918646"/>
            <a:ext cx="4695165" cy="555975"/>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5B75C7C-DE91-FDAB-07CA-36408BF93B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3914" y="1986044"/>
            <a:ext cx="4693727" cy="2885911"/>
          </a:xfrm>
          <a:prstGeom prst="rect">
            <a:avLst/>
          </a:prstGeom>
        </p:spPr>
      </p:pic>
      <p:sp>
        <p:nvSpPr>
          <p:cNvPr id="10" name="TextBox 9">
            <a:extLst>
              <a:ext uri="{FF2B5EF4-FFF2-40B4-BE49-F238E27FC236}">
                <a16:creationId xmlns:a16="http://schemas.microsoft.com/office/drawing/2014/main" id="{29D873C8-CBB7-F7E6-4435-F6FA56AEA56A}"/>
              </a:ext>
            </a:extLst>
          </p:cNvPr>
          <p:cNvSpPr txBox="1"/>
          <p:nvPr/>
        </p:nvSpPr>
        <p:spPr>
          <a:xfrm>
            <a:off x="7104541" y="5229489"/>
            <a:ext cx="4112472" cy="307777"/>
          </a:xfrm>
          <a:prstGeom prst="rect">
            <a:avLst/>
          </a:prstGeom>
          <a:noFill/>
        </p:spPr>
        <p:txBody>
          <a:bodyPr wrap="none" rtlCol="0">
            <a:spAutoFit/>
          </a:bodyPr>
          <a:lstStyle/>
          <a:p>
            <a:r>
              <a:rPr lang="en-US" sz="1400" dirty="0"/>
              <a:t>Figure: Cutaway view of the MSS (image credit: NASA)</a:t>
            </a:r>
            <a:endParaRPr lang="en-IN" sz="1400" dirty="0"/>
          </a:p>
        </p:txBody>
      </p:sp>
    </p:spTree>
    <p:extLst>
      <p:ext uri="{BB962C8B-B14F-4D97-AF65-F5344CB8AC3E}">
        <p14:creationId xmlns:p14="http://schemas.microsoft.com/office/powerpoint/2010/main" val="1538145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59A26-6665-AD1F-2C16-3ADB37DED1C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C7BC74FC-1FAF-6B9F-604B-41DBB1B142E0}"/>
              </a:ext>
            </a:extLst>
          </p:cNvPr>
          <p:cNvSpPr>
            <a:spLocks noGrp="1"/>
          </p:cNvSpPr>
          <p:nvPr>
            <p:ph type="ctrTitle"/>
          </p:nvPr>
        </p:nvSpPr>
        <p:spPr>
          <a:xfrm>
            <a:off x="738556" y="70338"/>
            <a:ext cx="11383106" cy="715108"/>
          </a:xfrm>
        </p:spPr>
        <p:txBody>
          <a:bodyPr/>
          <a:lstStyle/>
          <a:p>
            <a:r>
              <a:rPr lang="en-GB" sz="4000" b="1" dirty="0">
                <a:solidFill>
                  <a:srgbClr val="002060"/>
                </a:solidFill>
              </a:rPr>
              <a:t>MSS: Multispectral Scanner</a:t>
            </a:r>
            <a:endParaRPr lang="en-IN" sz="4000" b="1" dirty="0">
              <a:solidFill>
                <a:srgbClr val="002060"/>
              </a:solidFill>
            </a:endParaRPr>
          </a:p>
        </p:txBody>
      </p:sp>
      <p:sp>
        <p:nvSpPr>
          <p:cNvPr id="29" name="Text Placeholder 6">
            <a:extLst>
              <a:ext uri="{FF2B5EF4-FFF2-40B4-BE49-F238E27FC236}">
                <a16:creationId xmlns:a16="http://schemas.microsoft.com/office/drawing/2014/main" id="{EFA0FE4D-CD94-52FC-2E73-A26B4763D9FE}"/>
              </a:ext>
            </a:extLst>
          </p:cNvPr>
          <p:cNvSpPr txBox="1">
            <a:spLocks/>
          </p:cNvSpPr>
          <p:nvPr/>
        </p:nvSpPr>
        <p:spPr>
          <a:xfrm>
            <a:off x="21571" y="881906"/>
            <a:ext cx="11486070" cy="5905755"/>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5" name="Text Placeholder 6">
            <a:extLst>
              <a:ext uri="{FF2B5EF4-FFF2-40B4-BE49-F238E27FC236}">
                <a16:creationId xmlns:a16="http://schemas.microsoft.com/office/drawing/2014/main" id="{E943EAEC-925E-4859-24BA-2FE03C533C29}"/>
              </a:ext>
            </a:extLst>
          </p:cNvPr>
          <p:cNvSpPr txBox="1">
            <a:spLocks/>
          </p:cNvSpPr>
          <p:nvPr/>
        </p:nvSpPr>
        <p:spPr>
          <a:xfrm>
            <a:off x="4082526" y="918646"/>
            <a:ext cx="4695165" cy="555975"/>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7" name="Object 6">
            <a:extLst>
              <a:ext uri="{FF2B5EF4-FFF2-40B4-BE49-F238E27FC236}">
                <a16:creationId xmlns:a16="http://schemas.microsoft.com/office/drawing/2014/main" id="{BA3E8295-EA9C-694F-ADD0-900F0C77BBAA}"/>
              </a:ext>
            </a:extLst>
          </p:cNvPr>
          <p:cNvGraphicFramePr>
            <a:graphicFrameLocks noChangeAspect="1"/>
          </p:cNvGraphicFramePr>
          <p:nvPr>
            <p:extLst>
              <p:ext uri="{D42A27DB-BD31-4B8C-83A1-F6EECF244321}">
                <p14:modId xmlns:p14="http://schemas.microsoft.com/office/powerpoint/2010/main" val="1437020177"/>
              </p:ext>
            </p:extLst>
          </p:nvPr>
        </p:nvGraphicFramePr>
        <p:xfrm>
          <a:off x="1756543" y="2331207"/>
          <a:ext cx="8678913" cy="3007151"/>
        </p:xfrm>
        <a:graphic>
          <a:graphicData uri="http://schemas.openxmlformats.org/presentationml/2006/ole">
            <mc:AlternateContent xmlns:mc="http://schemas.openxmlformats.org/markup-compatibility/2006">
              <mc:Choice xmlns:v="urn:schemas-microsoft-com:vml" Requires="v">
                <p:oleObj name="Worksheet" r:id="rId2" imgW="5867471" imgH="922224" progId="Excel.Sheet.12">
                  <p:embed/>
                </p:oleObj>
              </mc:Choice>
              <mc:Fallback>
                <p:oleObj name="Worksheet" r:id="rId2" imgW="5867471" imgH="922224" progId="Excel.Sheet.12">
                  <p:embed/>
                  <p:pic>
                    <p:nvPicPr>
                      <p:cNvPr id="0" name=""/>
                      <p:cNvPicPr/>
                      <p:nvPr/>
                    </p:nvPicPr>
                    <p:blipFill>
                      <a:blip r:embed="rId3"/>
                      <a:stretch>
                        <a:fillRect/>
                      </a:stretch>
                    </p:blipFill>
                    <p:spPr>
                      <a:xfrm>
                        <a:off x="1756543" y="2331207"/>
                        <a:ext cx="8678913" cy="3007151"/>
                      </a:xfrm>
                      <a:prstGeom prst="rect">
                        <a:avLst/>
                      </a:prstGeom>
                    </p:spPr>
                  </p:pic>
                </p:oleObj>
              </mc:Fallback>
            </mc:AlternateContent>
          </a:graphicData>
        </a:graphic>
      </p:graphicFrame>
    </p:spTree>
    <p:extLst>
      <p:ext uri="{BB962C8B-B14F-4D97-AF65-F5344CB8AC3E}">
        <p14:creationId xmlns:p14="http://schemas.microsoft.com/office/powerpoint/2010/main" val="1063695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5FB5-54B0-4618-C35C-873D4E568866}"/>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CC15A4B3-D132-94E4-EA9A-F31EDA6FCD0D}"/>
              </a:ext>
            </a:extLst>
          </p:cNvPr>
          <p:cNvSpPr>
            <a:spLocks noGrp="1"/>
          </p:cNvSpPr>
          <p:nvPr>
            <p:ph type="ctrTitle"/>
          </p:nvPr>
        </p:nvSpPr>
        <p:spPr>
          <a:xfrm>
            <a:off x="738556" y="70338"/>
            <a:ext cx="11383106" cy="715108"/>
          </a:xfrm>
        </p:spPr>
        <p:txBody>
          <a:bodyPr/>
          <a:lstStyle/>
          <a:p>
            <a:r>
              <a:rPr lang="en-GB" sz="4000" b="1" dirty="0">
                <a:solidFill>
                  <a:srgbClr val="002060"/>
                </a:solidFill>
              </a:rPr>
              <a:t>TM: Thematic Mapper</a:t>
            </a:r>
            <a:endParaRPr lang="en-IN" sz="4000" b="1" dirty="0">
              <a:solidFill>
                <a:srgbClr val="002060"/>
              </a:solidFill>
            </a:endParaRPr>
          </a:p>
        </p:txBody>
      </p:sp>
      <p:sp>
        <p:nvSpPr>
          <p:cNvPr id="29" name="Text Placeholder 6">
            <a:extLst>
              <a:ext uri="{FF2B5EF4-FFF2-40B4-BE49-F238E27FC236}">
                <a16:creationId xmlns:a16="http://schemas.microsoft.com/office/drawing/2014/main" id="{CB3AA662-2ED4-A654-DAA2-7BABFAEEF16B}"/>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pic>
        <p:nvPicPr>
          <p:cNvPr id="7" name="Picture 6">
            <a:extLst>
              <a:ext uri="{FF2B5EF4-FFF2-40B4-BE49-F238E27FC236}">
                <a16:creationId xmlns:a16="http://schemas.microsoft.com/office/drawing/2014/main" id="{A6181432-FEB4-B7FE-AABA-EB6850762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7041" y="2114550"/>
            <a:ext cx="4763938" cy="2628900"/>
          </a:xfrm>
          <a:prstGeom prst="rect">
            <a:avLst/>
          </a:prstGeom>
        </p:spPr>
      </p:pic>
      <p:sp>
        <p:nvSpPr>
          <p:cNvPr id="8" name="TextBox 7">
            <a:extLst>
              <a:ext uri="{FF2B5EF4-FFF2-40B4-BE49-F238E27FC236}">
                <a16:creationId xmlns:a16="http://schemas.microsoft.com/office/drawing/2014/main" id="{E5D50273-E593-50DB-E01A-528B2B05477E}"/>
              </a:ext>
            </a:extLst>
          </p:cNvPr>
          <p:cNvSpPr txBox="1"/>
          <p:nvPr/>
        </p:nvSpPr>
        <p:spPr>
          <a:xfrm>
            <a:off x="6577041" y="4883288"/>
            <a:ext cx="5434035" cy="307777"/>
          </a:xfrm>
          <a:prstGeom prst="rect">
            <a:avLst/>
          </a:prstGeom>
          <a:noFill/>
        </p:spPr>
        <p:txBody>
          <a:bodyPr wrap="square" rtlCol="0">
            <a:spAutoFit/>
          </a:bodyPr>
          <a:lstStyle/>
          <a:p>
            <a:r>
              <a:rPr lang="en-US" sz="1400" dirty="0"/>
              <a:t>Figure: Configuration of the Thematic Mapper (image credit: NASA)</a:t>
            </a:r>
            <a:endParaRPr lang="en-IN" sz="1400" dirty="0"/>
          </a:p>
        </p:txBody>
      </p:sp>
      <p:sp>
        <p:nvSpPr>
          <p:cNvPr id="10" name="Text Placeholder 16">
            <a:extLst>
              <a:ext uri="{FF2B5EF4-FFF2-40B4-BE49-F238E27FC236}">
                <a16:creationId xmlns:a16="http://schemas.microsoft.com/office/drawing/2014/main" id="{9C631266-E5BA-A342-E056-0FAE5ED6F7BA}"/>
              </a:ext>
            </a:extLst>
          </p:cNvPr>
          <p:cNvSpPr txBox="1">
            <a:spLocks/>
          </p:cNvSpPr>
          <p:nvPr/>
        </p:nvSpPr>
        <p:spPr>
          <a:xfrm>
            <a:off x="41525" y="1296703"/>
            <a:ext cx="6535516" cy="5057447"/>
          </a:xfrm>
          <a:prstGeom prst="rect">
            <a:avLst/>
          </a:prstGeom>
        </p:spPr>
        <p:txBody>
          <a:bodyPr>
            <a:normAutofit fontScale="92500"/>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Satellites: </a:t>
            </a:r>
            <a:r>
              <a:rPr lang="en-IN" sz="2200" dirty="0">
                <a:solidFill>
                  <a:srgbClr val="FF0000"/>
                </a:solidFill>
                <a:latin typeface="Times New Roman" panose="02020603050405020304" pitchFamily="18" charset="0"/>
                <a:cs typeface="Times New Roman" panose="02020603050405020304" pitchFamily="18" charset="0"/>
              </a:rPr>
              <a:t>Landsat 4, 5</a:t>
            </a:r>
          </a:p>
          <a:p>
            <a:r>
              <a:rPr lang="en-IN" sz="2200" b="1" dirty="0">
                <a:latin typeface="Times New Roman" panose="02020603050405020304" pitchFamily="18" charset="0"/>
                <a:cs typeface="Times New Roman" panose="02020603050405020304" pitchFamily="18" charset="0"/>
              </a:rPr>
              <a:t>Agency:</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NASA/USGS (USA)</a:t>
            </a:r>
          </a:p>
          <a:p>
            <a:r>
              <a:rPr lang="en-GB" sz="2200" b="1" dirty="0">
                <a:latin typeface="Times New Roman" panose="02020603050405020304" pitchFamily="18" charset="0"/>
                <a:cs typeface="Times New Roman" panose="02020603050405020304" pitchFamily="18" charset="0"/>
              </a:rPr>
              <a:t>Launched: </a:t>
            </a:r>
            <a:r>
              <a:rPr lang="en-GB" sz="2200" dirty="0">
                <a:latin typeface="Times New Roman" panose="02020603050405020304" pitchFamily="18" charset="0"/>
                <a:cs typeface="Times New Roman" panose="02020603050405020304" pitchFamily="18" charset="0"/>
              </a:rPr>
              <a:t>1982-2013</a:t>
            </a:r>
            <a:endParaRPr lang="en-IN" sz="2200" dirty="0">
              <a:solidFill>
                <a:srgbClr val="FF0000"/>
              </a:solidFill>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Type: </a:t>
            </a:r>
            <a:r>
              <a:rPr lang="en-IN" sz="2200" dirty="0">
                <a:latin typeface="Times New Roman" panose="02020603050405020304" pitchFamily="18" charset="0"/>
                <a:cs typeface="Times New Roman" panose="02020603050405020304" pitchFamily="18" charset="0"/>
              </a:rPr>
              <a:t>Passive OIR, Scanning-Imaging (Whiskbroom)</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Spatial Resolution: </a:t>
            </a:r>
            <a:r>
              <a:rPr lang="fr-FR" sz="2200" dirty="0">
                <a:latin typeface="Times New Roman" panose="02020603050405020304" pitchFamily="18" charset="0"/>
                <a:cs typeface="Times New Roman" panose="02020603050405020304" pitchFamily="18" charset="0"/>
              </a:rPr>
              <a:t>30 m (VIS/NIR/SWIR), 120 m (TIR)</a:t>
            </a:r>
            <a:endParaRPr lang="fr-FR"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Spectral Resolution: </a:t>
            </a:r>
            <a:r>
              <a:rPr lang="en-IN" sz="2200" dirty="0">
                <a:solidFill>
                  <a:srgbClr val="FF0000"/>
                </a:solidFill>
                <a:latin typeface="Times New Roman" panose="02020603050405020304" pitchFamily="18" charset="0"/>
                <a:cs typeface="Times New Roman" panose="02020603050405020304" pitchFamily="18" charset="0"/>
              </a:rPr>
              <a:t>7 bands</a:t>
            </a:r>
          </a:p>
          <a:p>
            <a:r>
              <a:rPr lang="en-IN" sz="2200" b="1" dirty="0">
                <a:latin typeface="Times New Roman" panose="02020603050405020304" pitchFamily="18" charset="0"/>
                <a:cs typeface="Times New Roman" panose="02020603050405020304" pitchFamily="18" charset="0"/>
              </a:rPr>
              <a:t>Temporal: </a:t>
            </a:r>
            <a:r>
              <a:rPr lang="en-IN" sz="2200" dirty="0">
                <a:latin typeface="Times New Roman" panose="02020603050405020304" pitchFamily="18" charset="0"/>
                <a:cs typeface="Times New Roman" panose="02020603050405020304" pitchFamily="18" charset="0"/>
              </a:rPr>
              <a:t>16 days</a:t>
            </a:r>
          </a:p>
          <a:p>
            <a:r>
              <a:rPr lang="en-IN" sz="2200" b="1" dirty="0">
                <a:latin typeface="Times New Roman" panose="02020603050405020304" pitchFamily="18" charset="0"/>
                <a:cs typeface="Times New Roman" panose="02020603050405020304" pitchFamily="18" charset="0"/>
              </a:rPr>
              <a:t>Radiometric:</a:t>
            </a:r>
            <a:r>
              <a:rPr lang="en-IN" sz="2200" dirty="0">
                <a:latin typeface="Times New Roman" panose="02020603050405020304" pitchFamily="18" charset="0"/>
                <a:cs typeface="Times New Roman" panose="02020603050405020304" pitchFamily="18" charset="0"/>
              </a:rPr>
              <a:t> 8 bits</a:t>
            </a:r>
          </a:p>
          <a:p>
            <a:r>
              <a:rPr lang="en-IN" sz="2200" b="1" dirty="0">
                <a:latin typeface="Times New Roman" panose="02020603050405020304" pitchFamily="18" charset="0"/>
                <a:cs typeface="Times New Roman" panose="02020603050405020304" pitchFamily="18" charset="0"/>
              </a:rPr>
              <a:t>Swath:</a:t>
            </a:r>
            <a:r>
              <a:rPr lang="en-IN" sz="2200" dirty="0">
                <a:latin typeface="Times New Roman" panose="02020603050405020304" pitchFamily="18" charset="0"/>
                <a:cs typeface="Times New Roman" panose="02020603050405020304" pitchFamily="18" charset="0"/>
              </a:rPr>
              <a:t> 185 km</a:t>
            </a:r>
          </a:p>
          <a:p>
            <a:r>
              <a:rPr lang="en-US" sz="2200" b="1" dirty="0">
                <a:latin typeface="Times New Roman" panose="02020603050405020304" pitchFamily="18" charset="0"/>
                <a:cs typeface="Times New Roman" panose="02020603050405020304" pitchFamily="18" charset="0"/>
              </a:rPr>
              <a:t>Advance:</a:t>
            </a:r>
            <a:r>
              <a:rPr lang="en-US" sz="2200" dirty="0">
                <a:latin typeface="Times New Roman" panose="02020603050405020304" pitchFamily="18" charset="0"/>
                <a:cs typeface="Times New Roman" panose="02020603050405020304" pitchFamily="18" charset="0"/>
              </a:rPr>
              <a:t> Improved spatial, radiometric and spectral resolution over MSS..</a:t>
            </a:r>
            <a:br>
              <a:rPr lang="en-IN" sz="1800" dirty="0"/>
            </a:br>
            <a:endParaRPr lang="en-US" sz="18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822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23751-EB23-C875-1F21-2CD35AAC23C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46273CEE-611A-DFC5-8F6D-935D407E4C1F}"/>
              </a:ext>
            </a:extLst>
          </p:cNvPr>
          <p:cNvSpPr>
            <a:spLocks noGrp="1"/>
          </p:cNvSpPr>
          <p:nvPr>
            <p:ph type="ctrTitle"/>
          </p:nvPr>
        </p:nvSpPr>
        <p:spPr>
          <a:xfrm>
            <a:off x="738556" y="70338"/>
            <a:ext cx="11383106" cy="715108"/>
          </a:xfrm>
        </p:spPr>
        <p:txBody>
          <a:bodyPr/>
          <a:lstStyle/>
          <a:p>
            <a:r>
              <a:rPr lang="en-GB" sz="4000" b="1" dirty="0">
                <a:solidFill>
                  <a:srgbClr val="002060"/>
                </a:solidFill>
              </a:rPr>
              <a:t>TM: Thematic Mapper</a:t>
            </a:r>
            <a:endParaRPr lang="en-IN" sz="4000" b="1" dirty="0">
              <a:solidFill>
                <a:srgbClr val="002060"/>
              </a:solidFill>
            </a:endParaRPr>
          </a:p>
        </p:txBody>
      </p:sp>
      <p:sp>
        <p:nvSpPr>
          <p:cNvPr id="29" name="Text Placeholder 6">
            <a:extLst>
              <a:ext uri="{FF2B5EF4-FFF2-40B4-BE49-F238E27FC236}">
                <a16:creationId xmlns:a16="http://schemas.microsoft.com/office/drawing/2014/main" id="{11C06805-5EBC-163A-2911-77D1D4E87D40}"/>
              </a:ext>
            </a:extLst>
          </p:cNvPr>
          <p:cNvSpPr txBox="1">
            <a:spLocks/>
          </p:cNvSpPr>
          <p:nvPr/>
        </p:nvSpPr>
        <p:spPr>
          <a:xfrm>
            <a:off x="696235" y="1224460"/>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graphicFrame>
        <p:nvGraphicFramePr>
          <p:cNvPr id="21" name="Table 20">
            <a:extLst>
              <a:ext uri="{FF2B5EF4-FFF2-40B4-BE49-F238E27FC236}">
                <a16:creationId xmlns:a16="http://schemas.microsoft.com/office/drawing/2014/main" id="{9ED31E62-84BF-3490-652B-19E0036A89C1}"/>
              </a:ext>
            </a:extLst>
          </p:cNvPr>
          <p:cNvGraphicFramePr>
            <a:graphicFrameLocks noGrp="1"/>
          </p:cNvGraphicFramePr>
          <p:nvPr>
            <p:extLst>
              <p:ext uri="{D42A27DB-BD31-4B8C-83A1-F6EECF244321}">
                <p14:modId xmlns:p14="http://schemas.microsoft.com/office/powerpoint/2010/main" val="1792993304"/>
              </p:ext>
            </p:extLst>
          </p:nvPr>
        </p:nvGraphicFramePr>
        <p:xfrm>
          <a:off x="3634381" y="1323010"/>
          <a:ext cx="2964382" cy="4525961"/>
        </p:xfrm>
        <a:graphic>
          <a:graphicData uri="http://schemas.openxmlformats.org/drawingml/2006/table">
            <a:tbl>
              <a:tblPr bandRow="1"/>
              <a:tblGrid>
                <a:gridCol w="2964382">
                  <a:extLst>
                    <a:ext uri="{9D8B030D-6E8A-4147-A177-3AD203B41FA5}">
                      <a16:colId xmlns:a16="http://schemas.microsoft.com/office/drawing/2014/main" val="4284119076"/>
                    </a:ext>
                  </a:extLst>
                </a:gridCol>
              </a:tblGrid>
              <a:tr h="4525961">
                <a:tc>
                  <a:txBody>
                    <a:bodyPr/>
                    <a:lstStyle/>
                    <a:p>
                      <a:pPr rtl="0" fontAlgn="ctr">
                        <a:buNone/>
                      </a:pPr>
                      <a:endParaRPr lang="en-US" sz="1100" dirty="0">
                        <a:effectLst/>
                      </a:endParaRPr>
                    </a:p>
                  </a:txBody>
                  <a:tcPr marL="22860" marR="22860" marT="15240" marB="152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5622414"/>
                  </a:ext>
                </a:extLst>
              </a:tr>
            </a:tbl>
          </a:graphicData>
        </a:graphic>
      </p:graphicFrame>
      <p:graphicFrame>
        <p:nvGraphicFramePr>
          <p:cNvPr id="27" name="Object 26">
            <a:extLst>
              <a:ext uri="{FF2B5EF4-FFF2-40B4-BE49-F238E27FC236}">
                <a16:creationId xmlns:a16="http://schemas.microsoft.com/office/drawing/2014/main" id="{16E7DDCB-D763-A636-D685-5B9B17190EFD}"/>
              </a:ext>
            </a:extLst>
          </p:cNvPr>
          <p:cNvGraphicFramePr>
            <a:graphicFrameLocks noChangeAspect="1"/>
          </p:cNvGraphicFramePr>
          <p:nvPr>
            <p:extLst>
              <p:ext uri="{D42A27DB-BD31-4B8C-83A1-F6EECF244321}">
                <p14:modId xmlns:p14="http://schemas.microsoft.com/office/powerpoint/2010/main" val="1555321862"/>
              </p:ext>
            </p:extLst>
          </p:nvPr>
        </p:nvGraphicFramePr>
        <p:xfrm>
          <a:off x="2026241" y="1591314"/>
          <a:ext cx="7672930" cy="3951110"/>
        </p:xfrm>
        <a:graphic>
          <a:graphicData uri="http://schemas.openxmlformats.org/presentationml/2006/ole">
            <mc:AlternateContent xmlns:mc="http://schemas.openxmlformats.org/markup-compatibility/2006">
              <mc:Choice xmlns:v="urn:schemas-microsoft-com:vml" Requires="v">
                <p:oleObj name="Worksheet" r:id="rId2" imgW="5219735" imgH="2582991" progId="Excel.Sheet.12">
                  <p:embed/>
                </p:oleObj>
              </mc:Choice>
              <mc:Fallback>
                <p:oleObj name="Worksheet" r:id="rId2" imgW="5219735" imgH="2582991" progId="Excel.Sheet.12">
                  <p:embed/>
                  <p:pic>
                    <p:nvPicPr>
                      <p:cNvPr id="0" name=""/>
                      <p:cNvPicPr/>
                      <p:nvPr/>
                    </p:nvPicPr>
                    <p:blipFill>
                      <a:blip r:embed="rId3"/>
                      <a:stretch>
                        <a:fillRect/>
                      </a:stretch>
                    </p:blipFill>
                    <p:spPr>
                      <a:xfrm>
                        <a:off x="2026241" y="1591314"/>
                        <a:ext cx="7672930" cy="3951110"/>
                      </a:xfrm>
                      <a:prstGeom prst="rect">
                        <a:avLst/>
                      </a:prstGeom>
                    </p:spPr>
                  </p:pic>
                </p:oleObj>
              </mc:Fallback>
            </mc:AlternateContent>
          </a:graphicData>
        </a:graphic>
      </p:graphicFrame>
    </p:spTree>
    <p:extLst>
      <p:ext uri="{BB962C8B-B14F-4D97-AF65-F5344CB8AC3E}">
        <p14:creationId xmlns:p14="http://schemas.microsoft.com/office/powerpoint/2010/main" val="1761148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DE196-89E2-06A5-331C-30EBAAB4B67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111B0AE2-ADD5-86F1-2EFA-7D13B7E89A17}"/>
              </a:ext>
            </a:extLst>
          </p:cNvPr>
          <p:cNvSpPr>
            <a:spLocks noGrp="1"/>
          </p:cNvSpPr>
          <p:nvPr>
            <p:ph type="ctrTitle"/>
          </p:nvPr>
        </p:nvSpPr>
        <p:spPr>
          <a:xfrm>
            <a:off x="738556" y="70338"/>
            <a:ext cx="11383106" cy="715108"/>
          </a:xfrm>
        </p:spPr>
        <p:txBody>
          <a:bodyPr/>
          <a:lstStyle/>
          <a:p>
            <a:r>
              <a:rPr lang="en-GB" sz="4000" b="1" dirty="0">
                <a:solidFill>
                  <a:srgbClr val="002060"/>
                </a:solidFill>
              </a:rPr>
              <a:t>ETM+: Enhanced Thematic Mapper Plus</a:t>
            </a:r>
            <a:endParaRPr lang="en-IN" sz="4000" b="1" dirty="0">
              <a:solidFill>
                <a:srgbClr val="002060"/>
              </a:solidFill>
            </a:endParaRPr>
          </a:p>
        </p:txBody>
      </p:sp>
      <p:sp>
        <p:nvSpPr>
          <p:cNvPr id="29" name="Text Placeholder 6">
            <a:extLst>
              <a:ext uri="{FF2B5EF4-FFF2-40B4-BE49-F238E27FC236}">
                <a16:creationId xmlns:a16="http://schemas.microsoft.com/office/drawing/2014/main" id="{B9837BE4-E62C-C90A-821F-7B21237F0C9C}"/>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7" name="Text Placeholder 16">
            <a:extLst>
              <a:ext uri="{FF2B5EF4-FFF2-40B4-BE49-F238E27FC236}">
                <a16:creationId xmlns:a16="http://schemas.microsoft.com/office/drawing/2014/main" id="{269FCB00-69CD-F020-9CAD-B3F9AC845494}"/>
              </a:ext>
            </a:extLst>
          </p:cNvPr>
          <p:cNvSpPr txBox="1">
            <a:spLocks/>
          </p:cNvSpPr>
          <p:nvPr/>
        </p:nvSpPr>
        <p:spPr>
          <a:xfrm>
            <a:off x="2147911" y="1404434"/>
            <a:ext cx="6535516" cy="5057447"/>
          </a:xfrm>
          <a:prstGeom prst="rect">
            <a:avLst/>
          </a:prstGeom>
        </p:spPr>
        <p:txBody>
          <a:bodyPr>
            <a:normAutofit fontScale="92500" lnSpcReduction="10000"/>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Satellites: </a:t>
            </a:r>
            <a:r>
              <a:rPr lang="en-IN" sz="2200" dirty="0">
                <a:solidFill>
                  <a:srgbClr val="FF0000"/>
                </a:solidFill>
                <a:latin typeface="Times New Roman" panose="02020603050405020304" pitchFamily="18" charset="0"/>
                <a:cs typeface="Times New Roman" panose="02020603050405020304" pitchFamily="18" charset="0"/>
              </a:rPr>
              <a:t>Landsat 7</a:t>
            </a:r>
          </a:p>
          <a:p>
            <a:r>
              <a:rPr lang="en-IN" sz="2200" b="1" dirty="0">
                <a:latin typeface="Times New Roman" panose="02020603050405020304" pitchFamily="18" charset="0"/>
                <a:cs typeface="Times New Roman" panose="02020603050405020304" pitchFamily="18" charset="0"/>
              </a:rPr>
              <a:t>Agency:</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NASA/USGS (USA)</a:t>
            </a:r>
          </a:p>
          <a:p>
            <a:r>
              <a:rPr lang="en-GB" sz="2200" b="1" dirty="0">
                <a:latin typeface="Times New Roman" panose="02020603050405020304" pitchFamily="18" charset="0"/>
                <a:cs typeface="Times New Roman" panose="02020603050405020304" pitchFamily="18" charset="0"/>
              </a:rPr>
              <a:t>Launched: </a:t>
            </a:r>
            <a:r>
              <a:rPr lang="en-GB" sz="2200" dirty="0">
                <a:latin typeface="Times New Roman" panose="02020603050405020304" pitchFamily="18" charset="0"/>
                <a:cs typeface="Times New Roman" panose="02020603050405020304" pitchFamily="18" charset="0"/>
              </a:rPr>
              <a:t>1999-2025</a:t>
            </a:r>
            <a:endParaRPr lang="en-IN" sz="2200" dirty="0">
              <a:solidFill>
                <a:srgbClr val="FF0000"/>
              </a:solidFill>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Type: </a:t>
            </a:r>
            <a:r>
              <a:rPr lang="en-IN" sz="2200" dirty="0">
                <a:latin typeface="Times New Roman" panose="02020603050405020304" pitchFamily="18" charset="0"/>
                <a:cs typeface="Times New Roman" panose="02020603050405020304" pitchFamily="18" charset="0"/>
              </a:rPr>
              <a:t>Passive OIR, Scanning-Imaging (Whiskbroom)</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Spatial Resolution: </a:t>
            </a:r>
            <a:r>
              <a:rPr lang="fr-FR" sz="2200" dirty="0">
                <a:latin typeface="Times New Roman" panose="02020603050405020304" pitchFamily="18" charset="0"/>
                <a:cs typeface="Times New Roman" panose="02020603050405020304" pitchFamily="18" charset="0"/>
              </a:rPr>
              <a:t>30 m (VIS/NIR/SWIR), 60 m (TIR), 15 m (Pan)</a:t>
            </a:r>
            <a:endParaRPr lang="fr-FR"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Spectral Resolution: </a:t>
            </a:r>
            <a:r>
              <a:rPr lang="en-IN" sz="2200" dirty="0">
                <a:solidFill>
                  <a:srgbClr val="FF0000"/>
                </a:solidFill>
                <a:latin typeface="Times New Roman" panose="02020603050405020304" pitchFamily="18" charset="0"/>
                <a:cs typeface="Times New Roman" panose="02020603050405020304" pitchFamily="18" charset="0"/>
              </a:rPr>
              <a:t>8 bands</a:t>
            </a:r>
          </a:p>
          <a:p>
            <a:r>
              <a:rPr lang="en-IN" sz="2200" b="1" dirty="0">
                <a:latin typeface="Times New Roman" panose="02020603050405020304" pitchFamily="18" charset="0"/>
                <a:cs typeface="Times New Roman" panose="02020603050405020304" pitchFamily="18" charset="0"/>
              </a:rPr>
              <a:t>Temporal: </a:t>
            </a:r>
            <a:r>
              <a:rPr lang="en-IN" sz="2200" dirty="0">
                <a:latin typeface="Times New Roman" panose="02020603050405020304" pitchFamily="18" charset="0"/>
                <a:cs typeface="Times New Roman" panose="02020603050405020304" pitchFamily="18" charset="0"/>
              </a:rPr>
              <a:t>16 days</a:t>
            </a:r>
          </a:p>
          <a:p>
            <a:r>
              <a:rPr lang="en-IN" sz="2200" b="1" dirty="0">
                <a:latin typeface="Times New Roman" panose="02020603050405020304" pitchFamily="18" charset="0"/>
                <a:cs typeface="Times New Roman" panose="02020603050405020304" pitchFamily="18" charset="0"/>
              </a:rPr>
              <a:t>Radiometric:</a:t>
            </a:r>
            <a:r>
              <a:rPr lang="en-IN" sz="2200" dirty="0">
                <a:latin typeface="Times New Roman" panose="02020603050405020304" pitchFamily="18" charset="0"/>
                <a:cs typeface="Times New Roman" panose="02020603050405020304" pitchFamily="18" charset="0"/>
              </a:rPr>
              <a:t> 8 bits</a:t>
            </a:r>
          </a:p>
          <a:p>
            <a:r>
              <a:rPr lang="en-IN" sz="2200" b="1" dirty="0">
                <a:latin typeface="Times New Roman" panose="02020603050405020304" pitchFamily="18" charset="0"/>
                <a:cs typeface="Times New Roman" panose="02020603050405020304" pitchFamily="18" charset="0"/>
              </a:rPr>
              <a:t>Swath:</a:t>
            </a:r>
            <a:r>
              <a:rPr lang="en-IN" sz="2200" dirty="0">
                <a:latin typeface="Times New Roman" panose="02020603050405020304" pitchFamily="18" charset="0"/>
                <a:cs typeface="Times New Roman" panose="02020603050405020304" pitchFamily="18" charset="0"/>
              </a:rPr>
              <a:t> 185 km</a:t>
            </a:r>
          </a:p>
          <a:p>
            <a:r>
              <a:rPr lang="en-US" sz="2200" b="1" dirty="0">
                <a:latin typeface="Times New Roman" panose="02020603050405020304" pitchFamily="18" charset="0"/>
                <a:cs typeface="Times New Roman" panose="02020603050405020304" pitchFamily="18" charset="0"/>
              </a:rPr>
              <a:t>Significance: </a:t>
            </a:r>
            <a:r>
              <a:rPr lang="en-US" sz="2000" dirty="0">
                <a:latin typeface="Times New Roman" panose="02020603050405020304" pitchFamily="18" charset="0"/>
                <a:cs typeface="Times New Roman" panose="02020603050405020304" pitchFamily="18" charset="0"/>
              </a:rPr>
              <a:t>Addition of panchromatic and coastal bands, further detail.</a:t>
            </a:r>
            <a:br>
              <a:rPr lang="en-IN" sz="2000"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389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45FF-B9DD-E7E5-C561-CEEA12B183BD}"/>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E91655B3-7647-4439-AAD2-34F45511A135}"/>
              </a:ext>
            </a:extLst>
          </p:cNvPr>
          <p:cNvSpPr>
            <a:spLocks noGrp="1"/>
          </p:cNvSpPr>
          <p:nvPr>
            <p:ph type="ctrTitle"/>
          </p:nvPr>
        </p:nvSpPr>
        <p:spPr>
          <a:xfrm>
            <a:off x="738556" y="70338"/>
            <a:ext cx="11383106" cy="715108"/>
          </a:xfrm>
        </p:spPr>
        <p:txBody>
          <a:bodyPr/>
          <a:lstStyle/>
          <a:p>
            <a:r>
              <a:rPr lang="en-GB" sz="4000" b="1" dirty="0">
                <a:solidFill>
                  <a:srgbClr val="002060"/>
                </a:solidFill>
              </a:rPr>
              <a:t>ETM+: Enhanced Thematic Mapper Plus</a:t>
            </a:r>
            <a:endParaRPr lang="en-IN" sz="4000" b="1" dirty="0">
              <a:solidFill>
                <a:srgbClr val="002060"/>
              </a:solidFill>
            </a:endParaRPr>
          </a:p>
        </p:txBody>
      </p:sp>
      <p:sp>
        <p:nvSpPr>
          <p:cNvPr id="29" name="Text Placeholder 6">
            <a:extLst>
              <a:ext uri="{FF2B5EF4-FFF2-40B4-BE49-F238E27FC236}">
                <a16:creationId xmlns:a16="http://schemas.microsoft.com/office/drawing/2014/main" id="{154BF159-765E-DA14-EC85-520BA39E2E5C}"/>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graphicFrame>
        <p:nvGraphicFramePr>
          <p:cNvPr id="6" name="Object 5">
            <a:extLst>
              <a:ext uri="{FF2B5EF4-FFF2-40B4-BE49-F238E27FC236}">
                <a16:creationId xmlns:a16="http://schemas.microsoft.com/office/drawing/2014/main" id="{4D11DD41-AD62-C2A6-E727-C6E09603BC81}"/>
              </a:ext>
            </a:extLst>
          </p:cNvPr>
          <p:cNvGraphicFramePr>
            <a:graphicFrameLocks noChangeAspect="1"/>
          </p:cNvGraphicFramePr>
          <p:nvPr>
            <p:extLst>
              <p:ext uri="{D42A27DB-BD31-4B8C-83A1-F6EECF244321}">
                <p14:modId xmlns:p14="http://schemas.microsoft.com/office/powerpoint/2010/main" val="4269458360"/>
              </p:ext>
            </p:extLst>
          </p:nvPr>
        </p:nvGraphicFramePr>
        <p:xfrm>
          <a:off x="1534887" y="1324428"/>
          <a:ext cx="6319156" cy="3835399"/>
        </p:xfrm>
        <a:graphic>
          <a:graphicData uri="http://schemas.openxmlformats.org/presentationml/2006/ole">
            <mc:AlternateContent xmlns:mc="http://schemas.openxmlformats.org/markup-compatibility/2006">
              <mc:Choice xmlns:v="urn:schemas-microsoft-com:vml" Requires="v">
                <p:oleObj name="Worksheet" r:id="rId2" imgW="2766166" imgH="1592470" progId="Excel.Sheet.12">
                  <p:embed/>
                </p:oleObj>
              </mc:Choice>
              <mc:Fallback>
                <p:oleObj name="Worksheet" r:id="rId2" imgW="2766166" imgH="1592470" progId="Excel.Sheet.12">
                  <p:embed/>
                  <p:pic>
                    <p:nvPicPr>
                      <p:cNvPr id="0" name=""/>
                      <p:cNvPicPr/>
                      <p:nvPr/>
                    </p:nvPicPr>
                    <p:blipFill>
                      <a:blip r:embed="rId3"/>
                      <a:stretch>
                        <a:fillRect/>
                      </a:stretch>
                    </p:blipFill>
                    <p:spPr>
                      <a:xfrm>
                        <a:off x="1534887" y="1324428"/>
                        <a:ext cx="6319156" cy="3835399"/>
                      </a:xfrm>
                      <a:prstGeom prst="rect">
                        <a:avLst/>
                      </a:prstGeom>
                    </p:spPr>
                  </p:pic>
                </p:oleObj>
              </mc:Fallback>
            </mc:AlternateContent>
          </a:graphicData>
        </a:graphic>
      </p:graphicFrame>
    </p:spTree>
    <p:extLst>
      <p:ext uri="{BB962C8B-B14F-4D97-AF65-F5344CB8AC3E}">
        <p14:creationId xmlns:p14="http://schemas.microsoft.com/office/powerpoint/2010/main" val="2163258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8BEBF-1196-FAE0-E159-B18815C389C2}"/>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F6F70A8-A396-1177-6386-3A63C6B2DCEF}"/>
              </a:ext>
            </a:extLst>
          </p:cNvPr>
          <p:cNvSpPr>
            <a:spLocks noGrp="1"/>
          </p:cNvSpPr>
          <p:nvPr>
            <p:ph type="ctrTitle"/>
          </p:nvPr>
        </p:nvSpPr>
        <p:spPr>
          <a:xfrm>
            <a:off x="738556" y="70338"/>
            <a:ext cx="11383106" cy="715108"/>
          </a:xfrm>
        </p:spPr>
        <p:txBody>
          <a:bodyPr/>
          <a:lstStyle/>
          <a:p>
            <a:r>
              <a:rPr lang="en-GB" sz="4000" b="1" dirty="0">
                <a:solidFill>
                  <a:srgbClr val="002060"/>
                </a:solidFill>
              </a:rPr>
              <a:t>OLI: Operational Land Imager</a:t>
            </a:r>
            <a:endParaRPr lang="en-IN" sz="4000" b="1" dirty="0">
              <a:solidFill>
                <a:srgbClr val="002060"/>
              </a:solidFill>
            </a:endParaRPr>
          </a:p>
        </p:txBody>
      </p:sp>
      <p:sp>
        <p:nvSpPr>
          <p:cNvPr id="29" name="Text Placeholder 6">
            <a:extLst>
              <a:ext uri="{FF2B5EF4-FFF2-40B4-BE49-F238E27FC236}">
                <a16:creationId xmlns:a16="http://schemas.microsoft.com/office/drawing/2014/main" id="{C1A4BC18-10F6-85A9-8200-5007920A7BFB}"/>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7" name="Text Placeholder 16">
            <a:extLst>
              <a:ext uri="{FF2B5EF4-FFF2-40B4-BE49-F238E27FC236}">
                <a16:creationId xmlns:a16="http://schemas.microsoft.com/office/drawing/2014/main" id="{2B5FC6A6-5008-DCBF-102B-7F8EE9A74E09}"/>
              </a:ext>
            </a:extLst>
          </p:cNvPr>
          <p:cNvSpPr txBox="1">
            <a:spLocks/>
          </p:cNvSpPr>
          <p:nvPr/>
        </p:nvSpPr>
        <p:spPr>
          <a:xfrm>
            <a:off x="1756025" y="1273806"/>
            <a:ext cx="6535516" cy="5057447"/>
          </a:xfrm>
          <a:prstGeom prst="rect">
            <a:avLst/>
          </a:prstGeom>
        </p:spPr>
        <p:txBody>
          <a:bodyPr>
            <a:normAutofit lnSpcReduction="10000"/>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Satellites: </a:t>
            </a:r>
            <a:r>
              <a:rPr lang="en-IN" sz="2200" dirty="0">
                <a:solidFill>
                  <a:srgbClr val="FF0000"/>
                </a:solidFill>
                <a:latin typeface="Times New Roman" panose="02020603050405020304" pitchFamily="18" charset="0"/>
                <a:cs typeface="Times New Roman" panose="02020603050405020304" pitchFamily="18" charset="0"/>
              </a:rPr>
              <a:t>Landsat 8, 9</a:t>
            </a:r>
          </a:p>
          <a:p>
            <a:r>
              <a:rPr lang="en-IN" sz="2200" b="1" dirty="0">
                <a:latin typeface="Times New Roman" panose="02020603050405020304" pitchFamily="18" charset="0"/>
                <a:cs typeface="Times New Roman" panose="02020603050405020304" pitchFamily="18" charset="0"/>
              </a:rPr>
              <a:t>Agency:</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NASA/USGS (USA)</a:t>
            </a:r>
          </a:p>
          <a:p>
            <a:r>
              <a:rPr lang="en-GB" sz="2000" b="1" dirty="0">
                <a:latin typeface="Times New Roman" panose="02020603050405020304" pitchFamily="18" charset="0"/>
                <a:cs typeface="Times New Roman" panose="02020603050405020304" pitchFamily="18" charset="0"/>
              </a:rPr>
              <a:t>Launched: </a:t>
            </a:r>
            <a:r>
              <a:rPr lang="en-GB" sz="2000" dirty="0">
                <a:latin typeface="Times New Roman" panose="02020603050405020304" pitchFamily="18" charset="0"/>
                <a:cs typeface="Times New Roman" panose="02020603050405020304" pitchFamily="18" charset="0"/>
              </a:rPr>
              <a:t>2013-Present</a:t>
            </a:r>
            <a:endParaRPr lang="en-IN" sz="2000" dirty="0">
              <a:solidFill>
                <a:srgbClr val="FF0000"/>
              </a:solidFill>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Type: </a:t>
            </a:r>
            <a:r>
              <a:rPr lang="en-IN" sz="2200" dirty="0">
                <a:latin typeface="Times New Roman" panose="02020603050405020304" pitchFamily="18" charset="0"/>
                <a:cs typeface="Times New Roman" panose="02020603050405020304" pitchFamily="18" charset="0"/>
              </a:rPr>
              <a:t>Passive OIR, Non Scanning-Imaging (</a:t>
            </a:r>
            <a:r>
              <a:rPr lang="en-IN" sz="2200" dirty="0" err="1">
                <a:latin typeface="Times New Roman" panose="02020603050405020304" pitchFamily="18" charset="0"/>
                <a:cs typeface="Times New Roman" panose="02020603050405020304" pitchFamily="18" charset="0"/>
              </a:rPr>
              <a:t>Pushbroom</a:t>
            </a:r>
            <a:r>
              <a:rPr lang="en-IN" sz="2200" dirty="0">
                <a:latin typeface="Times New Roman" panose="02020603050405020304" pitchFamily="18" charset="0"/>
                <a:cs typeface="Times New Roman" panose="02020603050405020304" pitchFamily="18" charset="0"/>
              </a:rPr>
              <a:t>)</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Spatial Resolution: </a:t>
            </a:r>
            <a:r>
              <a:rPr lang="fr-FR" sz="2200" dirty="0">
                <a:latin typeface="Times New Roman" panose="02020603050405020304" pitchFamily="18" charset="0"/>
                <a:cs typeface="Times New Roman" panose="02020603050405020304" pitchFamily="18" charset="0"/>
              </a:rPr>
              <a:t>30 m (MS), 15 m (Pan)</a:t>
            </a:r>
            <a:endParaRPr lang="fr-FR"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Spectral Resolution: </a:t>
            </a:r>
            <a:r>
              <a:rPr lang="en-IN" sz="2200" dirty="0">
                <a:solidFill>
                  <a:srgbClr val="FF0000"/>
                </a:solidFill>
                <a:latin typeface="Times New Roman" panose="02020603050405020304" pitchFamily="18" charset="0"/>
                <a:cs typeface="Times New Roman" panose="02020603050405020304" pitchFamily="18" charset="0"/>
              </a:rPr>
              <a:t>9 bands</a:t>
            </a:r>
          </a:p>
          <a:p>
            <a:r>
              <a:rPr lang="en-IN" sz="2200" b="1" dirty="0">
                <a:latin typeface="Times New Roman" panose="02020603050405020304" pitchFamily="18" charset="0"/>
                <a:cs typeface="Times New Roman" panose="02020603050405020304" pitchFamily="18" charset="0"/>
              </a:rPr>
              <a:t>Temporal: </a:t>
            </a:r>
            <a:r>
              <a:rPr lang="en-IN" sz="2200" dirty="0">
                <a:latin typeface="Times New Roman" panose="02020603050405020304" pitchFamily="18" charset="0"/>
                <a:cs typeface="Times New Roman" panose="02020603050405020304" pitchFamily="18" charset="0"/>
              </a:rPr>
              <a:t>16 days</a:t>
            </a:r>
          </a:p>
          <a:p>
            <a:r>
              <a:rPr lang="en-IN" sz="2200" b="1" dirty="0">
                <a:latin typeface="Times New Roman" panose="02020603050405020304" pitchFamily="18" charset="0"/>
                <a:cs typeface="Times New Roman" panose="02020603050405020304" pitchFamily="18" charset="0"/>
              </a:rPr>
              <a:t>Radiometric:</a:t>
            </a:r>
            <a:r>
              <a:rPr lang="en-IN" sz="2200" dirty="0">
                <a:latin typeface="Times New Roman" panose="02020603050405020304" pitchFamily="18" charset="0"/>
                <a:cs typeface="Times New Roman" panose="02020603050405020304" pitchFamily="18" charset="0"/>
              </a:rPr>
              <a:t> 12 bits (Landsat 8), 14 bits (Landsat 9)</a:t>
            </a:r>
          </a:p>
          <a:p>
            <a:r>
              <a:rPr lang="en-IN" sz="2200" b="1" dirty="0">
                <a:latin typeface="Times New Roman" panose="02020603050405020304" pitchFamily="18" charset="0"/>
                <a:cs typeface="Times New Roman" panose="02020603050405020304" pitchFamily="18" charset="0"/>
              </a:rPr>
              <a:t>Swath:</a:t>
            </a:r>
            <a:r>
              <a:rPr lang="en-IN" sz="2200" dirty="0">
                <a:latin typeface="Times New Roman" panose="02020603050405020304" pitchFamily="18" charset="0"/>
                <a:cs typeface="Times New Roman" panose="02020603050405020304" pitchFamily="18" charset="0"/>
              </a:rPr>
              <a:t> 185 km</a:t>
            </a:r>
          </a:p>
          <a:p>
            <a:r>
              <a:rPr lang="en-US" sz="2200" b="1" dirty="0">
                <a:latin typeface="Times New Roman" panose="02020603050405020304" pitchFamily="18" charset="0"/>
                <a:cs typeface="Times New Roman" panose="02020603050405020304" pitchFamily="18" charset="0"/>
              </a:rPr>
              <a:t>Significance: </a:t>
            </a:r>
            <a:r>
              <a:rPr lang="en-US" sz="2000" dirty="0">
                <a:latin typeface="Times New Roman" panose="02020603050405020304" pitchFamily="18" charset="0"/>
                <a:cs typeface="Times New Roman" panose="02020603050405020304" pitchFamily="18" charset="0"/>
              </a:rPr>
              <a:t>Land use monitoring, water resources and coastal zone investigation, climate studies, disaster management, geological mapping.</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8350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64EB2-372F-F698-64EC-DB83FC86E31D}"/>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8245D57-0841-2475-7D13-9E366F88F86C}"/>
              </a:ext>
            </a:extLst>
          </p:cNvPr>
          <p:cNvSpPr>
            <a:spLocks noGrp="1"/>
          </p:cNvSpPr>
          <p:nvPr>
            <p:ph type="ctrTitle"/>
          </p:nvPr>
        </p:nvSpPr>
        <p:spPr>
          <a:xfrm>
            <a:off x="738556" y="70338"/>
            <a:ext cx="11383106" cy="715108"/>
          </a:xfrm>
        </p:spPr>
        <p:txBody>
          <a:bodyPr/>
          <a:lstStyle/>
          <a:p>
            <a:r>
              <a:rPr lang="en-GB" sz="4000" b="1" dirty="0">
                <a:solidFill>
                  <a:srgbClr val="002060"/>
                </a:solidFill>
              </a:rPr>
              <a:t>OLI: Operational Land Imager</a:t>
            </a:r>
            <a:endParaRPr lang="en-IN" sz="4000" b="1" dirty="0">
              <a:solidFill>
                <a:srgbClr val="002060"/>
              </a:solidFill>
            </a:endParaRPr>
          </a:p>
        </p:txBody>
      </p:sp>
      <p:sp>
        <p:nvSpPr>
          <p:cNvPr id="29" name="Text Placeholder 6">
            <a:extLst>
              <a:ext uri="{FF2B5EF4-FFF2-40B4-BE49-F238E27FC236}">
                <a16:creationId xmlns:a16="http://schemas.microsoft.com/office/drawing/2014/main" id="{C3EBB810-0712-984F-93BA-1F5A7258EBC3}"/>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graphicFrame>
        <p:nvGraphicFramePr>
          <p:cNvPr id="6" name="Object 5">
            <a:extLst>
              <a:ext uri="{FF2B5EF4-FFF2-40B4-BE49-F238E27FC236}">
                <a16:creationId xmlns:a16="http://schemas.microsoft.com/office/drawing/2014/main" id="{2E884D94-FB66-D243-9891-5071D9304083}"/>
              </a:ext>
            </a:extLst>
          </p:cNvPr>
          <p:cNvGraphicFramePr>
            <a:graphicFrameLocks noChangeAspect="1"/>
          </p:cNvGraphicFramePr>
          <p:nvPr>
            <p:extLst>
              <p:ext uri="{D42A27DB-BD31-4B8C-83A1-F6EECF244321}">
                <p14:modId xmlns:p14="http://schemas.microsoft.com/office/powerpoint/2010/main" val="1030368729"/>
              </p:ext>
            </p:extLst>
          </p:nvPr>
        </p:nvGraphicFramePr>
        <p:xfrm>
          <a:off x="1527175" y="1592263"/>
          <a:ext cx="7012668" cy="3436937"/>
        </p:xfrm>
        <a:graphic>
          <a:graphicData uri="http://schemas.openxmlformats.org/presentationml/2006/ole">
            <mc:AlternateContent xmlns:mc="http://schemas.openxmlformats.org/markup-compatibility/2006">
              <mc:Choice xmlns:v="urn:schemas-microsoft-com:vml" Requires="v">
                <p:oleObj name="Worksheet" r:id="rId2" imgW="2781477" imgH="1836389" progId="Excel.Sheet.12">
                  <p:embed/>
                </p:oleObj>
              </mc:Choice>
              <mc:Fallback>
                <p:oleObj name="Worksheet" r:id="rId2" imgW="2781477" imgH="1836389" progId="Excel.Sheet.12">
                  <p:embed/>
                  <p:pic>
                    <p:nvPicPr>
                      <p:cNvPr id="0" name=""/>
                      <p:cNvPicPr/>
                      <p:nvPr/>
                    </p:nvPicPr>
                    <p:blipFill>
                      <a:blip r:embed="rId3"/>
                      <a:stretch>
                        <a:fillRect/>
                      </a:stretch>
                    </p:blipFill>
                    <p:spPr>
                      <a:xfrm>
                        <a:off x="1527175" y="1592263"/>
                        <a:ext cx="7012668" cy="3436937"/>
                      </a:xfrm>
                      <a:prstGeom prst="rect">
                        <a:avLst/>
                      </a:prstGeom>
                    </p:spPr>
                  </p:pic>
                </p:oleObj>
              </mc:Fallback>
            </mc:AlternateContent>
          </a:graphicData>
        </a:graphic>
      </p:graphicFrame>
    </p:spTree>
    <p:extLst>
      <p:ext uri="{BB962C8B-B14F-4D97-AF65-F5344CB8AC3E}">
        <p14:creationId xmlns:p14="http://schemas.microsoft.com/office/powerpoint/2010/main" val="16318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96C6D-5686-C0E1-CE4C-493FEB82697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AA7CF3AD-F912-6A5A-2F2B-C7EB577D7234}"/>
              </a:ext>
            </a:extLst>
          </p:cNvPr>
          <p:cNvSpPr>
            <a:spLocks noGrp="1"/>
          </p:cNvSpPr>
          <p:nvPr>
            <p:ph type="ctrTitle"/>
          </p:nvPr>
        </p:nvSpPr>
        <p:spPr>
          <a:xfrm>
            <a:off x="702134" y="41795"/>
            <a:ext cx="11383106" cy="715108"/>
          </a:xfrm>
        </p:spPr>
        <p:txBody>
          <a:bodyPr/>
          <a:lstStyle/>
          <a:p>
            <a:r>
              <a:rPr lang="en-GB" sz="4000" b="1" dirty="0">
                <a:solidFill>
                  <a:srgbClr val="002060"/>
                </a:solidFill>
              </a:rPr>
              <a:t>TIRS: Thermal Infrared Sensor</a:t>
            </a:r>
            <a:endParaRPr lang="en-IN" sz="4000" b="1" dirty="0">
              <a:solidFill>
                <a:srgbClr val="002060"/>
              </a:solidFill>
            </a:endParaRPr>
          </a:p>
        </p:txBody>
      </p:sp>
      <p:sp>
        <p:nvSpPr>
          <p:cNvPr id="29" name="Text Placeholder 6">
            <a:extLst>
              <a:ext uri="{FF2B5EF4-FFF2-40B4-BE49-F238E27FC236}">
                <a16:creationId xmlns:a16="http://schemas.microsoft.com/office/drawing/2014/main" id="{9D7DBCE3-65CE-C4F0-4A35-C4BD637F2B95}"/>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7" name="Text Placeholder 16">
            <a:extLst>
              <a:ext uri="{FF2B5EF4-FFF2-40B4-BE49-F238E27FC236}">
                <a16:creationId xmlns:a16="http://schemas.microsoft.com/office/drawing/2014/main" id="{3E27CA6F-00D8-460E-209A-47E6AC098EDD}"/>
              </a:ext>
            </a:extLst>
          </p:cNvPr>
          <p:cNvSpPr txBox="1">
            <a:spLocks/>
          </p:cNvSpPr>
          <p:nvPr/>
        </p:nvSpPr>
        <p:spPr>
          <a:xfrm>
            <a:off x="384425" y="1273806"/>
            <a:ext cx="6535516" cy="5057447"/>
          </a:xfrm>
          <a:prstGeom prst="rect">
            <a:avLst/>
          </a:prstGeom>
        </p:spPr>
        <p:txBody>
          <a:bodyPr>
            <a:normAutofit fontScale="92500" lnSpcReduction="10000"/>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Satellites: </a:t>
            </a:r>
            <a:r>
              <a:rPr lang="en-IN" sz="2200" dirty="0">
                <a:solidFill>
                  <a:srgbClr val="FF0000"/>
                </a:solidFill>
                <a:latin typeface="Times New Roman" panose="02020603050405020304" pitchFamily="18" charset="0"/>
                <a:cs typeface="Times New Roman" panose="02020603050405020304" pitchFamily="18" charset="0"/>
              </a:rPr>
              <a:t>Landsat 8, 9</a:t>
            </a:r>
          </a:p>
          <a:p>
            <a:r>
              <a:rPr lang="en-IN" sz="2200" b="1" dirty="0">
                <a:latin typeface="Times New Roman" panose="02020603050405020304" pitchFamily="18" charset="0"/>
                <a:cs typeface="Times New Roman" panose="02020603050405020304" pitchFamily="18" charset="0"/>
              </a:rPr>
              <a:t>Agency:</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NASA/USGS (USA)</a:t>
            </a:r>
          </a:p>
          <a:p>
            <a:r>
              <a:rPr lang="en-GB" sz="2200" b="1" dirty="0">
                <a:latin typeface="Times New Roman" panose="02020603050405020304" pitchFamily="18" charset="0"/>
                <a:cs typeface="Times New Roman" panose="02020603050405020304" pitchFamily="18" charset="0"/>
              </a:rPr>
              <a:t>Launched: </a:t>
            </a:r>
            <a:r>
              <a:rPr lang="en-GB" sz="2200" dirty="0">
                <a:latin typeface="Times New Roman" panose="02020603050405020304" pitchFamily="18" charset="0"/>
                <a:cs typeface="Times New Roman" panose="02020603050405020304" pitchFamily="18" charset="0"/>
              </a:rPr>
              <a:t>2013-Present</a:t>
            </a:r>
            <a:endParaRPr lang="en-IN" sz="2200" dirty="0">
              <a:solidFill>
                <a:srgbClr val="FF0000"/>
              </a:solidFill>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Type: </a:t>
            </a:r>
            <a:r>
              <a:rPr lang="en-IN" sz="2200" dirty="0">
                <a:latin typeface="Times New Roman" panose="02020603050405020304" pitchFamily="18" charset="0"/>
                <a:cs typeface="Times New Roman" panose="02020603050405020304" pitchFamily="18" charset="0"/>
              </a:rPr>
              <a:t>Passive OIR, Non Scanning-Imaging (</a:t>
            </a:r>
            <a:r>
              <a:rPr lang="en-IN" sz="2200" dirty="0" err="1">
                <a:latin typeface="Times New Roman" panose="02020603050405020304" pitchFamily="18" charset="0"/>
                <a:cs typeface="Times New Roman" panose="02020603050405020304" pitchFamily="18" charset="0"/>
              </a:rPr>
              <a:t>Pushbroom</a:t>
            </a:r>
            <a:r>
              <a:rPr lang="en-IN" sz="2200" dirty="0">
                <a:latin typeface="Times New Roman" panose="02020603050405020304" pitchFamily="18" charset="0"/>
                <a:cs typeface="Times New Roman" panose="02020603050405020304" pitchFamily="18" charset="0"/>
              </a:rPr>
              <a:t>)</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Spatial Resolution: </a:t>
            </a:r>
            <a:r>
              <a:rPr lang="fr-FR" sz="2200" dirty="0">
                <a:latin typeface="Times New Roman" panose="02020603050405020304" pitchFamily="18" charset="0"/>
                <a:cs typeface="Times New Roman" panose="02020603050405020304" pitchFamily="18" charset="0"/>
              </a:rPr>
              <a:t>100 m</a:t>
            </a:r>
            <a:endParaRPr lang="fr-FR"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Spectral Resolution: </a:t>
            </a:r>
            <a:r>
              <a:rPr lang="en-IN" sz="2200" dirty="0">
                <a:solidFill>
                  <a:srgbClr val="FF0000"/>
                </a:solidFill>
                <a:latin typeface="Times New Roman" panose="02020603050405020304" pitchFamily="18" charset="0"/>
                <a:cs typeface="Times New Roman" panose="02020603050405020304" pitchFamily="18" charset="0"/>
              </a:rPr>
              <a:t>2 bands</a:t>
            </a:r>
          </a:p>
          <a:p>
            <a:r>
              <a:rPr lang="en-IN" sz="2200" b="1" dirty="0">
                <a:latin typeface="Times New Roman" panose="02020603050405020304" pitchFamily="18" charset="0"/>
                <a:cs typeface="Times New Roman" panose="02020603050405020304" pitchFamily="18" charset="0"/>
              </a:rPr>
              <a:t>Temporal: </a:t>
            </a:r>
            <a:r>
              <a:rPr lang="en-IN" sz="2200" dirty="0">
                <a:latin typeface="Times New Roman" panose="02020603050405020304" pitchFamily="18" charset="0"/>
                <a:cs typeface="Times New Roman" panose="02020603050405020304" pitchFamily="18" charset="0"/>
              </a:rPr>
              <a:t>16 days</a:t>
            </a:r>
          </a:p>
          <a:p>
            <a:r>
              <a:rPr lang="en-IN" sz="2200" b="1" dirty="0">
                <a:latin typeface="Times New Roman" panose="02020603050405020304" pitchFamily="18" charset="0"/>
                <a:cs typeface="Times New Roman" panose="02020603050405020304" pitchFamily="18" charset="0"/>
              </a:rPr>
              <a:t>Radiometric:</a:t>
            </a:r>
            <a:r>
              <a:rPr lang="en-IN" sz="2200" dirty="0">
                <a:latin typeface="Times New Roman" panose="02020603050405020304" pitchFamily="18" charset="0"/>
                <a:cs typeface="Times New Roman" panose="02020603050405020304" pitchFamily="18" charset="0"/>
              </a:rPr>
              <a:t> 12 bits (Landsat 8), 14 bits (Landsat 9)</a:t>
            </a:r>
          </a:p>
          <a:p>
            <a:r>
              <a:rPr lang="en-IN" sz="2200" b="1" dirty="0">
                <a:latin typeface="Times New Roman" panose="02020603050405020304" pitchFamily="18" charset="0"/>
                <a:cs typeface="Times New Roman" panose="02020603050405020304" pitchFamily="18" charset="0"/>
              </a:rPr>
              <a:t>Swath:</a:t>
            </a:r>
            <a:r>
              <a:rPr lang="en-IN" sz="2200" dirty="0">
                <a:latin typeface="Times New Roman" panose="02020603050405020304" pitchFamily="18" charset="0"/>
                <a:cs typeface="Times New Roman" panose="02020603050405020304" pitchFamily="18" charset="0"/>
              </a:rPr>
              <a:t> 185 km</a:t>
            </a:r>
          </a:p>
          <a:p>
            <a:r>
              <a:rPr lang="en-US" sz="2200" b="1" dirty="0">
                <a:latin typeface="Times New Roman" panose="02020603050405020304" pitchFamily="18" charset="0"/>
                <a:cs typeface="Times New Roman" panose="02020603050405020304" pitchFamily="18" charset="0"/>
              </a:rPr>
              <a:t>Significance: </a:t>
            </a:r>
            <a:r>
              <a:rPr lang="en-US" sz="2200" dirty="0">
                <a:latin typeface="Times New Roman" panose="02020603050405020304" pitchFamily="18" charset="0"/>
                <a:cs typeface="Times New Roman" panose="02020603050405020304" pitchFamily="18" charset="0"/>
              </a:rPr>
              <a:t>Measures land surface temperature, provides data for water irrigation management in arid regions, and tracks urban heat units.</a:t>
            </a:r>
            <a:br>
              <a:rPr lang="en-IN" sz="2200" dirty="0">
                <a:latin typeface="Times New Roman" panose="02020603050405020304" pitchFamily="18" charset="0"/>
                <a:cs typeface="Times New Roman" panose="02020603050405020304" pitchFamily="18" charset="0"/>
              </a:rPr>
            </a:br>
            <a:endParaRPr lang="en-US" sz="22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graphicFrame>
        <p:nvGraphicFramePr>
          <p:cNvPr id="8" name="Object 7">
            <a:extLst>
              <a:ext uri="{FF2B5EF4-FFF2-40B4-BE49-F238E27FC236}">
                <a16:creationId xmlns:a16="http://schemas.microsoft.com/office/drawing/2014/main" id="{387215A0-1EEA-6DF2-CC94-0C9DD053CEBF}"/>
              </a:ext>
            </a:extLst>
          </p:cNvPr>
          <p:cNvGraphicFramePr>
            <a:graphicFrameLocks noChangeAspect="1"/>
          </p:cNvGraphicFramePr>
          <p:nvPr>
            <p:extLst>
              <p:ext uri="{D42A27DB-BD31-4B8C-83A1-F6EECF244321}">
                <p14:modId xmlns:p14="http://schemas.microsoft.com/office/powerpoint/2010/main" val="2300938044"/>
              </p:ext>
            </p:extLst>
          </p:nvPr>
        </p:nvGraphicFramePr>
        <p:xfrm>
          <a:off x="6789649" y="2145179"/>
          <a:ext cx="4339998" cy="1657350"/>
        </p:xfrm>
        <a:graphic>
          <a:graphicData uri="http://schemas.openxmlformats.org/presentationml/2006/ole">
            <mc:AlternateContent xmlns:mc="http://schemas.openxmlformats.org/markup-compatibility/2006">
              <mc:Choice xmlns:v="urn:schemas-microsoft-com:vml" Requires="v">
                <p:oleObj name="Worksheet" r:id="rId2" imgW="1988714" imgH="556134" progId="Excel.Sheet.12">
                  <p:embed/>
                </p:oleObj>
              </mc:Choice>
              <mc:Fallback>
                <p:oleObj name="Worksheet" r:id="rId2" imgW="1988714" imgH="556134" progId="Excel.Sheet.12">
                  <p:embed/>
                  <p:pic>
                    <p:nvPicPr>
                      <p:cNvPr id="6" name="Object 5">
                        <a:extLst>
                          <a:ext uri="{FF2B5EF4-FFF2-40B4-BE49-F238E27FC236}">
                            <a16:creationId xmlns:a16="http://schemas.microsoft.com/office/drawing/2014/main" id="{387215A0-1EEA-6DF2-CC94-0C9DD053CEBF}"/>
                          </a:ext>
                        </a:extLst>
                      </p:cNvPr>
                      <p:cNvPicPr/>
                      <p:nvPr/>
                    </p:nvPicPr>
                    <p:blipFill>
                      <a:blip r:embed="rId3"/>
                      <a:stretch>
                        <a:fillRect/>
                      </a:stretch>
                    </p:blipFill>
                    <p:spPr>
                      <a:xfrm>
                        <a:off x="6789649" y="2145179"/>
                        <a:ext cx="4339998" cy="1657350"/>
                      </a:xfrm>
                      <a:prstGeom prst="rect">
                        <a:avLst/>
                      </a:prstGeom>
                    </p:spPr>
                  </p:pic>
                </p:oleObj>
              </mc:Fallback>
            </mc:AlternateContent>
          </a:graphicData>
        </a:graphic>
      </p:graphicFrame>
    </p:spTree>
    <p:extLst>
      <p:ext uri="{BB962C8B-B14F-4D97-AF65-F5344CB8AC3E}">
        <p14:creationId xmlns:p14="http://schemas.microsoft.com/office/powerpoint/2010/main" val="564503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5E63D-B641-45F1-1C20-2FE60A4C30B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48E6312D-A6E7-F076-3EB9-A5E15A3B51E0}"/>
              </a:ext>
            </a:extLst>
          </p:cNvPr>
          <p:cNvSpPr>
            <a:spLocks noGrp="1"/>
          </p:cNvSpPr>
          <p:nvPr>
            <p:ph type="ctrTitle"/>
          </p:nvPr>
        </p:nvSpPr>
        <p:spPr>
          <a:xfrm>
            <a:off x="738556" y="70338"/>
            <a:ext cx="11383106" cy="715108"/>
          </a:xfrm>
        </p:spPr>
        <p:txBody>
          <a:bodyPr/>
          <a:lstStyle/>
          <a:p>
            <a:r>
              <a:rPr lang="en-GB" sz="4000" b="1" dirty="0">
                <a:solidFill>
                  <a:srgbClr val="002060"/>
                </a:solidFill>
              </a:rPr>
              <a:t>HRV: High Resolution Visible</a:t>
            </a:r>
            <a:endParaRPr lang="en-IN" sz="4000" b="1" dirty="0">
              <a:solidFill>
                <a:srgbClr val="002060"/>
              </a:solidFill>
            </a:endParaRPr>
          </a:p>
        </p:txBody>
      </p:sp>
      <p:sp>
        <p:nvSpPr>
          <p:cNvPr id="29" name="Text Placeholder 6">
            <a:extLst>
              <a:ext uri="{FF2B5EF4-FFF2-40B4-BE49-F238E27FC236}">
                <a16:creationId xmlns:a16="http://schemas.microsoft.com/office/drawing/2014/main" id="{FB5A06B4-843C-EF31-7A3D-AAE94E1BA32B}"/>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DED8080E-EE24-50A1-62F6-1285DEC45EB7}"/>
              </a:ext>
            </a:extLst>
          </p:cNvPr>
          <p:cNvSpPr txBox="1"/>
          <p:nvPr/>
        </p:nvSpPr>
        <p:spPr>
          <a:xfrm>
            <a:off x="6919941" y="2551837"/>
            <a:ext cx="4269917" cy="1938992"/>
          </a:xfrm>
          <a:prstGeom prst="rect">
            <a:avLst/>
          </a:prstGeom>
          <a:noFill/>
        </p:spPr>
        <p:txBody>
          <a:bodyPr wrap="square">
            <a:spAutoFit/>
          </a:bodyPr>
          <a:lstStyle/>
          <a:p>
            <a:pPr marL="285750" indent="-285750" algn="just">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Two High-Resolution Visible (HRV) imagers are used in each satellite.</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They operated in two modes, Panchromatic (PAN) mode and Multispectral (MS) mode, either individually or simultaneously.</a:t>
            </a:r>
          </a:p>
        </p:txBody>
      </p:sp>
      <p:sp>
        <p:nvSpPr>
          <p:cNvPr id="8" name="Text Placeholder 16">
            <a:extLst>
              <a:ext uri="{FF2B5EF4-FFF2-40B4-BE49-F238E27FC236}">
                <a16:creationId xmlns:a16="http://schemas.microsoft.com/office/drawing/2014/main" id="{E988A2FE-1CAB-6FFE-E60A-0E50D5CDC615}"/>
              </a:ext>
            </a:extLst>
          </p:cNvPr>
          <p:cNvSpPr txBox="1">
            <a:spLocks/>
          </p:cNvSpPr>
          <p:nvPr/>
        </p:nvSpPr>
        <p:spPr>
          <a:xfrm>
            <a:off x="384425" y="1273806"/>
            <a:ext cx="6535516" cy="5057447"/>
          </a:xfrm>
          <a:prstGeom prst="rect">
            <a:avLst/>
          </a:prstGeom>
        </p:spPr>
        <p:txBody>
          <a:bodyPr>
            <a:normAutofit fontScale="92500" lnSpcReduction="10000"/>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Satellites: </a:t>
            </a:r>
            <a:r>
              <a:rPr lang="en-IN" sz="2200" dirty="0">
                <a:solidFill>
                  <a:srgbClr val="FF0000"/>
                </a:solidFill>
                <a:latin typeface="Times New Roman" panose="02020603050405020304" pitchFamily="18" charset="0"/>
                <a:cs typeface="Times New Roman" panose="02020603050405020304" pitchFamily="18" charset="0"/>
              </a:rPr>
              <a:t>SPOT 1, 2, 3</a:t>
            </a:r>
          </a:p>
          <a:p>
            <a:r>
              <a:rPr lang="en-IN" sz="2200" b="1" dirty="0">
                <a:latin typeface="Times New Roman" panose="02020603050405020304" pitchFamily="18" charset="0"/>
                <a:cs typeface="Times New Roman" panose="02020603050405020304" pitchFamily="18" charset="0"/>
              </a:rPr>
              <a:t>Agency:</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CNES (France)</a:t>
            </a:r>
          </a:p>
          <a:p>
            <a:r>
              <a:rPr lang="en-GB" sz="2200" b="1" dirty="0">
                <a:latin typeface="Times New Roman" panose="02020603050405020304" pitchFamily="18" charset="0"/>
                <a:cs typeface="Times New Roman" panose="02020603050405020304" pitchFamily="18" charset="0"/>
              </a:rPr>
              <a:t>Launched: </a:t>
            </a:r>
            <a:r>
              <a:rPr lang="en-GB" sz="2200" dirty="0">
                <a:latin typeface="Times New Roman" panose="02020603050405020304" pitchFamily="18" charset="0"/>
                <a:cs typeface="Times New Roman" panose="02020603050405020304" pitchFamily="18" charset="0"/>
              </a:rPr>
              <a:t>1986-2009</a:t>
            </a:r>
            <a:endParaRPr lang="en-IN" sz="2200" dirty="0">
              <a:solidFill>
                <a:srgbClr val="FF0000"/>
              </a:solidFill>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Type: </a:t>
            </a:r>
            <a:r>
              <a:rPr lang="en-IN" sz="2200" dirty="0">
                <a:latin typeface="Times New Roman" panose="02020603050405020304" pitchFamily="18" charset="0"/>
                <a:cs typeface="Times New Roman" panose="02020603050405020304" pitchFamily="18" charset="0"/>
              </a:rPr>
              <a:t>Passive OIR, Non Scanning-Imaging (</a:t>
            </a:r>
            <a:r>
              <a:rPr lang="en-IN" sz="2200" dirty="0" err="1">
                <a:latin typeface="Times New Roman" panose="02020603050405020304" pitchFamily="18" charset="0"/>
                <a:cs typeface="Times New Roman" panose="02020603050405020304" pitchFamily="18" charset="0"/>
              </a:rPr>
              <a:t>Pushbroom</a:t>
            </a:r>
            <a:r>
              <a:rPr lang="en-IN" sz="2200" dirty="0">
                <a:latin typeface="Times New Roman" panose="02020603050405020304" pitchFamily="18" charset="0"/>
                <a:cs typeface="Times New Roman" panose="02020603050405020304" pitchFamily="18" charset="0"/>
              </a:rPr>
              <a:t>)</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Spatial Resolution: </a:t>
            </a:r>
            <a:r>
              <a:rPr lang="fr-FR" sz="2200" dirty="0">
                <a:latin typeface="Times New Roman" panose="02020603050405020304" pitchFamily="18" charset="0"/>
                <a:cs typeface="Times New Roman" panose="02020603050405020304" pitchFamily="18" charset="0"/>
              </a:rPr>
              <a:t>10 m (Pan), 20 m (MS)</a:t>
            </a:r>
            <a:endParaRPr lang="fr-FR"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Spectral Resolution: </a:t>
            </a:r>
            <a:r>
              <a:rPr lang="en-IN" sz="2200" dirty="0">
                <a:solidFill>
                  <a:srgbClr val="FF0000"/>
                </a:solidFill>
                <a:latin typeface="Times New Roman" panose="02020603050405020304" pitchFamily="18" charset="0"/>
                <a:cs typeface="Times New Roman" panose="02020603050405020304" pitchFamily="18" charset="0"/>
              </a:rPr>
              <a:t>4 bands</a:t>
            </a:r>
          </a:p>
          <a:p>
            <a:r>
              <a:rPr lang="en-IN" sz="2200" b="1" dirty="0">
                <a:latin typeface="Times New Roman" panose="02020603050405020304" pitchFamily="18" charset="0"/>
                <a:cs typeface="Times New Roman" panose="02020603050405020304" pitchFamily="18" charset="0"/>
              </a:rPr>
              <a:t>Temporal: </a:t>
            </a:r>
            <a:r>
              <a:rPr lang="en-IN" sz="2200" dirty="0">
                <a:latin typeface="Times New Roman" panose="02020603050405020304" pitchFamily="18" charset="0"/>
                <a:cs typeface="Times New Roman" panose="02020603050405020304" pitchFamily="18" charset="0"/>
              </a:rPr>
              <a:t>26 days</a:t>
            </a:r>
          </a:p>
          <a:p>
            <a:r>
              <a:rPr lang="en-IN" sz="2200" b="1" dirty="0">
                <a:latin typeface="Times New Roman" panose="02020603050405020304" pitchFamily="18" charset="0"/>
                <a:cs typeface="Times New Roman" panose="02020603050405020304" pitchFamily="18" charset="0"/>
              </a:rPr>
              <a:t>Radiometric:</a:t>
            </a:r>
            <a:r>
              <a:rPr lang="en-IN" sz="2200" dirty="0">
                <a:latin typeface="Times New Roman" panose="02020603050405020304" pitchFamily="18" charset="0"/>
                <a:cs typeface="Times New Roman" panose="02020603050405020304" pitchFamily="18" charset="0"/>
              </a:rPr>
              <a:t> 8 bits</a:t>
            </a:r>
          </a:p>
          <a:p>
            <a:r>
              <a:rPr lang="en-IN" sz="2200" b="1" dirty="0">
                <a:latin typeface="Times New Roman" panose="02020603050405020304" pitchFamily="18" charset="0"/>
                <a:cs typeface="Times New Roman" panose="02020603050405020304" pitchFamily="18" charset="0"/>
              </a:rPr>
              <a:t>Swath:</a:t>
            </a:r>
            <a:r>
              <a:rPr lang="en-IN" sz="2200" dirty="0">
                <a:latin typeface="Times New Roman" panose="02020603050405020304" pitchFamily="18" charset="0"/>
                <a:cs typeface="Times New Roman" panose="02020603050405020304" pitchFamily="18" charset="0"/>
              </a:rPr>
              <a:t> 60-117 km (Combined)</a:t>
            </a:r>
          </a:p>
          <a:p>
            <a:r>
              <a:rPr lang="en-US" sz="2200" b="1" dirty="0" err="1">
                <a:latin typeface="Times New Roman" panose="02020603050405020304" pitchFamily="18" charset="0"/>
                <a:cs typeface="Times New Roman" panose="02020603050405020304" pitchFamily="18" charset="0"/>
              </a:rPr>
              <a:t>Advcance</a:t>
            </a:r>
            <a:r>
              <a:rPr lang="en-US" sz="22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Used for land use/land cover mapping, infrastructure management, precision forestry, and military/intelligence.</a:t>
            </a:r>
            <a:br>
              <a:rPr lang="en-IN" sz="2000"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8627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E7C6-5556-2269-82A8-DAAB22A6919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C55BCE8D-1AFB-49F1-D8A3-3D8AA48E15A2}"/>
              </a:ext>
            </a:extLst>
          </p:cNvPr>
          <p:cNvSpPr>
            <a:spLocks noGrp="1"/>
          </p:cNvSpPr>
          <p:nvPr>
            <p:ph type="ctrTitle"/>
          </p:nvPr>
        </p:nvSpPr>
        <p:spPr>
          <a:xfrm>
            <a:off x="738556" y="70338"/>
            <a:ext cx="11383106" cy="715108"/>
          </a:xfrm>
        </p:spPr>
        <p:txBody>
          <a:bodyPr/>
          <a:lstStyle/>
          <a:p>
            <a:r>
              <a:rPr lang="en-GB" sz="4000" b="1" dirty="0">
                <a:solidFill>
                  <a:srgbClr val="002060"/>
                </a:solidFill>
              </a:rPr>
              <a:t>HRV: High Resolution Visible</a:t>
            </a:r>
            <a:endParaRPr lang="en-IN" sz="4000" b="1" dirty="0">
              <a:solidFill>
                <a:srgbClr val="002060"/>
              </a:solidFill>
            </a:endParaRPr>
          </a:p>
        </p:txBody>
      </p:sp>
      <p:sp>
        <p:nvSpPr>
          <p:cNvPr id="29" name="Text Placeholder 6">
            <a:extLst>
              <a:ext uri="{FF2B5EF4-FFF2-40B4-BE49-F238E27FC236}">
                <a16:creationId xmlns:a16="http://schemas.microsoft.com/office/drawing/2014/main" id="{B48D330E-0053-9950-E00E-E04D7E8BDB3F}"/>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graphicFrame>
        <p:nvGraphicFramePr>
          <p:cNvPr id="6" name="Object 5">
            <a:extLst>
              <a:ext uri="{FF2B5EF4-FFF2-40B4-BE49-F238E27FC236}">
                <a16:creationId xmlns:a16="http://schemas.microsoft.com/office/drawing/2014/main" id="{712F047C-0759-C658-4529-AEDD09799C0E}"/>
              </a:ext>
            </a:extLst>
          </p:cNvPr>
          <p:cNvGraphicFramePr>
            <a:graphicFrameLocks noChangeAspect="1"/>
          </p:cNvGraphicFramePr>
          <p:nvPr>
            <p:extLst>
              <p:ext uri="{D42A27DB-BD31-4B8C-83A1-F6EECF244321}">
                <p14:modId xmlns:p14="http://schemas.microsoft.com/office/powerpoint/2010/main" val="1114339858"/>
              </p:ext>
            </p:extLst>
          </p:nvPr>
        </p:nvGraphicFramePr>
        <p:xfrm>
          <a:off x="3222772" y="1577762"/>
          <a:ext cx="5429242" cy="3702476"/>
        </p:xfrm>
        <a:graphic>
          <a:graphicData uri="http://schemas.openxmlformats.org/presentationml/2006/ole">
            <mc:AlternateContent xmlns:mc="http://schemas.openxmlformats.org/markup-compatibility/2006">
              <mc:Choice xmlns:v="urn:schemas-microsoft-com:vml" Requires="v">
                <p:oleObj name="Worksheet" r:id="rId2" imgW="2423373" imgH="922224" progId="Excel.Sheet.12">
                  <p:embed/>
                </p:oleObj>
              </mc:Choice>
              <mc:Fallback>
                <p:oleObj name="Worksheet" r:id="rId2" imgW="2423373" imgH="922224" progId="Excel.Sheet.12">
                  <p:embed/>
                  <p:pic>
                    <p:nvPicPr>
                      <p:cNvPr id="0" name=""/>
                      <p:cNvPicPr/>
                      <p:nvPr/>
                    </p:nvPicPr>
                    <p:blipFill>
                      <a:blip r:embed="rId3"/>
                      <a:stretch>
                        <a:fillRect/>
                      </a:stretch>
                    </p:blipFill>
                    <p:spPr>
                      <a:xfrm>
                        <a:off x="3222772" y="1577762"/>
                        <a:ext cx="5429242" cy="3702476"/>
                      </a:xfrm>
                      <a:prstGeom prst="rect">
                        <a:avLst/>
                      </a:prstGeom>
                    </p:spPr>
                  </p:pic>
                </p:oleObj>
              </mc:Fallback>
            </mc:AlternateContent>
          </a:graphicData>
        </a:graphic>
      </p:graphicFrame>
    </p:spTree>
    <p:extLst>
      <p:ext uri="{BB962C8B-B14F-4D97-AF65-F5344CB8AC3E}">
        <p14:creationId xmlns:p14="http://schemas.microsoft.com/office/powerpoint/2010/main" val="3023748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047D-8F22-CF91-F23F-2231E3BAA49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A61A33AA-3213-D9B6-0A9A-BF5F8805724A}"/>
              </a:ext>
            </a:extLst>
          </p:cNvPr>
          <p:cNvSpPr>
            <a:spLocks noGrp="1"/>
          </p:cNvSpPr>
          <p:nvPr>
            <p:ph type="ctrTitle"/>
          </p:nvPr>
        </p:nvSpPr>
        <p:spPr>
          <a:xfrm>
            <a:off x="738556" y="70338"/>
            <a:ext cx="11383106" cy="715108"/>
          </a:xfrm>
        </p:spPr>
        <p:txBody>
          <a:bodyPr/>
          <a:lstStyle/>
          <a:p>
            <a:r>
              <a:rPr lang="en-GB" sz="4000" b="1" dirty="0">
                <a:solidFill>
                  <a:srgbClr val="002060"/>
                </a:solidFill>
              </a:rPr>
              <a:t>HRVIR: High Resolution Visible and Infrared</a:t>
            </a:r>
            <a:endParaRPr lang="en-IN" sz="4000" b="1" dirty="0">
              <a:solidFill>
                <a:srgbClr val="002060"/>
              </a:solidFill>
            </a:endParaRPr>
          </a:p>
        </p:txBody>
      </p:sp>
      <p:sp>
        <p:nvSpPr>
          <p:cNvPr id="29" name="Text Placeholder 6">
            <a:extLst>
              <a:ext uri="{FF2B5EF4-FFF2-40B4-BE49-F238E27FC236}">
                <a16:creationId xmlns:a16="http://schemas.microsoft.com/office/drawing/2014/main" id="{7E0F917E-0ED4-BA62-F8D8-75973607D8A3}"/>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Content Placeholder 2">
            <a:extLst>
              <a:ext uri="{FF2B5EF4-FFF2-40B4-BE49-F238E27FC236}">
                <a16:creationId xmlns:a16="http://schemas.microsoft.com/office/drawing/2014/main" id="{2F561807-A258-478F-CED7-86C9EFEE6A02}"/>
              </a:ext>
            </a:extLst>
          </p:cNvPr>
          <p:cNvSpPr txBox="1">
            <a:spLocks/>
          </p:cNvSpPr>
          <p:nvPr/>
        </p:nvSpPr>
        <p:spPr>
          <a:xfrm>
            <a:off x="702134" y="1847700"/>
            <a:ext cx="4693727" cy="4391252"/>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latin typeface="Times New Roman" panose="02020603050405020304" pitchFamily="18" charset="0"/>
                <a:cs typeface="Times New Roman" panose="02020603050405020304" pitchFamily="18" charset="0"/>
              </a:rPr>
              <a:t>SPOT-4 Satellite</a:t>
            </a:r>
            <a:r>
              <a:rPr lang="en-GB" dirty="0">
                <a:latin typeface="Times New Roman" panose="02020603050405020304" pitchFamily="18" charset="0"/>
                <a:cs typeface="Times New Roman" panose="02020603050405020304" pitchFamily="18" charset="0"/>
              </a:rPr>
              <a:t> (France)</a:t>
            </a:r>
          </a:p>
          <a:p>
            <a:r>
              <a:rPr lang="en-GB" dirty="0">
                <a:latin typeface="Times New Roman" panose="02020603050405020304" pitchFamily="18" charset="0"/>
                <a:cs typeface="Times New Roman" panose="02020603050405020304" pitchFamily="18" charset="0"/>
              </a:rPr>
              <a:t>Launched: March 1998</a:t>
            </a:r>
          </a:p>
          <a:p>
            <a:r>
              <a:rPr lang="en-GB" dirty="0">
                <a:latin typeface="Times New Roman" panose="02020603050405020304" pitchFamily="18" charset="0"/>
                <a:cs typeface="Times New Roman" panose="02020603050405020304" pitchFamily="18" charset="0"/>
              </a:rPr>
              <a:t>Swath Width: 60 km</a:t>
            </a:r>
          </a:p>
          <a:p>
            <a:endParaRPr lang="en-GB" dirty="0">
              <a:latin typeface="Times New Roman" panose="02020603050405020304" pitchFamily="18" charset="0"/>
              <a:cs typeface="Times New Roman" panose="02020603050405020304" pitchFamily="18" charset="0"/>
            </a:endParaRPr>
          </a:p>
          <a:p>
            <a:r>
              <a:rPr lang="en-GB" sz="2600" b="1" dirty="0">
                <a:latin typeface="Times New Roman" panose="02020603050405020304" pitchFamily="18" charset="0"/>
                <a:cs typeface="Times New Roman" panose="02020603050405020304" pitchFamily="18" charset="0"/>
              </a:rPr>
              <a:t>Primary Uses</a:t>
            </a:r>
          </a:p>
          <a:p>
            <a:r>
              <a:rPr lang="en-GB" dirty="0">
                <a:latin typeface="Times New Roman" panose="02020603050405020304" pitchFamily="18" charset="0"/>
                <a:cs typeface="Times New Roman" panose="02020603050405020304" pitchFamily="18" charset="0"/>
              </a:rPr>
              <a:t>Vegetation discrimination and monitoring</a:t>
            </a:r>
          </a:p>
          <a:p>
            <a:r>
              <a:rPr lang="en-GB" dirty="0">
                <a:latin typeface="Times New Roman" panose="02020603050405020304" pitchFamily="18" charset="0"/>
                <a:cs typeface="Times New Roman" panose="02020603050405020304" pitchFamily="18" charset="0"/>
              </a:rPr>
              <a:t>Water body identification</a:t>
            </a:r>
          </a:p>
          <a:p>
            <a:r>
              <a:rPr lang="en-GB" dirty="0">
                <a:latin typeface="Times New Roman" panose="02020603050405020304" pitchFamily="18" charset="0"/>
                <a:cs typeface="Times New Roman" panose="02020603050405020304" pitchFamily="18" charset="0"/>
              </a:rPr>
              <a:t>Soil moisture assessment</a:t>
            </a:r>
          </a:p>
          <a:p>
            <a:endParaRPr lang="en-GB" dirty="0">
              <a:latin typeface="Times New Roman" panose="02020603050405020304" pitchFamily="18" charset="0"/>
              <a:cs typeface="Times New Roman" panose="02020603050405020304" pitchFamily="18" charset="0"/>
            </a:endParaRPr>
          </a:p>
          <a:p>
            <a:endParaRPr lang="en-GB" dirty="0"/>
          </a:p>
        </p:txBody>
      </p:sp>
      <p:sp>
        <p:nvSpPr>
          <p:cNvPr id="3" name="Content Placeholder 15">
            <a:extLst>
              <a:ext uri="{FF2B5EF4-FFF2-40B4-BE49-F238E27FC236}">
                <a16:creationId xmlns:a16="http://schemas.microsoft.com/office/drawing/2014/main" id="{099A0D77-8F63-9188-DB31-DDA0E6523399}"/>
              </a:ext>
            </a:extLst>
          </p:cNvPr>
          <p:cNvSpPr txBox="1">
            <a:spLocks/>
          </p:cNvSpPr>
          <p:nvPr/>
        </p:nvSpPr>
        <p:spPr>
          <a:xfrm>
            <a:off x="6153561" y="2120256"/>
            <a:ext cx="4693727" cy="3846139"/>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Spatial Resolution</a:t>
            </a:r>
          </a:p>
          <a:p>
            <a:r>
              <a:rPr lang="en-US" dirty="0">
                <a:latin typeface="Times New Roman" panose="02020603050405020304" pitchFamily="18" charset="0"/>
                <a:cs typeface="Times New Roman" panose="02020603050405020304" pitchFamily="18" charset="0"/>
              </a:rPr>
              <a:t>Multispectral: </a:t>
            </a:r>
            <a:r>
              <a:rPr lang="en-US" b="1" dirty="0">
                <a:latin typeface="Times New Roman" panose="02020603050405020304" pitchFamily="18" charset="0"/>
                <a:cs typeface="Times New Roman" panose="02020603050405020304" pitchFamily="18" charset="0"/>
              </a:rPr>
              <a:t>20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Panchromatic: </a:t>
            </a:r>
            <a:r>
              <a:rPr lang="en-US" b="1" dirty="0">
                <a:latin typeface="Times New Roman" panose="02020603050405020304" pitchFamily="18" charset="0"/>
                <a:cs typeface="Times New Roman" panose="02020603050405020304" pitchFamily="18" charset="0"/>
              </a:rPr>
              <a:t>10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Ideal for regional land use studies</a:t>
            </a:r>
          </a:p>
        </p:txBody>
      </p:sp>
      <p:sp>
        <p:nvSpPr>
          <p:cNvPr id="4" name="Text Placeholder 16">
            <a:extLst>
              <a:ext uri="{FF2B5EF4-FFF2-40B4-BE49-F238E27FC236}">
                <a16:creationId xmlns:a16="http://schemas.microsoft.com/office/drawing/2014/main" id="{70CEE59F-0A17-7AB3-4C6C-060DF688390C}"/>
              </a:ext>
            </a:extLst>
          </p:cNvPr>
          <p:cNvSpPr txBox="1">
            <a:spLocks/>
          </p:cNvSpPr>
          <p:nvPr/>
        </p:nvSpPr>
        <p:spPr>
          <a:xfrm>
            <a:off x="712920" y="1120502"/>
            <a:ext cx="4672156"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Platform Details</a:t>
            </a:r>
          </a:p>
        </p:txBody>
      </p:sp>
      <p:sp>
        <p:nvSpPr>
          <p:cNvPr id="5" name="Text Placeholder 6">
            <a:extLst>
              <a:ext uri="{FF2B5EF4-FFF2-40B4-BE49-F238E27FC236}">
                <a16:creationId xmlns:a16="http://schemas.microsoft.com/office/drawing/2014/main" id="{65D3F120-390A-3AD6-BD70-759552BE754C}"/>
              </a:ext>
            </a:extLst>
          </p:cNvPr>
          <p:cNvSpPr txBox="1">
            <a:spLocks/>
          </p:cNvSpPr>
          <p:nvPr/>
        </p:nvSpPr>
        <p:spPr>
          <a:xfrm>
            <a:off x="6153561" y="1270554"/>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Spatial Resolution</a:t>
            </a:r>
          </a:p>
        </p:txBody>
      </p:sp>
    </p:spTree>
    <p:extLst>
      <p:ext uri="{BB962C8B-B14F-4D97-AF65-F5344CB8AC3E}">
        <p14:creationId xmlns:p14="http://schemas.microsoft.com/office/powerpoint/2010/main" val="618762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A130C-C252-DF6B-E6EF-4761BBED0790}"/>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9641FF0-2756-1725-72EE-42FEBCBC2503}"/>
              </a:ext>
            </a:extLst>
          </p:cNvPr>
          <p:cNvSpPr>
            <a:spLocks noGrp="1"/>
          </p:cNvSpPr>
          <p:nvPr>
            <p:ph type="ctrTitle"/>
          </p:nvPr>
        </p:nvSpPr>
        <p:spPr>
          <a:xfrm>
            <a:off x="1060940" y="82061"/>
            <a:ext cx="10433535" cy="715108"/>
          </a:xfrm>
        </p:spPr>
        <p:txBody>
          <a:bodyPr/>
          <a:lstStyle/>
          <a:p>
            <a:r>
              <a:rPr lang="en-IN" sz="4400" b="1" dirty="0"/>
              <a:t>Spectral band configuration</a:t>
            </a:r>
            <a:endParaRPr lang="en-IN" sz="4400" b="1" dirty="0">
              <a:solidFill>
                <a:srgbClr val="002060"/>
              </a:solidFill>
            </a:endParaRPr>
          </a:p>
        </p:txBody>
      </p:sp>
      <p:sp>
        <p:nvSpPr>
          <p:cNvPr id="29" name="Text Placeholder 6">
            <a:extLst>
              <a:ext uri="{FF2B5EF4-FFF2-40B4-BE49-F238E27FC236}">
                <a16:creationId xmlns:a16="http://schemas.microsoft.com/office/drawing/2014/main" id="{DAE039F7-496B-ED91-14D3-AE2731800ED2}"/>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ext Placeholder 2">
            <a:extLst>
              <a:ext uri="{FF2B5EF4-FFF2-40B4-BE49-F238E27FC236}">
                <a16:creationId xmlns:a16="http://schemas.microsoft.com/office/drawing/2014/main" id="{2C44E74D-E989-7B47-8C67-242A05BE0684}"/>
              </a:ext>
            </a:extLst>
          </p:cNvPr>
          <p:cNvSpPr txBox="1">
            <a:spLocks/>
          </p:cNvSpPr>
          <p:nvPr/>
        </p:nvSpPr>
        <p:spPr>
          <a:xfrm>
            <a:off x="257198" y="1507066"/>
            <a:ext cx="11514673" cy="4849283"/>
          </a:xfrm>
          <a:prstGeom prst="rect">
            <a:avLst/>
          </a:prstGeom>
        </p:spPr>
        <p:txBody>
          <a:bodyPr>
            <a:no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latin typeface="Times New Roman" panose="02020603050405020304" pitchFamily="18" charset="0"/>
                <a:cs typeface="Times New Roman" panose="02020603050405020304" pitchFamily="18" charset="0"/>
              </a:rPr>
              <a:t>Band                          Wavelength(µm)                                            Application                                  </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B1 (Green)                    0.50–0.59                                   Vegetation health, water bodies</a:t>
            </a:r>
          </a:p>
          <a:p>
            <a:pPr algn="just"/>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B2 (Red)                       0.61–0.68        Vegetation discrimination, chlorophyll absorption</a:t>
            </a:r>
          </a:p>
          <a:p>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B3 (NIR)                       0.79–0.89                          Biomass estimation, vegetation vigour</a:t>
            </a:r>
          </a:p>
          <a:p>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SWIR                             1.58–1.75                               Soil moisture, geological mapping</a:t>
            </a:r>
          </a:p>
          <a:p>
            <a:pPr marL="0" indent="0">
              <a:buNone/>
            </a:pP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31152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9FF3A-E3F2-BD36-624A-6D69735A1F29}"/>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5886310-9959-4957-D3CA-EEE8771331FC}"/>
              </a:ext>
            </a:extLst>
          </p:cNvPr>
          <p:cNvSpPr>
            <a:spLocks noGrp="1"/>
          </p:cNvSpPr>
          <p:nvPr>
            <p:ph type="ctrTitle"/>
          </p:nvPr>
        </p:nvSpPr>
        <p:spPr>
          <a:xfrm>
            <a:off x="1060940" y="82061"/>
            <a:ext cx="10433535" cy="715108"/>
          </a:xfrm>
        </p:spPr>
        <p:txBody>
          <a:bodyPr/>
          <a:lstStyle/>
          <a:p>
            <a:r>
              <a:rPr lang="en-US" sz="4400" b="1" dirty="0"/>
              <a:t>NAOMI</a:t>
            </a:r>
            <a:endParaRPr lang="en-IN" sz="4400" b="1" dirty="0">
              <a:solidFill>
                <a:srgbClr val="002060"/>
              </a:solidFill>
            </a:endParaRPr>
          </a:p>
        </p:txBody>
      </p:sp>
      <p:sp>
        <p:nvSpPr>
          <p:cNvPr id="29" name="Text Placeholder 6">
            <a:extLst>
              <a:ext uri="{FF2B5EF4-FFF2-40B4-BE49-F238E27FC236}">
                <a16:creationId xmlns:a16="http://schemas.microsoft.com/office/drawing/2014/main" id="{D9730A4A-EDD6-2FC7-8216-0DB95A761318}"/>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4" name="Title 27">
            <a:extLst>
              <a:ext uri="{FF2B5EF4-FFF2-40B4-BE49-F238E27FC236}">
                <a16:creationId xmlns:a16="http://schemas.microsoft.com/office/drawing/2014/main" id="{B9C41504-368C-B0B2-C213-FAAD1C05F580}"/>
              </a:ext>
            </a:extLst>
          </p:cNvPr>
          <p:cNvSpPr txBox="1">
            <a:spLocks/>
          </p:cNvSpPr>
          <p:nvPr/>
        </p:nvSpPr>
        <p:spPr>
          <a:xfrm>
            <a:off x="1905001" y="526747"/>
            <a:ext cx="7831012"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IN" sz="2400" b="1" dirty="0"/>
              <a:t>NAOMI: New </a:t>
            </a:r>
            <a:r>
              <a:rPr lang="en-IN" sz="2400" b="1" dirty="0" err="1"/>
              <a:t>AstroSat</a:t>
            </a:r>
            <a:r>
              <a:rPr lang="en-IN" sz="2400" b="1" dirty="0"/>
              <a:t> Optical Modular Imager</a:t>
            </a:r>
            <a:endParaRPr lang="en-IN" sz="2400" b="1" dirty="0">
              <a:solidFill>
                <a:srgbClr val="002060"/>
              </a:solidFill>
            </a:endParaRPr>
          </a:p>
        </p:txBody>
      </p:sp>
      <p:sp>
        <p:nvSpPr>
          <p:cNvPr id="5" name="Text Placeholder 2">
            <a:extLst>
              <a:ext uri="{FF2B5EF4-FFF2-40B4-BE49-F238E27FC236}">
                <a16:creationId xmlns:a16="http://schemas.microsoft.com/office/drawing/2014/main" id="{E5D072E9-7B80-B3A8-30AD-609A7D190F0D}"/>
              </a:ext>
            </a:extLst>
          </p:cNvPr>
          <p:cNvSpPr txBox="1">
            <a:spLocks/>
          </p:cNvSpPr>
          <p:nvPr/>
        </p:nvSpPr>
        <p:spPr>
          <a:xfrm>
            <a:off x="392624" y="2184400"/>
            <a:ext cx="10115221" cy="4171949"/>
          </a:xfrm>
          <a:prstGeom prst="rect">
            <a:avLst/>
          </a:prstGeom>
        </p:spPr>
        <p:txBody>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NAOMI represents the latest advancement in high-resolution Earth observation, serving as the successor to ALOS AVNIR-2. Deployed on Japan's ALOS-3 platform in 2024, this push-broom scanner captures data in the visible and near-infrared spectrum with exceptional spatial detail.</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With its impressive 70 km swath width and uniform 3-meter resolution across all spectral bands, NAOMI excels at detailed coastal zone mapping, urban planning applications, and precision vegetation analysis.</a:t>
            </a:r>
          </a:p>
          <a:p>
            <a:endParaRPr lang="en-IN" dirty="0"/>
          </a:p>
        </p:txBody>
      </p:sp>
    </p:spTree>
    <p:extLst>
      <p:ext uri="{BB962C8B-B14F-4D97-AF65-F5344CB8AC3E}">
        <p14:creationId xmlns:p14="http://schemas.microsoft.com/office/powerpoint/2010/main" val="3177331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476C8-AC19-168F-727C-7B6304F9D34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40E7ADD-F60A-E724-B71E-428F0BD97C65}"/>
              </a:ext>
            </a:extLst>
          </p:cNvPr>
          <p:cNvSpPr>
            <a:spLocks noGrp="1"/>
          </p:cNvSpPr>
          <p:nvPr>
            <p:ph type="ctrTitle"/>
          </p:nvPr>
        </p:nvSpPr>
        <p:spPr>
          <a:xfrm>
            <a:off x="1060940" y="82061"/>
            <a:ext cx="10433535" cy="715108"/>
          </a:xfrm>
        </p:spPr>
        <p:txBody>
          <a:bodyPr/>
          <a:lstStyle/>
          <a:p>
            <a:r>
              <a:rPr lang="en-IN" sz="4400" b="1" dirty="0">
                <a:solidFill>
                  <a:srgbClr val="002060"/>
                </a:solidFill>
              </a:rPr>
              <a:t>SPECTRAL BAND CONFIGURATION </a:t>
            </a:r>
          </a:p>
        </p:txBody>
      </p:sp>
      <p:sp>
        <p:nvSpPr>
          <p:cNvPr id="29" name="Text Placeholder 6">
            <a:extLst>
              <a:ext uri="{FF2B5EF4-FFF2-40B4-BE49-F238E27FC236}">
                <a16:creationId xmlns:a16="http://schemas.microsoft.com/office/drawing/2014/main" id="{A3DEAFAB-0A65-6549-8C5D-03C489104E0C}"/>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1" name="Text Placeholder 8">
            <a:extLst>
              <a:ext uri="{FF2B5EF4-FFF2-40B4-BE49-F238E27FC236}">
                <a16:creationId xmlns:a16="http://schemas.microsoft.com/office/drawing/2014/main" id="{DFB0B460-DCB2-BF88-3210-37B9B9709C39}"/>
              </a:ext>
            </a:extLst>
          </p:cNvPr>
          <p:cNvSpPr txBox="1">
            <a:spLocks/>
          </p:cNvSpPr>
          <p:nvPr/>
        </p:nvSpPr>
        <p:spPr>
          <a:xfrm>
            <a:off x="1213862" y="2290582"/>
            <a:ext cx="4411704" cy="737098"/>
          </a:xfrm>
          <a:prstGeom prst="rect">
            <a:avLst/>
          </a:prstGeom>
        </p:spPr>
        <p:txBody>
          <a:bodyPr vert="horz" lIns="0" tIns="45720" rIns="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0.42–0.50 µm | 3 m resolution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Coastal water penetration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IN" sz="1400" b="0"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sp>
        <p:nvSpPr>
          <p:cNvPr id="22" name="Text Placeholder 9">
            <a:extLst>
              <a:ext uri="{FF2B5EF4-FFF2-40B4-BE49-F238E27FC236}">
                <a16:creationId xmlns:a16="http://schemas.microsoft.com/office/drawing/2014/main" id="{44C22E5B-8277-270A-AB0D-5AB60512C271}"/>
              </a:ext>
            </a:extLst>
          </p:cNvPr>
          <p:cNvSpPr txBox="1">
            <a:spLocks/>
          </p:cNvSpPr>
          <p:nvPr/>
        </p:nvSpPr>
        <p:spPr>
          <a:xfrm>
            <a:off x="1278806" y="2533313"/>
            <a:ext cx="4526538" cy="246858"/>
          </a:xfrm>
          <a:prstGeom prst="rect">
            <a:avLst/>
          </a:prstGeom>
        </p:spPr>
        <p:txBody>
          <a:bodyPr vert="horz" lIns="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cap="all" baseline="0">
                <a:solidFill>
                  <a:schemeClr val="tx1"/>
                </a:solidFill>
                <a:latin typeface="Speak Pro" panose="020B0504020101020102"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all" spc="0" normalizeH="0" baseline="0" noProof="0" dirty="0">
              <a:ln>
                <a:noFill/>
              </a:ln>
              <a:solidFill>
                <a:srgbClr val="000000"/>
              </a:solidFill>
              <a:effectLst/>
              <a:uLnTx/>
              <a:uFillTx/>
              <a:latin typeface="Speak Pro" panose="020B0504020101020102"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all"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Blue Band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1800" b="1" i="0" u="none" strike="noStrike" kern="1200" cap="all" spc="0" normalizeH="0" baseline="0" noProof="0" dirty="0">
              <a:ln>
                <a:noFill/>
              </a:ln>
              <a:solidFill>
                <a:srgbClr val="000000"/>
              </a:solidFill>
              <a:effectLst/>
              <a:uLnTx/>
              <a:uFillTx/>
              <a:latin typeface="Speak Pro" panose="020B0504020101020102" pitchFamily="34" charset="0"/>
              <a:ea typeface="+mn-ea"/>
              <a:cs typeface="+mn-cs"/>
            </a:endParaRPr>
          </a:p>
        </p:txBody>
      </p:sp>
      <p:sp>
        <p:nvSpPr>
          <p:cNvPr id="23" name="Text Placeholder 10">
            <a:extLst>
              <a:ext uri="{FF2B5EF4-FFF2-40B4-BE49-F238E27FC236}">
                <a16:creationId xmlns:a16="http://schemas.microsoft.com/office/drawing/2014/main" id="{BACFDB4A-5B36-3E11-5547-C32068F64FFB}"/>
              </a:ext>
            </a:extLst>
          </p:cNvPr>
          <p:cNvSpPr txBox="1">
            <a:spLocks/>
          </p:cNvSpPr>
          <p:nvPr/>
        </p:nvSpPr>
        <p:spPr>
          <a:xfrm>
            <a:off x="1213862" y="3807945"/>
            <a:ext cx="4411704" cy="365077"/>
          </a:xfrm>
          <a:prstGeom prst="rect">
            <a:avLst/>
          </a:prstGeom>
        </p:spPr>
        <p:txBody>
          <a:bodyPr vert="horz" lIns="0" tIns="45720" rIns="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0.52–0.60 µm | 3 m resolution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Vegetation peak reflectance</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IN" sz="1400" b="0"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sp>
        <p:nvSpPr>
          <p:cNvPr id="24" name="Text Placeholder 11">
            <a:extLst>
              <a:ext uri="{FF2B5EF4-FFF2-40B4-BE49-F238E27FC236}">
                <a16:creationId xmlns:a16="http://schemas.microsoft.com/office/drawing/2014/main" id="{E42BDC90-5565-EB57-F6C5-A296E0EC435F}"/>
              </a:ext>
            </a:extLst>
          </p:cNvPr>
          <p:cNvSpPr txBox="1">
            <a:spLocks/>
          </p:cNvSpPr>
          <p:nvPr/>
        </p:nvSpPr>
        <p:spPr>
          <a:xfrm>
            <a:off x="1213862" y="3429000"/>
            <a:ext cx="4411705" cy="444467"/>
          </a:xfrm>
          <a:prstGeom prst="rect">
            <a:avLst/>
          </a:prstGeom>
        </p:spPr>
        <p:txBody>
          <a:bodyPr vert="horz" lIns="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cap="all" baseline="0">
                <a:solidFill>
                  <a:schemeClr val="tx1"/>
                </a:solidFill>
                <a:latin typeface="Speak Pro" panose="020B0504020101020102"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all"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GREEN BAND</a:t>
            </a:r>
          </a:p>
        </p:txBody>
      </p:sp>
      <p:sp>
        <p:nvSpPr>
          <p:cNvPr id="25" name="Text Placeholder 12">
            <a:extLst>
              <a:ext uri="{FF2B5EF4-FFF2-40B4-BE49-F238E27FC236}">
                <a16:creationId xmlns:a16="http://schemas.microsoft.com/office/drawing/2014/main" id="{1992425F-62B5-98F0-2C2A-5166D8801B94}"/>
              </a:ext>
            </a:extLst>
          </p:cNvPr>
          <p:cNvSpPr txBox="1">
            <a:spLocks/>
          </p:cNvSpPr>
          <p:nvPr/>
        </p:nvSpPr>
        <p:spPr>
          <a:xfrm>
            <a:off x="1213862" y="5068710"/>
            <a:ext cx="4411704" cy="915530"/>
          </a:xfrm>
          <a:prstGeom prst="rect">
            <a:avLst/>
          </a:prstGeom>
        </p:spPr>
        <p:txBody>
          <a:bodyPr vert="horz" lIns="0" tIns="45720" rIns="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0.61–0.69 µm | 3 m resolution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Chlorophyll absorption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IN" sz="1400" b="0"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sp>
        <p:nvSpPr>
          <p:cNvPr id="26" name="Text Placeholder 13">
            <a:extLst>
              <a:ext uri="{FF2B5EF4-FFF2-40B4-BE49-F238E27FC236}">
                <a16:creationId xmlns:a16="http://schemas.microsoft.com/office/drawing/2014/main" id="{E4DCF20F-DD9C-C670-4CAC-371836C20491}"/>
              </a:ext>
            </a:extLst>
          </p:cNvPr>
          <p:cNvSpPr txBox="1">
            <a:spLocks/>
          </p:cNvSpPr>
          <p:nvPr/>
        </p:nvSpPr>
        <p:spPr>
          <a:xfrm>
            <a:off x="1213862" y="4821851"/>
            <a:ext cx="4411705" cy="312380"/>
          </a:xfrm>
          <a:prstGeom prst="rect">
            <a:avLst/>
          </a:prstGeom>
        </p:spPr>
        <p:txBody>
          <a:bodyPr vert="horz" lIns="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cap="all" baseline="0">
                <a:solidFill>
                  <a:schemeClr val="tx1"/>
                </a:solidFill>
                <a:latin typeface="Speak Pro" panose="020B0504020101020102"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all"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RED BAND</a:t>
            </a:r>
          </a:p>
        </p:txBody>
      </p:sp>
      <p:sp>
        <p:nvSpPr>
          <p:cNvPr id="27" name="Text Placeholder 14">
            <a:extLst>
              <a:ext uri="{FF2B5EF4-FFF2-40B4-BE49-F238E27FC236}">
                <a16:creationId xmlns:a16="http://schemas.microsoft.com/office/drawing/2014/main" id="{CB139115-78C3-5AB3-26E1-A9CAE8D24E18}"/>
              </a:ext>
            </a:extLst>
          </p:cNvPr>
          <p:cNvSpPr txBox="1">
            <a:spLocks/>
          </p:cNvSpPr>
          <p:nvPr/>
        </p:nvSpPr>
        <p:spPr>
          <a:xfrm>
            <a:off x="7358765" y="2574890"/>
            <a:ext cx="4411704" cy="452790"/>
          </a:xfrm>
          <a:prstGeom prst="rect">
            <a:avLst/>
          </a:prstGeom>
        </p:spPr>
        <p:txBody>
          <a:bodyPr vert="horz" lIns="0" tIns="45720" rIns="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900" kern="1200">
                <a:solidFill>
                  <a:schemeClr val="tx1"/>
                </a:solidFill>
                <a:latin typeface="Speak Pro" panose="020B0504020101020102"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0.76–0.89 µm | 3 m resolution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Biomass and structure</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IN" sz="1400" b="0"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sp>
        <p:nvSpPr>
          <p:cNvPr id="30" name="Text Placeholder 15">
            <a:extLst>
              <a:ext uri="{FF2B5EF4-FFF2-40B4-BE49-F238E27FC236}">
                <a16:creationId xmlns:a16="http://schemas.microsoft.com/office/drawing/2014/main" id="{406C269C-F5B4-5A4A-36F2-0DF27B10C2AD}"/>
              </a:ext>
            </a:extLst>
          </p:cNvPr>
          <p:cNvSpPr txBox="1">
            <a:spLocks/>
          </p:cNvSpPr>
          <p:nvPr/>
        </p:nvSpPr>
        <p:spPr>
          <a:xfrm>
            <a:off x="7358764" y="2328032"/>
            <a:ext cx="4411705" cy="469548"/>
          </a:xfrm>
          <a:prstGeom prst="rect">
            <a:avLst/>
          </a:prstGeom>
        </p:spPr>
        <p:txBody>
          <a:bodyPr vert="horz" lIns="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cap="all" baseline="0">
                <a:solidFill>
                  <a:schemeClr val="tx1"/>
                </a:solidFill>
                <a:latin typeface="Speak Pro" panose="020B0504020101020102"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all"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NIR Band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1800" b="1" i="0" u="none" strike="noStrike" kern="1200" cap="all" spc="0" normalizeH="0" baseline="0" noProof="0" dirty="0">
              <a:ln>
                <a:noFill/>
              </a:ln>
              <a:solidFill>
                <a:srgbClr val="000000"/>
              </a:solidFill>
              <a:effectLst/>
              <a:uLnTx/>
              <a:uFillTx/>
              <a:latin typeface="Speak Pro" panose="020B0504020101020102" pitchFamily="34" charset="0"/>
              <a:ea typeface="+mn-ea"/>
              <a:cs typeface="+mn-cs"/>
            </a:endParaRPr>
          </a:p>
        </p:txBody>
      </p:sp>
    </p:spTree>
    <p:extLst>
      <p:ext uri="{BB962C8B-B14F-4D97-AF65-F5344CB8AC3E}">
        <p14:creationId xmlns:p14="http://schemas.microsoft.com/office/powerpoint/2010/main" val="1223478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0DCAF-1366-68AB-2D35-298E0688B30F}"/>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E62F0F73-28A7-2A55-D38C-519294CCE5D6}"/>
              </a:ext>
            </a:extLst>
          </p:cNvPr>
          <p:cNvSpPr>
            <a:spLocks noGrp="1"/>
          </p:cNvSpPr>
          <p:nvPr>
            <p:ph type="ctrTitle"/>
          </p:nvPr>
        </p:nvSpPr>
        <p:spPr>
          <a:xfrm>
            <a:off x="1060940" y="82061"/>
            <a:ext cx="10433535" cy="715108"/>
          </a:xfrm>
        </p:spPr>
        <p:txBody>
          <a:bodyPr/>
          <a:lstStyle/>
          <a:p>
            <a:r>
              <a:rPr lang="en-US" sz="4400" b="1" dirty="0"/>
              <a:t>MODIS</a:t>
            </a:r>
            <a:endParaRPr lang="en-IN" sz="4400" b="1" dirty="0">
              <a:solidFill>
                <a:srgbClr val="002060"/>
              </a:solidFill>
            </a:endParaRPr>
          </a:p>
        </p:txBody>
      </p:sp>
      <p:sp>
        <p:nvSpPr>
          <p:cNvPr id="29" name="Text Placeholder 6">
            <a:extLst>
              <a:ext uri="{FF2B5EF4-FFF2-40B4-BE49-F238E27FC236}">
                <a16:creationId xmlns:a16="http://schemas.microsoft.com/office/drawing/2014/main" id="{9DD41F78-38A6-0850-BEF0-E3D8C1C43166}"/>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639B106A-66D6-A785-A44B-9BCEED764FB0}"/>
              </a:ext>
            </a:extLst>
          </p:cNvPr>
          <p:cNvSpPr txBox="1">
            <a:spLocks/>
          </p:cNvSpPr>
          <p:nvPr/>
        </p:nvSpPr>
        <p:spPr>
          <a:xfrm>
            <a:off x="1693985" y="797169"/>
            <a:ext cx="8578555" cy="45133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IN" sz="2400" b="1" dirty="0"/>
              <a:t>MODIS: Moderate Resolution Imaging Spectroradiometer</a:t>
            </a:r>
            <a:endParaRPr lang="en-IN" sz="2400" b="1" dirty="0">
              <a:solidFill>
                <a:srgbClr val="002060"/>
              </a:solidFill>
            </a:endParaRPr>
          </a:p>
        </p:txBody>
      </p:sp>
      <p:sp>
        <p:nvSpPr>
          <p:cNvPr id="3" name="Content Placeholder 2">
            <a:extLst>
              <a:ext uri="{FF2B5EF4-FFF2-40B4-BE49-F238E27FC236}">
                <a16:creationId xmlns:a16="http://schemas.microsoft.com/office/drawing/2014/main" id="{CB5D7556-78A6-5CE4-2229-5940AC4C27F7}"/>
              </a:ext>
            </a:extLst>
          </p:cNvPr>
          <p:cNvSpPr txBox="1">
            <a:spLocks/>
          </p:cNvSpPr>
          <p:nvPr/>
        </p:nvSpPr>
        <p:spPr>
          <a:xfrm>
            <a:off x="324611" y="1657073"/>
            <a:ext cx="4693727" cy="3846139"/>
          </a:xfrm>
          <a:prstGeom prst="rect">
            <a:avLst/>
          </a:prstGeom>
          <a:noFill/>
          <a:ln>
            <a:noFill/>
          </a:ln>
        </p:spPr>
        <p:txBody>
          <a:bodyPr vert="horz" wrap="square" lIns="91440" tIns="45720" rIns="91440" bIns="45720" anchor="t" anchorCtr="1" compatLnSpc="1">
            <a:no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b="1" dirty="0"/>
          </a:p>
          <a:p>
            <a:r>
              <a:rPr lang="en-GB" b="1" dirty="0">
                <a:latin typeface="Times New Roman" panose="02020603050405020304" pitchFamily="18" charset="0"/>
                <a:cs typeface="Times New Roman" panose="02020603050405020304" pitchFamily="18" charset="0"/>
              </a:rPr>
              <a:t>Terra Satellite</a:t>
            </a:r>
            <a:r>
              <a:rPr lang="en-GB" dirty="0">
                <a:latin typeface="Times New Roman" panose="02020603050405020304" pitchFamily="18" charset="0"/>
                <a:cs typeface="Times New Roman" panose="02020603050405020304" pitchFamily="18" charset="0"/>
              </a:rPr>
              <a:t> (1999)</a:t>
            </a:r>
          </a:p>
          <a:p>
            <a:r>
              <a:rPr lang="en-GB" b="1" dirty="0">
                <a:latin typeface="Times New Roman" panose="02020603050405020304" pitchFamily="18" charset="0"/>
                <a:cs typeface="Times New Roman" panose="02020603050405020304" pitchFamily="18" charset="0"/>
              </a:rPr>
              <a:t>Aqua Satellite</a:t>
            </a:r>
            <a:r>
              <a:rPr lang="en-GB" dirty="0">
                <a:latin typeface="Times New Roman" panose="02020603050405020304" pitchFamily="18" charset="0"/>
                <a:cs typeface="Times New Roman" panose="02020603050405020304" pitchFamily="18" charset="0"/>
              </a:rPr>
              <a:t> (2002)</a:t>
            </a:r>
          </a:p>
          <a:p>
            <a:r>
              <a:rPr lang="en-GB" dirty="0">
                <a:latin typeface="Times New Roman" panose="02020603050405020304" pitchFamily="18" charset="0"/>
                <a:cs typeface="Times New Roman" panose="02020603050405020304" pitchFamily="18" charset="0"/>
              </a:rPr>
              <a:t>NASA Earth Observing System</a:t>
            </a:r>
          </a:p>
          <a:p>
            <a:r>
              <a:rPr lang="en-GB" b="1" dirty="0">
                <a:latin typeface="Times New Roman" panose="02020603050405020304" pitchFamily="18" charset="0"/>
                <a:cs typeface="Times New Roman" panose="02020603050405020304" pitchFamily="18" charset="0"/>
              </a:rPr>
              <a:t>Resolution</a:t>
            </a:r>
          </a:p>
          <a:p>
            <a:r>
              <a:rPr lang="en-GB" dirty="0">
                <a:latin typeface="Times New Roman" panose="02020603050405020304" pitchFamily="18" charset="0"/>
                <a:cs typeface="Times New Roman" panose="02020603050405020304" pitchFamily="18" charset="0"/>
              </a:rPr>
              <a:t>250 m (Bands 1-2)</a:t>
            </a:r>
          </a:p>
          <a:p>
            <a:r>
              <a:rPr lang="en-GB" dirty="0">
                <a:latin typeface="Times New Roman" panose="02020603050405020304" pitchFamily="18" charset="0"/>
                <a:cs typeface="Times New Roman" panose="02020603050405020304" pitchFamily="18" charset="0"/>
              </a:rPr>
              <a:t>500 m (Bands 3-7)</a:t>
            </a:r>
          </a:p>
          <a:p>
            <a:r>
              <a:rPr lang="en-GB" dirty="0">
                <a:latin typeface="Times New Roman" panose="02020603050405020304" pitchFamily="18" charset="0"/>
                <a:cs typeface="Times New Roman" panose="02020603050405020304" pitchFamily="18" charset="0"/>
              </a:rPr>
              <a:t>1000 m (Bands 8-36)</a:t>
            </a:r>
          </a:p>
          <a:p>
            <a:endParaRPr lang="en-GB" dirty="0"/>
          </a:p>
          <a:p>
            <a:endParaRPr lang="en-GB" dirty="0"/>
          </a:p>
        </p:txBody>
      </p:sp>
      <p:sp>
        <p:nvSpPr>
          <p:cNvPr id="4" name="Content Placeholder 3">
            <a:extLst>
              <a:ext uri="{FF2B5EF4-FFF2-40B4-BE49-F238E27FC236}">
                <a16:creationId xmlns:a16="http://schemas.microsoft.com/office/drawing/2014/main" id="{111D00B2-E652-E32F-9C9A-90D61A5AF012}"/>
              </a:ext>
            </a:extLst>
          </p:cNvPr>
          <p:cNvSpPr txBox="1">
            <a:spLocks/>
          </p:cNvSpPr>
          <p:nvPr/>
        </p:nvSpPr>
        <p:spPr>
          <a:xfrm>
            <a:off x="5833265" y="2330824"/>
            <a:ext cx="4693727" cy="3846139"/>
          </a:xfrm>
          <a:prstGeom prst="rect">
            <a:avLst/>
          </a:prstGeom>
        </p:spPr>
        <p:txBody>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Swath: </a:t>
            </a:r>
            <a:r>
              <a:rPr lang="en-US" b="1" dirty="0">
                <a:latin typeface="Times New Roman" panose="02020603050405020304" pitchFamily="18" charset="0"/>
                <a:cs typeface="Times New Roman" panose="02020603050405020304" pitchFamily="18" charset="0"/>
              </a:rPr>
              <a:t>2,330 km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Global coverage every 1-2 days</a:t>
            </a:r>
          </a:p>
          <a:p>
            <a:r>
              <a:rPr lang="en-US" dirty="0">
                <a:latin typeface="Times New Roman" panose="02020603050405020304" pitchFamily="18" charset="0"/>
                <a:cs typeface="Times New Roman" panose="02020603050405020304" pitchFamily="18" charset="0"/>
              </a:rPr>
              <a:t>36 spectral bands</a:t>
            </a:r>
          </a:p>
          <a:p>
            <a:endParaRPr lang="en-IN" dirty="0"/>
          </a:p>
        </p:txBody>
      </p:sp>
      <p:sp>
        <p:nvSpPr>
          <p:cNvPr id="5" name="Text Placeholder 4">
            <a:extLst>
              <a:ext uri="{FF2B5EF4-FFF2-40B4-BE49-F238E27FC236}">
                <a16:creationId xmlns:a16="http://schemas.microsoft.com/office/drawing/2014/main" id="{74EB412A-A77B-8765-5F04-6A2FD58701D5}"/>
              </a:ext>
            </a:extLst>
          </p:cNvPr>
          <p:cNvSpPr txBox="1">
            <a:spLocks/>
          </p:cNvSpPr>
          <p:nvPr/>
        </p:nvSpPr>
        <p:spPr>
          <a:xfrm>
            <a:off x="392624" y="1361440"/>
            <a:ext cx="4672156" cy="969384"/>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PLATFORM</a:t>
            </a:r>
          </a:p>
        </p:txBody>
      </p:sp>
      <p:sp>
        <p:nvSpPr>
          <p:cNvPr id="6" name="Text Placeholder 5">
            <a:extLst>
              <a:ext uri="{FF2B5EF4-FFF2-40B4-BE49-F238E27FC236}">
                <a16:creationId xmlns:a16="http://schemas.microsoft.com/office/drawing/2014/main" id="{002A1B98-16D8-15E1-B385-636BA45C84EF}"/>
              </a:ext>
            </a:extLst>
          </p:cNvPr>
          <p:cNvSpPr txBox="1">
            <a:spLocks/>
          </p:cNvSpPr>
          <p:nvPr/>
        </p:nvSpPr>
        <p:spPr>
          <a:xfrm>
            <a:off x="5833265" y="1468740"/>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COVERAGE</a:t>
            </a:r>
          </a:p>
        </p:txBody>
      </p:sp>
    </p:spTree>
    <p:extLst>
      <p:ext uri="{BB962C8B-B14F-4D97-AF65-F5344CB8AC3E}">
        <p14:creationId xmlns:p14="http://schemas.microsoft.com/office/powerpoint/2010/main" val="4112251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FAB2-C378-B5E4-223A-15A66A74CD39}"/>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4DF354A4-4135-BD63-D21A-08BBEB5BE4DC}"/>
              </a:ext>
            </a:extLst>
          </p:cNvPr>
          <p:cNvSpPr>
            <a:spLocks noGrp="1"/>
          </p:cNvSpPr>
          <p:nvPr>
            <p:ph type="ctrTitle"/>
          </p:nvPr>
        </p:nvSpPr>
        <p:spPr>
          <a:xfrm>
            <a:off x="1060940" y="82061"/>
            <a:ext cx="10433535" cy="715108"/>
          </a:xfrm>
        </p:spPr>
        <p:txBody>
          <a:bodyPr/>
          <a:lstStyle/>
          <a:p>
            <a:r>
              <a:rPr lang="en-US" sz="4400" b="1" dirty="0"/>
              <a:t>MODIS</a:t>
            </a:r>
            <a:endParaRPr lang="en-IN" sz="4400" b="1" dirty="0">
              <a:solidFill>
                <a:srgbClr val="002060"/>
              </a:solidFill>
            </a:endParaRPr>
          </a:p>
        </p:txBody>
      </p:sp>
      <p:sp>
        <p:nvSpPr>
          <p:cNvPr id="9" name="Title 2">
            <a:extLst>
              <a:ext uri="{FF2B5EF4-FFF2-40B4-BE49-F238E27FC236}">
                <a16:creationId xmlns:a16="http://schemas.microsoft.com/office/drawing/2014/main" id="{954B0B9F-95DC-2E5C-E928-F2CE18C88B06}"/>
              </a:ext>
            </a:extLst>
          </p:cNvPr>
          <p:cNvSpPr txBox="1">
            <a:spLocks/>
          </p:cNvSpPr>
          <p:nvPr/>
        </p:nvSpPr>
        <p:spPr>
          <a:xfrm>
            <a:off x="344130" y="937846"/>
            <a:ext cx="10240740" cy="468828"/>
          </a:xfrm>
          <a:prstGeom prst="rect">
            <a:avLst/>
          </a:prstGeom>
        </p:spPr>
        <p:txBody>
          <a:bodyPr vert="horz" lIns="0" tIns="45720" rIns="0" bIns="45720" rtlCol="0" anchor="b">
            <a:noAutofit/>
          </a:bodyPr>
          <a:lstStyle>
            <a:lvl1pPr algn="l" defTabSz="914400" rtl="0" eaLnBrk="1" latinLnBrk="0" hangingPunct="1">
              <a:lnSpc>
                <a:spcPct val="90000"/>
              </a:lnSpc>
              <a:spcBef>
                <a:spcPct val="0"/>
              </a:spcBef>
              <a:buNone/>
              <a:defRPr sz="4500" b="0" i="0" kern="1200" cap="all" baseline="0">
                <a:solidFill>
                  <a:schemeClr val="accent4">
                    <a:lumMod val="75000"/>
                  </a:schemeClr>
                </a:solidFill>
                <a:latin typeface="Sagona ExtraLight" panose="020203030505050202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400" b="1" i="0" u="none" strike="noStrike" kern="1200" cap="all" spc="0" normalizeH="0" baseline="0" noProof="0" dirty="0">
                <a:ln>
                  <a:noFill/>
                </a:ln>
                <a:solidFill>
                  <a:srgbClr val="045FC4">
                    <a:lumMod val="75000"/>
                  </a:srgbClr>
                </a:solidFill>
                <a:effectLst/>
                <a:uLnTx/>
                <a:uFillTx/>
                <a:latin typeface="Times New Roman" panose="02020603050405020304" pitchFamily="18" charset="0"/>
                <a:cs typeface="Times New Roman" panose="02020603050405020304" pitchFamily="18" charset="0"/>
              </a:rPr>
              <a:t>APPLICATION</a:t>
            </a:r>
          </a:p>
        </p:txBody>
      </p:sp>
      <p:sp>
        <p:nvSpPr>
          <p:cNvPr id="10" name="Text Placeholder 3">
            <a:extLst>
              <a:ext uri="{FF2B5EF4-FFF2-40B4-BE49-F238E27FC236}">
                <a16:creationId xmlns:a16="http://schemas.microsoft.com/office/drawing/2014/main" id="{0315D394-ED9B-258E-4FA7-441659FA8D53}"/>
              </a:ext>
            </a:extLst>
          </p:cNvPr>
          <p:cNvSpPr txBox="1">
            <a:spLocks/>
          </p:cNvSpPr>
          <p:nvPr/>
        </p:nvSpPr>
        <p:spPr>
          <a:xfrm>
            <a:off x="206477" y="1547351"/>
            <a:ext cx="11444749" cy="5011289"/>
          </a:xfrm>
          <a:prstGeom prst="rect">
            <a:avLst/>
          </a:prstGeom>
        </p:spPr>
        <p:txBody>
          <a:bodyPr vert="horz" lIns="0" tIns="45720" rIns="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mj-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j-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j-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j-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Vegetation Monitoring</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NDVI and EVI products track global vegetation dynamics and phenology patterns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Ocean Color</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Chlorophyll concentration and phytoplankton distribution in marine ecosystems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Land Surface Temperature</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Day and night LST measurements for climate and urban heat island studies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3C3939"/>
                </a:solidFill>
                <a:effectLst/>
                <a:uLnTx/>
                <a:uFillTx/>
                <a:latin typeface="Times New Roman" panose="02020603050405020304" pitchFamily="18" charset="0"/>
                <a:ea typeface="Libre Baskerville" pitchFamily="34" charset="-122"/>
                <a:cs typeface="Times New Roman" panose="02020603050405020304" pitchFamily="18" charset="0"/>
              </a:rPr>
              <a:t>Atmospheric Science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3C3939"/>
                </a:solidFill>
                <a:effectLst/>
                <a:uLnTx/>
                <a:uFillTx/>
                <a:latin typeface="Times New Roman" panose="02020603050405020304" pitchFamily="18" charset="0"/>
                <a:ea typeface="Roboto" pitchFamily="34" charset="-122"/>
                <a:cs typeface="Times New Roman" panose="02020603050405020304" pitchFamily="18" charset="0"/>
              </a:rPr>
              <a:t>Cloud properties, aerosols, and atmospheric correction parameters</a:t>
            </a:r>
            <a:endPar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endParaRPr kumimoji="0" lang="en-US" sz="2400" b="0" i="0" u="none" strike="noStrike" kern="1200" cap="none" spc="0" normalizeH="0" baseline="0" noProof="0" dirty="0">
              <a:ln>
                <a:noFill/>
              </a:ln>
              <a:solidFill>
                <a:srgbClr val="000000"/>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endParaRPr kumimoji="0" lang="en-US" sz="2400" b="0" i="0" u="none" strike="noStrike" kern="1200" cap="none" spc="0" normalizeH="0" baseline="0" noProof="0" dirty="0">
              <a:ln>
                <a:noFill/>
              </a:ln>
              <a:solidFill>
                <a:srgbClr val="000000"/>
              </a:solidFill>
              <a:effectLst/>
              <a:uLnTx/>
              <a:uFillTx/>
              <a:latin typeface="Calibri Light" panose="020F0302020204030204"/>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496152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5A7DB-70DE-E268-E0BB-84B4A227ED49}"/>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4145B0F-27C1-2FCB-5B7C-DDA4BEA76254}"/>
              </a:ext>
            </a:extLst>
          </p:cNvPr>
          <p:cNvSpPr>
            <a:spLocks noGrp="1"/>
          </p:cNvSpPr>
          <p:nvPr>
            <p:ph type="ctrTitle"/>
          </p:nvPr>
        </p:nvSpPr>
        <p:spPr>
          <a:xfrm>
            <a:off x="1060940" y="82061"/>
            <a:ext cx="10433535" cy="715108"/>
          </a:xfrm>
        </p:spPr>
        <p:txBody>
          <a:bodyPr/>
          <a:lstStyle/>
          <a:p>
            <a:r>
              <a:rPr lang="en-IN" sz="4400" b="1" dirty="0"/>
              <a:t>ASTER</a:t>
            </a:r>
            <a:endParaRPr lang="en-IN" sz="4400" b="1" dirty="0">
              <a:solidFill>
                <a:srgbClr val="002060"/>
              </a:solidFill>
            </a:endParaRPr>
          </a:p>
        </p:txBody>
      </p:sp>
      <p:sp>
        <p:nvSpPr>
          <p:cNvPr id="29" name="Text Placeholder 6">
            <a:extLst>
              <a:ext uri="{FF2B5EF4-FFF2-40B4-BE49-F238E27FC236}">
                <a16:creationId xmlns:a16="http://schemas.microsoft.com/office/drawing/2014/main" id="{CD2E848B-89B7-726D-DCDF-460C6F03C78A}"/>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DEE36CE1-E323-490A-21D6-70E9C4E17085}"/>
              </a:ext>
            </a:extLst>
          </p:cNvPr>
          <p:cNvSpPr txBox="1"/>
          <p:nvPr/>
        </p:nvSpPr>
        <p:spPr>
          <a:xfrm>
            <a:off x="2146808" y="797169"/>
            <a:ext cx="7590692" cy="830997"/>
          </a:xfrm>
          <a:prstGeom prst="rect">
            <a:avLst/>
          </a:prstGeom>
          <a:noFill/>
        </p:spPr>
        <p:txBody>
          <a:bodyPr wrap="square">
            <a:spAutoFit/>
          </a:bodyPr>
          <a:lstStyle/>
          <a:p>
            <a:r>
              <a:rPr lang="en-GB" sz="2400" b="1" dirty="0">
                <a:latin typeface="Times New Roman" panose="02020603050405020304" pitchFamily="18" charset="0"/>
                <a:cs typeface="Times New Roman" panose="02020603050405020304" pitchFamily="18" charset="0"/>
              </a:rPr>
              <a:t>ASTER</a:t>
            </a:r>
            <a:r>
              <a:rPr lang="en-GB" sz="2400" dirty="0">
                <a:latin typeface="Times New Roman" panose="02020603050405020304" pitchFamily="18" charset="0"/>
                <a:cs typeface="Times New Roman" panose="02020603050405020304" pitchFamily="18" charset="0"/>
              </a:rPr>
              <a:t>: Advanced Spaceborne Thermal Emission and Reflection Radiometer</a:t>
            </a:r>
            <a:endParaRPr lang="en-IN" sz="2400" dirty="0">
              <a:latin typeface="Times New Roman" panose="02020603050405020304" pitchFamily="18" charset="0"/>
              <a:cs typeface="Times New Roman" panose="02020603050405020304" pitchFamily="18" charset="0"/>
            </a:endParaRPr>
          </a:p>
        </p:txBody>
      </p:sp>
      <p:sp>
        <p:nvSpPr>
          <p:cNvPr id="6" name="Text Placeholder 2">
            <a:extLst>
              <a:ext uri="{FF2B5EF4-FFF2-40B4-BE49-F238E27FC236}">
                <a16:creationId xmlns:a16="http://schemas.microsoft.com/office/drawing/2014/main" id="{E90BD6A0-B9C8-353A-4AA1-28DAFF16C7E1}"/>
              </a:ext>
            </a:extLst>
          </p:cNvPr>
          <p:cNvSpPr txBox="1">
            <a:spLocks/>
          </p:cNvSpPr>
          <p:nvPr/>
        </p:nvSpPr>
        <p:spPr>
          <a:xfrm>
            <a:off x="179522" y="1881609"/>
            <a:ext cx="10871936" cy="4806406"/>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ASTER (Advanced Spaceborne Thermal Emission and Reflection Radiometer) is a high spatial resolution imaging instrument aboard NASA's Terra satellite, launched in December 1999 as part of NASA's Earth Observing System (EOS</a:t>
            </a:r>
            <a:r>
              <a:rPr lang="en-US">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provides detailed Earth imagery across 14 spectral bands spanning visible, near-infrared, shortwave infrared, and thermal infrared wavelengths, ranging from 0.52 µm to 11.65 µm. ASTER enables the creation of high-resolution maps of surface temperature, emissivity, and reflectance, and adds stereo viewing capability for Digital Elevation Model (DEM) generation.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330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295C0-9C75-338D-0C5B-F1AA25564E07}"/>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F99EF74-C0FA-DF47-6929-DC15D25D0C8F}"/>
              </a:ext>
            </a:extLst>
          </p:cNvPr>
          <p:cNvSpPr>
            <a:spLocks noGrp="1"/>
          </p:cNvSpPr>
          <p:nvPr>
            <p:ph type="ctrTitle"/>
          </p:nvPr>
        </p:nvSpPr>
        <p:spPr>
          <a:xfrm>
            <a:off x="1060940" y="82061"/>
            <a:ext cx="10433535" cy="715108"/>
          </a:xfrm>
        </p:spPr>
        <p:txBody>
          <a:bodyPr/>
          <a:lstStyle/>
          <a:p>
            <a:r>
              <a:rPr lang="en-IN" sz="4400" b="1" dirty="0"/>
              <a:t>ASTER</a:t>
            </a:r>
            <a:endParaRPr lang="en-IN" sz="4400" b="1" dirty="0">
              <a:solidFill>
                <a:srgbClr val="002060"/>
              </a:solidFill>
            </a:endParaRPr>
          </a:p>
        </p:txBody>
      </p:sp>
      <p:sp>
        <p:nvSpPr>
          <p:cNvPr id="29" name="Text Placeholder 6">
            <a:extLst>
              <a:ext uri="{FF2B5EF4-FFF2-40B4-BE49-F238E27FC236}">
                <a16:creationId xmlns:a16="http://schemas.microsoft.com/office/drawing/2014/main" id="{4FDCAE18-AFF3-B74A-A49D-A18647633011}"/>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B9D885ED-C44C-CCF7-F6DC-9DDFF6CE57EB}"/>
              </a:ext>
            </a:extLst>
          </p:cNvPr>
          <p:cNvSpPr txBox="1"/>
          <p:nvPr/>
        </p:nvSpPr>
        <p:spPr>
          <a:xfrm>
            <a:off x="2146807" y="797169"/>
            <a:ext cx="7993235" cy="384721"/>
          </a:xfrm>
          <a:prstGeom prst="rect">
            <a:avLst/>
          </a:prstGeom>
          <a:noFill/>
        </p:spPr>
        <p:txBody>
          <a:bodyPr wrap="square">
            <a:spAutoFit/>
          </a:bodyPr>
          <a:lstStyle/>
          <a:p>
            <a:r>
              <a:rPr lang="en-GB" sz="1900" b="1" dirty="0">
                <a:latin typeface="Times New Roman" panose="02020603050405020304" pitchFamily="18" charset="0"/>
                <a:cs typeface="Times New Roman" panose="02020603050405020304" pitchFamily="18" charset="0"/>
              </a:rPr>
              <a:t>ASTER</a:t>
            </a:r>
            <a:r>
              <a:rPr lang="en-GB" sz="1900" dirty="0">
                <a:latin typeface="Times New Roman" panose="02020603050405020304" pitchFamily="18" charset="0"/>
                <a:cs typeface="Times New Roman" panose="02020603050405020304" pitchFamily="18" charset="0"/>
              </a:rPr>
              <a:t>: Advanced Spaceborne Thermal Emission and Reflection Radiometer</a:t>
            </a:r>
            <a:endParaRPr lang="en-IN" sz="19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C81C098-E0C0-43E1-DBA2-F50739638E69}"/>
              </a:ext>
            </a:extLst>
          </p:cNvPr>
          <p:cNvSpPr txBox="1"/>
          <p:nvPr/>
        </p:nvSpPr>
        <p:spPr>
          <a:xfrm>
            <a:off x="303434" y="1315485"/>
            <a:ext cx="6107722" cy="584775"/>
          </a:xfrm>
          <a:prstGeom prst="rect">
            <a:avLst/>
          </a:prstGeom>
          <a:noFill/>
        </p:spPr>
        <p:txBody>
          <a:bodyPr wrap="square">
            <a:spAutoFit/>
          </a:bodyPr>
          <a:lstStyle/>
          <a:p>
            <a:r>
              <a:rPr lang="en-IN" sz="3200" dirty="0">
                <a:solidFill>
                  <a:schemeClr val="accent1"/>
                </a:solidFill>
              </a:rPr>
              <a:t>SPECTRAL BAND CONFIGURATION</a:t>
            </a:r>
          </a:p>
        </p:txBody>
      </p:sp>
      <p:sp>
        <p:nvSpPr>
          <p:cNvPr id="4" name="Content Placeholder 2">
            <a:extLst>
              <a:ext uri="{FF2B5EF4-FFF2-40B4-BE49-F238E27FC236}">
                <a16:creationId xmlns:a16="http://schemas.microsoft.com/office/drawing/2014/main" id="{25173BAD-AD00-B72E-7333-909CE64B15EB}"/>
              </a:ext>
            </a:extLst>
          </p:cNvPr>
          <p:cNvSpPr txBox="1">
            <a:spLocks/>
          </p:cNvSpPr>
          <p:nvPr/>
        </p:nvSpPr>
        <p:spPr>
          <a:xfrm>
            <a:off x="392623" y="2793891"/>
            <a:ext cx="5181600" cy="4527176"/>
          </a:xfrm>
          <a:prstGeom prst="rect">
            <a:avLst/>
          </a:prstGeom>
          <a:noFill/>
          <a:ln>
            <a:noFill/>
          </a:ln>
        </p:spPr>
        <p:txBody>
          <a:bodyPr vert="horz" wrap="square" lIns="91440" tIns="45720" rIns="91440" bIns="45720" anchor="t" anchorCtr="1" compatLnSpc="1">
            <a:no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a:latin typeface="Times New Roman" panose="02020603050405020304" pitchFamily="18" charset="0"/>
                <a:cs typeface="Times New Roman" panose="02020603050405020304" pitchFamily="18" charset="0"/>
              </a:rPr>
              <a:t>3 bands</a:t>
            </a:r>
            <a:r>
              <a:rPr lang="en-IN" sz="2000">
                <a:latin typeface="Times New Roman" panose="02020603050405020304" pitchFamily="18" charset="0"/>
                <a:cs typeface="Times New Roman" panose="02020603050405020304" pitchFamily="18" charset="0"/>
              </a:rPr>
              <a:t> | 0.52–0.86 µm</a:t>
            </a:r>
          </a:p>
          <a:p>
            <a:r>
              <a:rPr lang="en-IN" sz="2000">
                <a:latin typeface="Times New Roman" panose="02020603050405020304" pitchFamily="18" charset="0"/>
                <a:cs typeface="Times New Roman" panose="02020603050405020304" pitchFamily="18" charset="0"/>
              </a:rPr>
              <a:t>Resolution: 15 meters</a:t>
            </a:r>
          </a:p>
          <a:p>
            <a:r>
              <a:rPr lang="en-IN" sz="2000">
                <a:latin typeface="Times New Roman" panose="02020603050405020304" pitchFamily="18" charset="0"/>
                <a:cs typeface="Times New Roman" panose="02020603050405020304" pitchFamily="18" charset="0"/>
              </a:rPr>
              <a:t>Surface reflectance, stereo DEM generation</a:t>
            </a:r>
          </a:p>
          <a:p>
            <a:endParaRPr lang="en-IN"/>
          </a:p>
          <a:p>
            <a:endParaRPr lang="en-IN"/>
          </a:p>
          <a:p>
            <a:r>
              <a:rPr lang="en-IN" b="1">
                <a:latin typeface="Times New Roman" panose="02020603050405020304" pitchFamily="18" charset="0"/>
                <a:cs typeface="Times New Roman" panose="02020603050405020304" pitchFamily="18" charset="0"/>
              </a:rPr>
              <a:t>TIR Subsystem</a:t>
            </a:r>
          </a:p>
          <a:p>
            <a:r>
              <a:rPr lang="en-IN" sz="2000" b="1"/>
              <a:t>5 bands</a:t>
            </a:r>
            <a:r>
              <a:rPr lang="en-IN" sz="2000"/>
              <a:t> | 8.125–11.65 µm</a:t>
            </a:r>
          </a:p>
          <a:p>
            <a:r>
              <a:rPr lang="en-IN" sz="2000"/>
              <a:t>Resolution: 90 meters</a:t>
            </a:r>
          </a:p>
          <a:p>
            <a:r>
              <a:rPr lang="en-IN" sz="2000"/>
              <a:t>Land surface temperature, volcanic activity</a:t>
            </a:r>
          </a:p>
          <a:p>
            <a:endParaRPr lang="en-IN" sz="2000"/>
          </a:p>
          <a:p>
            <a:endParaRPr lang="en-IN"/>
          </a:p>
          <a:p>
            <a:endParaRPr lang="en-IN" dirty="0"/>
          </a:p>
        </p:txBody>
      </p:sp>
      <p:sp>
        <p:nvSpPr>
          <p:cNvPr id="7" name="Content Placeholder 3">
            <a:extLst>
              <a:ext uri="{FF2B5EF4-FFF2-40B4-BE49-F238E27FC236}">
                <a16:creationId xmlns:a16="http://schemas.microsoft.com/office/drawing/2014/main" id="{EE2D6FA4-998A-E952-F668-352C57489F2F}"/>
              </a:ext>
            </a:extLst>
          </p:cNvPr>
          <p:cNvSpPr txBox="1">
            <a:spLocks/>
          </p:cNvSpPr>
          <p:nvPr/>
        </p:nvSpPr>
        <p:spPr>
          <a:xfrm>
            <a:off x="6172200" y="3333153"/>
            <a:ext cx="5181600" cy="3846139"/>
          </a:xfrm>
          <a:prstGeom prst="rect">
            <a:avLst/>
          </a:prstGeom>
        </p:spPr>
        <p:txBody>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6 bands</a:t>
            </a:r>
            <a:r>
              <a:rPr lang="en-US" sz="2000" dirty="0">
                <a:latin typeface="Times New Roman" panose="02020603050405020304" pitchFamily="18" charset="0"/>
                <a:cs typeface="Times New Roman" panose="02020603050405020304" pitchFamily="18" charset="0"/>
              </a:rPr>
              <a:t> | 1.6–2.43 µm</a:t>
            </a:r>
          </a:p>
          <a:p>
            <a:r>
              <a:rPr lang="en-US" sz="2000" dirty="0">
                <a:latin typeface="Times New Roman" panose="02020603050405020304" pitchFamily="18" charset="0"/>
                <a:cs typeface="Times New Roman" panose="02020603050405020304" pitchFamily="18" charset="0"/>
              </a:rPr>
              <a:t>Resolution: 30 meters</a:t>
            </a:r>
          </a:p>
          <a:p>
            <a:r>
              <a:rPr lang="en-US" sz="2000" dirty="0">
                <a:latin typeface="Times New Roman" panose="02020603050405020304" pitchFamily="18" charset="0"/>
                <a:cs typeface="Times New Roman" panose="02020603050405020304" pitchFamily="18" charset="0"/>
              </a:rPr>
              <a:t>Mineral identification, lithological mapping</a:t>
            </a:r>
          </a:p>
          <a:p>
            <a:endParaRPr lang="en-IN" dirty="0"/>
          </a:p>
        </p:txBody>
      </p:sp>
      <p:sp>
        <p:nvSpPr>
          <p:cNvPr id="8" name="Text Placeholder 4">
            <a:extLst>
              <a:ext uri="{FF2B5EF4-FFF2-40B4-BE49-F238E27FC236}">
                <a16:creationId xmlns:a16="http://schemas.microsoft.com/office/drawing/2014/main" id="{1FFA4E0A-BA39-66D1-E60C-2DB041D500C9}"/>
              </a:ext>
            </a:extLst>
          </p:cNvPr>
          <p:cNvSpPr txBox="1">
            <a:spLocks/>
          </p:cNvSpPr>
          <p:nvPr/>
        </p:nvSpPr>
        <p:spPr>
          <a:xfrm>
            <a:off x="392623" y="2342667"/>
            <a:ext cx="5157787" cy="73152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VNIR Subsystem</a:t>
            </a:r>
          </a:p>
          <a:p>
            <a:endParaRPr lang="en-IN" dirty="0"/>
          </a:p>
        </p:txBody>
      </p:sp>
      <p:sp>
        <p:nvSpPr>
          <p:cNvPr id="9" name="Text Placeholder 5">
            <a:extLst>
              <a:ext uri="{FF2B5EF4-FFF2-40B4-BE49-F238E27FC236}">
                <a16:creationId xmlns:a16="http://schemas.microsoft.com/office/drawing/2014/main" id="{8C31A28D-5EE0-EA36-0A9A-10F1F08C397D}"/>
              </a:ext>
            </a:extLst>
          </p:cNvPr>
          <p:cNvSpPr txBox="1">
            <a:spLocks/>
          </p:cNvSpPr>
          <p:nvPr/>
        </p:nvSpPr>
        <p:spPr>
          <a:xfrm>
            <a:off x="6224954" y="2875947"/>
            <a:ext cx="5183188" cy="1002552"/>
          </a:xfrm>
          <a:prstGeom prst="rect">
            <a:avLst/>
          </a:prstGeom>
        </p:spPr>
        <p:txBody>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SWIR Subsystem</a:t>
            </a:r>
          </a:p>
          <a:p>
            <a:endParaRPr lang="en-IN" dirty="0"/>
          </a:p>
        </p:txBody>
      </p:sp>
    </p:spTree>
    <p:extLst>
      <p:ext uri="{BB962C8B-B14F-4D97-AF65-F5344CB8AC3E}">
        <p14:creationId xmlns:p14="http://schemas.microsoft.com/office/powerpoint/2010/main" val="3463994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4705B-0779-40F4-7275-0F9F48ED1E78}"/>
              </a:ext>
            </a:extLst>
          </p:cNvPr>
          <p:cNvSpPr>
            <a:spLocks noGrp="1"/>
          </p:cNvSpPr>
          <p:nvPr>
            <p:ph type="title"/>
          </p:nvPr>
        </p:nvSpPr>
        <p:spPr>
          <a:xfrm>
            <a:off x="1142964" y="1112283"/>
            <a:ext cx="9906070" cy="699211"/>
          </a:xfrm>
        </p:spPr>
        <p:txBody>
          <a:bodyPr/>
          <a:lstStyle/>
          <a:p>
            <a:pPr algn="ctr"/>
            <a:r>
              <a:rPr lang="en-US" dirty="0">
                <a:latin typeface="Times New Roman" panose="02020603050405020304" pitchFamily="18" charset="0"/>
                <a:cs typeface="Times New Roman" panose="02020603050405020304" pitchFamily="18" charset="0"/>
              </a:rPr>
              <a:t>Terra spacecraft showing the locations of its five instruments</a:t>
            </a:r>
            <a:r>
              <a:rPr lang="en-US" dirty="0"/>
              <a:t>.</a:t>
            </a:r>
            <a:endParaRPr lang="en-IN" dirty="0"/>
          </a:p>
        </p:txBody>
      </p:sp>
      <p:pic>
        <p:nvPicPr>
          <p:cNvPr id="5" name="Content Placeholder 4">
            <a:extLst>
              <a:ext uri="{FF2B5EF4-FFF2-40B4-BE49-F238E27FC236}">
                <a16:creationId xmlns:a16="http://schemas.microsoft.com/office/drawing/2014/main" id="{E992AE4C-5F0C-8696-8613-813B78DB88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4095" y="2423079"/>
            <a:ext cx="5803809" cy="4351338"/>
          </a:xfrm>
        </p:spPr>
      </p:pic>
    </p:spTree>
    <p:extLst>
      <p:ext uri="{BB962C8B-B14F-4D97-AF65-F5344CB8AC3E}">
        <p14:creationId xmlns:p14="http://schemas.microsoft.com/office/powerpoint/2010/main" val="308698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35E0E-5B03-6B45-4BC2-38C32340734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A5876A3-B42B-7883-9888-D2D32CD29B3A}"/>
              </a:ext>
            </a:extLst>
          </p:cNvPr>
          <p:cNvSpPr>
            <a:spLocks noGrp="1"/>
          </p:cNvSpPr>
          <p:nvPr>
            <p:ph type="ctrTitle"/>
          </p:nvPr>
        </p:nvSpPr>
        <p:spPr>
          <a:xfrm>
            <a:off x="1060940" y="82061"/>
            <a:ext cx="10433535" cy="715108"/>
          </a:xfrm>
        </p:spPr>
        <p:txBody>
          <a:bodyPr/>
          <a:lstStyle/>
          <a:p>
            <a:r>
              <a:rPr lang="en-US" sz="4400" b="1" dirty="0"/>
              <a:t>AVHRR</a:t>
            </a:r>
            <a:endParaRPr lang="en-IN" sz="4400" b="1" dirty="0">
              <a:solidFill>
                <a:srgbClr val="002060"/>
              </a:solidFill>
            </a:endParaRPr>
          </a:p>
        </p:txBody>
      </p:sp>
      <p:sp>
        <p:nvSpPr>
          <p:cNvPr id="29" name="Text Placeholder 6">
            <a:extLst>
              <a:ext uri="{FF2B5EF4-FFF2-40B4-BE49-F238E27FC236}">
                <a16:creationId xmlns:a16="http://schemas.microsoft.com/office/drawing/2014/main" id="{59C75BF4-95E5-ED42-D08A-1A5FB00FFD20}"/>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08B6BA6D-D5A9-9196-E6FB-EAEA5898DCB9}"/>
              </a:ext>
            </a:extLst>
          </p:cNvPr>
          <p:cNvSpPr txBox="1">
            <a:spLocks/>
          </p:cNvSpPr>
          <p:nvPr/>
        </p:nvSpPr>
        <p:spPr>
          <a:xfrm>
            <a:off x="908384" y="526747"/>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GB" sz="2400" b="1" dirty="0"/>
              <a:t>AVHRR: Advanced Very High Resolution Radiometer</a:t>
            </a:r>
            <a:endParaRPr lang="en-GB" sz="2400" b="1" dirty="0">
              <a:solidFill>
                <a:srgbClr val="002060"/>
              </a:solidFill>
            </a:endParaRPr>
          </a:p>
        </p:txBody>
      </p:sp>
      <p:sp>
        <p:nvSpPr>
          <p:cNvPr id="3" name="Text Placeholder 2">
            <a:extLst>
              <a:ext uri="{FF2B5EF4-FFF2-40B4-BE49-F238E27FC236}">
                <a16:creationId xmlns:a16="http://schemas.microsoft.com/office/drawing/2014/main" id="{B2F96050-D73B-C544-50DA-99CDA9379EDD}"/>
              </a:ext>
            </a:extLst>
          </p:cNvPr>
          <p:cNvSpPr txBox="1">
            <a:spLocks/>
          </p:cNvSpPr>
          <p:nvPr/>
        </p:nvSpPr>
        <p:spPr>
          <a:xfrm>
            <a:off x="467037" y="1709788"/>
            <a:ext cx="11182574" cy="4903469"/>
          </a:xfrm>
          <a:prstGeom prst="rect">
            <a:avLst/>
          </a:prstGeom>
        </p:spPr>
        <p:txBody>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Operating continuously since 1978 on NOAA's polar-orbiting satellite series, AVHRR provides one of the longest records of Earth observation data. This heritage sensor has been instrumental in establishing baseline climate measurements and long-term vegetation trends with its 1.1 km spatial resolution and twice-daily global coverage.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46923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EA02-B547-89E7-A179-B7B75D44E097}"/>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C9AC192B-A673-2195-DB8C-3A21D7C43199}"/>
              </a:ext>
            </a:extLst>
          </p:cNvPr>
          <p:cNvSpPr>
            <a:spLocks noGrp="1"/>
          </p:cNvSpPr>
          <p:nvPr>
            <p:ph type="ctrTitle"/>
          </p:nvPr>
        </p:nvSpPr>
        <p:spPr>
          <a:xfrm>
            <a:off x="1060940" y="82061"/>
            <a:ext cx="10433535" cy="715108"/>
          </a:xfrm>
        </p:spPr>
        <p:txBody>
          <a:bodyPr/>
          <a:lstStyle/>
          <a:p>
            <a:r>
              <a:rPr lang="en-US" sz="4400" b="1" dirty="0"/>
              <a:t>AVHRR</a:t>
            </a:r>
            <a:endParaRPr lang="en-IN" sz="4400" b="1" dirty="0">
              <a:solidFill>
                <a:srgbClr val="002060"/>
              </a:solidFill>
            </a:endParaRPr>
          </a:p>
        </p:txBody>
      </p:sp>
      <p:sp>
        <p:nvSpPr>
          <p:cNvPr id="29" name="Text Placeholder 6">
            <a:extLst>
              <a:ext uri="{FF2B5EF4-FFF2-40B4-BE49-F238E27FC236}">
                <a16:creationId xmlns:a16="http://schemas.microsoft.com/office/drawing/2014/main" id="{2D568067-3FC6-A376-89D2-21EB02A91293}"/>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5102183A-E9CA-2AAE-BB1E-096CEF4EDE3C}"/>
              </a:ext>
            </a:extLst>
          </p:cNvPr>
          <p:cNvSpPr txBox="1">
            <a:spLocks/>
          </p:cNvSpPr>
          <p:nvPr/>
        </p:nvSpPr>
        <p:spPr>
          <a:xfrm>
            <a:off x="908384" y="526747"/>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GB" sz="2400" b="1" dirty="0"/>
              <a:t>AVHRR: Advanced Very High Resolution Radiometer</a:t>
            </a:r>
            <a:endParaRPr lang="en-GB" sz="2400" b="1" dirty="0">
              <a:solidFill>
                <a:srgbClr val="002060"/>
              </a:solidFill>
            </a:endParaRPr>
          </a:p>
        </p:txBody>
      </p:sp>
      <p:sp>
        <p:nvSpPr>
          <p:cNvPr id="9" name="TextBox 8">
            <a:extLst>
              <a:ext uri="{FF2B5EF4-FFF2-40B4-BE49-F238E27FC236}">
                <a16:creationId xmlns:a16="http://schemas.microsoft.com/office/drawing/2014/main" id="{61296DBA-BBD4-49BC-3538-C8423A264A2F}"/>
              </a:ext>
            </a:extLst>
          </p:cNvPr>
          <p:cNvSpPr txBox="1"/>
          <p:nvPr/>
        </p:nvSpPr>
        <p:spPr>
          <a:xfrm>
            <a:off x="82063" y="1394153"/>
            <a:ext cx="11517922" cy="584775"/>
          </a:xfrm>
          <a:prstGeom prst="rect">
            <a:avLst/>
          </a:prstGeom>
          <a:noFill/>
        </p:spPr>
        <p:txBody>
          <a:bodyPr wrap="square">
            <a:spAutoFit/>
          </a:bodyPr>
          <a:lstStyle/>
          <a:p>
            <a:r>
              <a:rPr kumimoji="0" lang="en-IN" sz="3200" b="1" i="0" u="none" strike="noStrike" kern="1200" cap="all" spc="0" normalizeH="0" baseline="0" noProof="0" dirty="0">
                <a:ln>
                  <a:noFill/>
                </a:ln>
                <a:solidFill>
                  <a:srgbClr val="045FC4">
                    <a:lumMod val="75000"/>
                  </a:srgbClr>
                </a:solidFill>
                <a:effectLst/>
                <a:uLnTx/>
                <a:uFillTx/>
                <a:latin typeface="Times New Roman" panose="02020603050405020304" pitchFamily="18" charset="0"/>
                <a:ea typeface="+mj-ea"/>
                <a:cs typeface="Times New Roman" panose="02020603050405020304" pitchFamily="18" charset="0"/>
              </a:rPr>
              <a:t>Spectral Band Configuration</a:t>
            </a:r>
            <a:endParaRPr lang="en-IN" sz="32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90F167E4-B35E-EE7F-293F-A02BCA213726}"/>
              </a:ext>
            </a:extLst>
          </p:cNvPr>
          <p:cNvGraphicFramePr>
            <a:graphicFrameLocks noGrp="1"/>
          </p:cNvGraphicFramePr>
          <p:nvPr>
            <p:extLst>
              <p:ext uri="{D42A27DB-BD31-4B8C-83A1-F6EECF244321}">
                <p14:modId xmlns:p14="http://schemas.microsoft.com/office/powerpoint/2010/main" val="3907748291"/>
              </p:ext>
            </p:extLst>
          </p:nvPr>
        </p:nvGraphicFramePr>
        <p:xfrm>
          <a:off x="404446" y="2131226"/>
          <a:ext cx="7731443" cy="4206240"/>
        </p:xfrm>
        <a:graphic>
          <a:graphicData uri="http://schemas.openxmlformats.org/drawingml/2006/table">
            <a:tbl>
              <a:tblPr/>
              <a:tblGrid>
                <a:gridCol w="721043">
                  <a:extLst>
                    <a:ext uri="{9D8B030D-6E8A-4147-A177-3AD203B41FA5}">
                      <a16:colId xmlns:a16="http://schemas.microsoft.com/office/drawing/2014/main" val="3707260217"/>
                    </a:ext>
                  </a:extLst>
                </a:gridCol>
                <a:gridCol w="3505200">
                  <a:extLst>
                    <a:ext uri="{9D8B030D-6E8A-4147-A177-3AD203B41FA5}">
                      <a16:colId xmlns:a16="http://schemas.microsoft.com/office/drawing/2014/main" val="1104756108"/>
                    </a:ext>
                  </a:extLst>
                </a:gridCol>
                <a:gridCol w="3505200">
                  <a:extLst>
                    <a:ext uri="{9D8B030D-6E8A-4147-A177-3AD203B41FA5}">
                      <a16:colId xmlns:a16="http://schemas.microsoft.com/office/drawing/2014/main" val="3524743373"/>
                    </a:ext>
                  </a:extLst>
                </a:gridCol>
              </a:tblGrid>
              <a:tr h="0">
                <a:tc>
                  <a:txBody>
                    <a:bodyPr/>
                    <a:lstStyle/>
                    <a:p>
                      <a:pPr>
                        <a:buNone/>
                      </a:pPr>
                      <a:r>
                        <a:rPr lang="en-IN" b="1" dirty="0">
                          <a:latin typeface="Times New Roman" panose="02020603050405020304" pitchFamily="18" charset="0"/>
                          <a:cs typeface="Times New Roman" panose="02020603050405020304" pitchFamily="18" charset="0"/>
                        </a:rPr>
                        <a:t>Band</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Wavelength (µm)</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Primary Application</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547623558"/>
                  </a:ext>
                </a:extLst>
              </a:tr>
              <a:tr h="0">
                <a:tc>
                  <a:txBody>
                    <a:bodyPr/>
                    <a:lstStyle/>
                    <a:p>
                      <a:pPr>
                        <a:buNone/>
                      </a:pPr>
                      <a:r>
                        <a:rPr lang="en-IN">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0.58–0.68</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Cloud detection, surface mapping, vegetation discrimination</a:t>
                      </a:r>
                    </a:p>
                  </a:txBody>
                  <a:tcPr anchor="ctr">
                    <a:lnL>
                      <a:noFill/>
                    </a:lnL>
                    <a:lnR>
                      <a:noFill/>
                    </a:lnR>
                    <a:lnT>
                      <a:noFill/>
                    </a:lnT>
                    <a:lnB>
                      <a:noFill/>
                    </a:lnB>
                    <a:noFill/>
                  </a:tcPr>
                </a:tc>
                <a:extLst>
                  <a:ext uri="{0D108BD9-81ED-4DB2-BD59-A6C34878D82A}">
                    <a16:rowId xmlns:a16="http://schemas.microsoft.com/office/drawing/2014/main" val="1945541771"/>
                  </a:ext>
                </a:extLst>
              </a:tr>
              <a:tr h="0">
                <a:tc>
                  <a:txBody>
                    <a:bodyPr/>
                    <a:lstStyle/>
                    <a:p>
                      <a:pPr>
                        <a:buNone/>
                      </a:pPr>
                      <a:r>
                        <a:rPr lang="en-IN" dirty="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0.73–1.10</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Vegetation indices (NDVI), biomass assessment</a:t>
                      </a:r>
                    </a:p>
                  </a:txBody>
                  <a:tcPr anchor="ctr">
                    <a:lnL>
                      <a:noFill/>
                    </a:lnL>
                    <a:lnR>
                      <a:noFill/>
                    </a:lnR>
                    <a:lnT>
                      <a:noFill/>
                    </a:lnT>
                    <a:lnB>
                      <a:noFill/>
                    </a:lnB>
                    <a:noFill/>
                  </a:tcPr>
                </a:tc>
                <a:extLst>
                  <a:ext uri="{0D108BD9-81ED-4DB2-BD59-A6C34878D82A}">
                    <a16:rowId xmlns:a16="http://schemas.microsoft.com/office/drawing/2014/main" val="820049465"/>
                  </a:ext>
                </a:extLst>
              </a:tr>
              <a:tr h="0">
                <a:tc>
                  <a:txBody>
                    <a:bodyPr/>
                    <a:lstStyle/>
                    <a:p>
                      <a:pPr>
                        <a:buNone/>
                      </a:pPr>
                      <a:r>
                        <a:rPr lang="en-IN">
                          <a:latin typeface="Times New Roman" panose="02020603050405020304" pitchFamily="18" charset="0"/>
                          <a:cs typeface="Times New Roman" panose="02020603050405020304" pitchFamily="18" charset="0"/>
                        </a:rPr>
                        <a:t>3A</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1.58–1.64</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Snow/ice discrimination, daytime cloud detection</a:t>
                      </a:r>
                    </a:p>
                  </a:txBody>
                  <a:tcPr anchor="ctr">
                    <a:lnL>
                      <a:noFill/>
                    </a:lnL>
                    <a:lnR>
                      <a:noFill/>
                    </a:lnR>
                    <a:lnT>
                      <a:noFill/>
                    </a:lnT>
                    <a:lnB>
                      <a:noFill/>
                    </a:lnB>
                    <a:noFill/>
                  </a:tcPr>
                </a:tc>
                <a:extLst>
                  <a:ext uri="{0D108BD9-81ED-4DB2-BD59-A6C34878D82A}">
                    <a16:rowId xmlns:a16="http://schemas.microsoft.com/office/drawing/2014/main" val="3946119852"/>
                  </a:ext>
                </a:extLst>
              </a:tr>
              <a:tr h="0">
                <a:tc>
                  <a:txBody>
                    <a:bodyPr/>
                    <a:lstStyle/>
                    <a:p>
                      <a:pPr>
                        <a:buNone/>
                      </a:pPr>
                      <a:r>
                        <a:rPr lang="en-IN">
                          <a:latin typeface="Times New Roman" panose="02020603050405020304" pitchFamily="18" charset="0"/>
                          <a:cs typeface="Times New Roman" panose="02020603050405020304" pitchFamily="18" charset="0"/>
                        </a:rPr>
                        <a:t>3B</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3.55–3.93</a:t>
                      </a:r>
                    </a:p>
                  </a:txBody>
                  <a:tcPr anchor="ctr">
                    <a:lnL>
                      <a:noFill/>
                    </a:lnL>
                    <a:lnR>
                      <a:noFill/>
                    </a:lnR>
                    <a:lnT>
                      <a:noFill/>
                    </a:lnT>
                    <a:lnB>
                      <a:noFill/>
                    </a:lnB>
                    <a:noFill/>
                  </a:tcPr>
                </a:tc>
                <a:tc>
                  <a:txBody>
                    <a:bodyPr/>
                    <a:lstStyle/>
                    <a:p>
                      <a:pPr>
                        <a:buNone/>
                      </a:pPr>
                      <a:r>
                        <a:rPr lang="en-US">
                          <a:latin typeface="Times New Roman" panose="02020603050405020304" pitchFamily="18" charset="0"/>
                          <a:cs typeface="Times New Roman" panose="02020603050405020304" pitchFamily="18" charset="0"/>
                        </a:rPr>
                        <a:t>Night cloud temperature, fire detection</a:t>
                      </a:r>
                    </a:p>
                  </a:txBody>
                  <a:tcPr anchor="ctr">
                    <a:lnL>
                      <a:noFill/>
                    </a:lnL>
                    <a:lnR>
                      <a:noFill/>
                    </a:lnR>
                    <a:lnT>
                      <a:noFill/>
                    </a:lnT>
                    <a:lnB>
                      <a:noFill/>
                    </a:lnB>
                    <a:noFill/>
                  </a:tcPr>
                </a:tc>
                <a:extLst>
                  <a:ext uri="{0D108BD9-81ED-4DB2-BD59-A6C34878D82A}">
                    <a16:rowId xmlns:a16="http://schemas.microsoft.com/office/drawing/2014/main" val="2334539103"/>
                  </a:ext>
                </a:extLst>
              </a:tr>
              <a:tr h="0">
                <a:tc>
                  <a:txBody>
                    <a:bodyPr/>
                    <a:lstStyle/>
                    <a:p>
                      <a:pPr>
                        <a:buNone/>
                      </a:pPr>
                      <a:r>
                        <a:rPr lang="en-IN">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10.30–11.30</a:t>
                      </a:r>
                    </a:p>
                  </a:txBody>
                  <a:tcPr anchor="ctr">
                    <a:lnL>
                      <a:noFill/>
                    </a:lnL>
                    <a:lnR>
                      <a:noFill/>
                    </a:lnR>
                    <a:lnT>
                      <a:noFill/>
                    </a:lnT>
                    <a:lnB>
                      <a:noFill/>
                    </a:lnB>
                    <a:noFill/>
                  </a:tcPr>
                </a:tc>
                <a:tc>
                  <a:txBody>
                    <a:bodyPr/>
                    <a:lstStyle/>
                    <a:p>
                      <a:pPr>
                        <a:buNone/>
                      </a:pPr>
                      <a:r>
                        <a:rPr lang="en-US" dirty="0">
                          <a:latin typeface="Times New Roman" panose="02020603050405020304" pitchFamily="18" charset="0"/>
                          <a:cs typeface="Times New Roman" panose="02020603050405020304" pitchFamily="18" charset="0"/>
                        </a:rPr>
                        <a:t>Sea surface temperature (SST), land surface temperature (LST)</a:t>
                      </a:r>
                    </a:p>
                  </a:txBody>
                  <a:tcPr anchor="ctr">
                    <a:lnL>
                      <a:noFill/>
                    </a:lnL>
                    <a:lnR>
                      <a:noFill/>
                    </a:lnR>
                    <a:lnT>
                      <a:noFill/>
                    </a:lnT>
                    <a:lnB>
                      <a:noFill/>
                    </a:lnB>
                    <a:noFill/>
                  </a:tcPr>
                </a:tc>
                <a:extLst>
                  <a:ext uri="{0D108BD9-81ED-4DB2-BD59-A6C34878D82A}">
                    <a16:rowId xmlns:a16="http://schemas.microsoft.com/office/drawing/2014/main" val="929703509"/>
                  </a:ext>
                </a:extLst>
              </a:tr>
              <a:tr h="0">
                <a:tc>
                  <a:txBody>
                    <a:bodyPr/>
                    <a:lstStyle/>
                    <a:p>
                      <a:pPr>
                        <a:buNone/>
                      </a:pPr>
                      <a:r>
                        <a:rPr lang="en-IN">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11.50–12.50</a:t>
                      </a:r>
                    </a:p>
                  </a:txBody>
                  <a:tcPr anchor="ctr">
                    <a:lnL>
                      <a:noFill/>
                    </a:lnL>
                    <a:lnR>
                      <a:noFill/>
                    </a:lnR>
                    <a:lnT>
                      <a:noFill/>
                    </a:lnT>
                    <a:lnB>
                      <a:noFill/>
                    </a:lnB>
                    <a:noFill/>
                  </a:tcPr>
                </a:tc>
                <a:tc>
                  <a:txBody>
                    <a:bodyPr/>
                    <a:lstStyle/>
                    <a:p>
                      <a:pPr>
                        <a:buNone/>
                      </a:pPr>
                      <a:r>
                        <a:rPr lang="en-US" dirty="0">
                          <a:latin typeface="Times New Roman" panose="02020603050405020304" pitchFamily="18" charset="0"/>
                          <a:cs typeface="Times New Roman" panose="02020603050405020304" pitchFamily="18" charset="0"/>
                        </a:rPr>
                        <a:t>Atmospheric water vapor correction, split-window SST</a:t>
                      </a:r>
                    </a:p>
                  </a:txBody>
                  <a:tcPr anchor="ctr">
                    <a:lnL>
                      <a:noFill/>
                    </a:lnL>
                    <a:lnR>
                      <a:noFill/>
                    </a:lnR>
                    <a:lnT>
                      <a:noFill/>
                    </a:lnT>
                    <a:lnB>
                      <a:noFill/>
                    </a:lnB>
                    <a:noFill/>
                  </a:tcPr>
                </a:tc>
                <a:extLst>
                  <a:ext uri="{0D108BD9-81ED-4DB2-BD59-A6C34878D82A}">
                    <a16:rowId xmlns:a16="http://schemas.microsoft.com/office/drawing/2014/main" val="2124297914"/>
                  </a:ext>
                </a:extLst>
              </a:tr>
            </a:tbl>
          </a:graphicData>
        </a:graphic>
      </p:graphicFrame>
    </p:spTree>
    <p:extLst>
      <p:ext uri="{BB962C8B-B14F-4D97-AF65-F5344CB8AC3E}">
        <p14:creationId xmlns:p14="http://schemas.microsoft.com/office/powerpoint/2010/main" val="3604791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98829-2AC7-3D0A-347A-3952197FE5B8}"/>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ECE27E41-D6C0-9968-42AC-9976B76A3447}"/>
              </a:ext>
            </a:extLst>
          </p:cNvPr>
          <p:cNvSpPr>
            <a:spLocks noGrp="1"/>
          </p:cNvSpPr>
          <p:nvPr>
            <p:ph type="ctrTitle"/>
          </p:nvPr>
        </p:nvSpPr>
        <p:spPr>
          <a:xfrm>
            <a:off x="1060940" y="82061"/>
            <a:ext cx="10433535" cy="715108"/>
          </a:xfrm>
        </p:spPr>
        <p:txBody>
          <a:bodyPr/>
          <a:lstStyle/>
          <a:p>
            <a:r>
              <a:rPr lang="en-US" sz="4400" b="1" dirty="0"/>
              <a:t>MERIS</a:t>
            </a:r>
            <a:endParaRPr lang="en-IN" sz="4400" b="1" dirty="0">
              <a:solidFill>
                <a:srgbClr val="002060"/>
              </a:solidFill>
            </a:endParaRPr>
          </a:p>
        </p:txBody>
      </p:sp>
      <p:sp>
        <p:nvSpPr>
          <p:cNvPr id="29" name="Text Placeholder 6">
            <a:extLst>
              <a:ext uri="{FF2B5EF4-FFF2-40B4-BE49-F238E27FC236}">
                <a16:creationId xmlns:a16="http://schemas.microsoft.com/office/drawing/2014/main" id="{ACB28F81-2465-D76B-31FA-4DC234590D21}"/>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0FA4599E-5848-088B-F976-3A31C3DCB294}"/>
              </a:ext>
            </a:extLst>
          </p:cNvPr>
          <p:cNvSpPr txBox="1">
            <a:spLocks/>
          </p:cNvSpPr>
          <p:nvPr/>
        </p:nvSpPr>
        <p:spPr>
          <a:xfrm>
            <a:off x="2102847" y="853504"/>
            <a:ext cx="7678614" cy="45133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GB" sz="2400" b="1" dirty="0"/>
              <a:t>MERIS: Medium Resolution Imaging Spectrometer</a:t>
            </a:r>
            <a:endParaRPr lang="en-GB" sz="2400" b="1" dirty="0">
              <a:solidFill>
                <a:srgbClr val="002060"/>
              </a:solidFill>
            </a:endParaRPr>
          </a:p>
        </p:txBody>
      </p:sp>
      <p:sp>
        <p:nvSpPr>
          <p:cNvPr id="3" name="Text Placeholder 2">
            <a:extLst>
              <a:ext uri="{FF2B5EF4-FFF2-40B4-BE49-F238E27FC236}">
                <a16:creationId xmlns:a16="http://schemas.microsoft.com/office/drawing/2014/main" id="{2CA1AFEC-F96C-9ACA-7971-0129C3FFB4AF}"/>
              </a:ext>
            </a:extLst>
          </p:cNvPr>
          <p:cNvSpPr txBox="1">
            <a:spLocks/>
          </p:cNvSpPr>
          <p:nvPr/>
        </p:nvSpPr>
        <p:spPr>
          <a:xfrm>
            <a:off x="125405" y="1847035"/>
            <a:ext cx="11369070" cy="4849283"/>
          </a:xfrm>
          <a:prstGeom prst="rect">
            <a:avLst/>
          </a:prstGeom>
        </p:spPr>
        <p:txBody>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Operating on ESA's ENVISAT platform from 2002 to 2012, MERIS was specifically designed for ocean </a:t>
            </a:r>
            <a:r>
              <a:rPr lang="en-US" dirty="0" err="1">
                <a:latin typeface="Times New Roman" panose="02020603050405020304" pitchFamily="18" charset="0"/>
                <a:cs typeface="Times New Roman" panose="02020603050405020304" pitchFamily="18" charset="0"/>
              </a:rPr>
              <a:t>colour</a:t>
            </a:r>
            <a:r>
              <a:rPr lang="en-US" dirty="0">
                <a:latin typeface="Times New Roman" panose="02020603050405020304" pitchFamily="18" charset="0"/>
                <a:cs typeface="Times New Roman" panose="02020603050405020304" pitchFamily="18" charset="0"/>
              </a:rPr>
              <a:t> remote sensing with 15 programmable spectral bands in the visible and near-infrared range (0.39–1.04 µm).</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With its exceptional 1,150 km swath width, MERIS achieved global coverage every 2-3 days, making it invaluable for monitoring dynamic ocean processes, coastal water quality, and terrestrial ecosystems.</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83130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10C7D-84F2-C0C7-82D7-8FE7DB4A90AE}"/>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34246CC-333D-5091-C51B-247657E98DC0}"/>
              </a:ext>
            </a:extLst>
          </p:cNvPr>
          <p:cNvSpPr>
            <a:spLocks noGrp="1"/>
          </p:cNvSpPr>
          <p:nvPr>
            <p:ph type="ctrTitle"/>
          </p:nvPr>
        </p:nvSpPr>
        <p:spPr>
          <a:xfrm>
            <a:off x="1060940" y="82061"/>
            <a:ext cx="10433535" cy="715108"/>
          </a:xfrm>
        </p:spPr>
        <p:txBody>
          <a:bodyPr/>
          <a:lstStyle/>
          <a:p>
            <a:r>
              <a:rPr lang="en-US" sz="4400" b="1" dirty="0"/>
              <a:t>MERIS</a:t>
            </a:r>
            <a:endParaRPr lang="en-IN" sz="4400" b="1" dirty="0">
              <a:solidFill>
                <a:srgbClr val="002060"/>
              </a:solidFill>
            </a:endParaRPr>
          </a:p>
        </p:txBody>
      </p:sp>
      <p:sp>
        <p:nvSpPr>
          <p:cNvPr id="29" name="Text Placeholder 6">
            <a:extLst>
              <a:ext uri="{FF2B5EF4-FFF2-40B4-BE49-F238E27FC236}">
                <a16:creationId xmlns:a16="http://schemas.microsoft.com/office/drawing/2014/main" id="{E44C9E0C-6889-0DFF-0994-0D0F3E23F21A}"/>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FD1304AE-6B1A-41BF-0A35-E337FB8113FA}"/>
              </a:ext>
            </a:extLst>
          </p:cNvPr>
          <p:cNvSpPr txBox="1">
            <a:spLocks/>
          </p:cNvSpPr>
          <p:nvPr/>
        </p:nvSpPr>
        <p:spPr>
          <a:xfrm>
            <a:off x="2102847" y="853504"/>
            <a:ext cx="7678614" cy="45133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GB" sz="2400" b="1" dirty="0"/>
              <a:t>MERIS: Medium Resolution Imaging Spectrometer</a:t>
            </a:r>
            <a:endParaRPr lang="en-GB" sz="2400" b="1" dirty="0">
              <a:solidFill>
                <a:srgbClr val="002060"/>
              </a:solidFill>
            </a:endParaRPr>
          </a:p>
        </p:txBody>
      </p:sp>
      <p:sp>
        <p:nvSpPr>
          <p:cNvPr id="8" name="Title 1">
            <a:extLst>
              <a:ext uri="{FF2B5EF4-FFF2-40B4-BE49-F238E27FC236}">
                <a16:creationId xmlns:a16="http://schemas.microsoft.com/office/drawing/2014/main" id="{4D7F7E39-3C8E-0837-76A9-1924FD0C048D}"/>
              </a:ext>
            </a:extLst>
          </p:cNvPr>
          <p:cNvSpPr txBox="1">
            <a:spLocks/>
          </p:cNvSpPr>
          <p:nvPr/>
        </p:nvSpPr>
        <p:spPr>
          <a:xfrm>
            <a:off x="0" y="1029235"/>
            <a:ext cx="3308094" cy="1002552"/>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algn="l"/>
            <a:r>
              <a:rPr lang="en-DE" sz="4000" dirty="0">
                <a:solidFill>
                  <a:schemeClr val="accent1"/>
                </a:solidFill>
                <a:latin typeface="Times New Roman" panose="02020603050405020304" pitchFamily="18" charset="0"/>
                <a:cs typeface="Times New Roman" panose="02020603050405020304" pitchFamily="18" charset="0"/>
              </a:rPr>
              <a:t>A</a:t>
            </a:r>
            <a:r>
              <a:rPr lang="en-IN" sz="4000" dirty="0" err="1">
                <a:solidFill>
                  <a:schemeClr val="accent1"/>
                </a:solidFill>
                <a:latin typeface="Times New Roman" panose="02020603050405020304" pitchFamily="18" charset="0"/>
                <a:cs typeface="Times New Roman" panose="02020603050405020304" pitchFamily="18" charset="0"/>
              </a:rPr>
              <a:t>pplication</a:t>
            </a:r>
            <a:endParaRPr lang="en-IN" sz="4000" dirty="0">
              <a:solidFill>
                <a:schemeClr val="accent1"/>
              </a:solidFill>
              <a:latin typeface="Times New Roman" panose="02020603050405020304" pitchFamily="18" charset="0"/>
              <a:cs typeface="Times New Roman" panose="02020603050405020304" pitchFamily="18" charset="0"/>
            </a:endParaRPr>
          </a:p>
        </p:txBody>
      </p:sp>
      <p:sp>
        <p:nvSpPr>
          <p:cNvPr id="9" name="Text Placeholder 2">
            <a:extLst>
              <a:ext uri="{FF2B5EF4-FFF2-40B4-BE49-F238E27FC236}">
                <a16:creationId xmlns:a16="http://schemas.microsoft.com/office/drawing/2014/main" id="{051E5334-9A9F-D79E-0764-7D007C3D5D63}"/>
              </a:ext>
            </a:extLst>
          </p:cNvPr>
          <p:cNvSpPr txBox="1">
            <a:spLocks/>
          </p:cNvSpPr>
          <p:nvPr/>
        </p:nvSpPr>
        <p:spPr>
          <a:xfrm>
            <a:off x="322293" y="1850361"/>
            <a:ext cx="10134371" cy="3709703"/>
          </a:xfrm>
          <a:prstGeom prst="rect">
            <a:avLst/>
          </a:prstGeom>
        </p:spPr>
        <p:txBody>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Ocean </a:t>
            </a:r>
            <a:r>
              <a:rPr lang="en-US" b="1" dirty="0" err="1">
                <a:latin typeface="Times New Roman" panose="02020603050405020304" pitchFamily="18" charset="0"/>
                <a:cs typeface="Times New Roman" panose="02020603050405020304" pitchFamily="18" charset="0"/>
              </a:rPr>
              <a:t>Colour</a:t>
            </a:r>
            <a:r>
              <a:rPr lang="en-US" b="1" dirty="0">
                <a:latin typeface="Times New Roman" panose="02020603050405020304" pitchFamily="18" charset="0"/>
                <a:cs typeface="Times New Roman" panose="02020603050405020304" pitchFamily="18" charset="0"/>
              </a:rPr>
              <a:t> Products: </a:t>
            </a:r>
            <a:r>
              <a:rPr lang="en-US" dirty="0">
                <a:latin typeface="Times New Roman" panose="02020603050405020304" pitchFamily="18" charset="0"/>
                <a:cs typeface="Times New Roman" panose="02020603050405020304" pitchFamily="18" charset="0"/>
              </a:rPr>
              <a:t>Chlorophyll a concentration, suspended sediment, and colored dissolved organic matter (CDOM) measurements enable marine ecosystem health assessment</a:t>
            </a: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Water Quality Monitoring: </a:t>
            </a:r>
            <a:r>
              <a:rPr lang="en-US" dirty="0">
                <a:latin typeface="Times New Roman" panose="02020603050405020304" pitchFamily="18" charset="0"/>
                <a:cs typeface="Times New Roman" panose="02020603050405020304" pitchFamily="18" charset="0"/>
              </a:rPr>
              <a:t>Algal bloom detection, turbidity mapping, and eutrophication assessment in coastal and inland waters</a:t>
            </a: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Atmospheric Correction: </a:t>
            </a:r>
            <a:r>
              <a:rPr lang="en-US" dirty="0">
                <a:latin typeface="Times New Roman" panose="02020603050405020304" pitchFamily="18" charset="0"/>
                <a:cs typeface="Times New Roman" panose="02020603050405020304" pitchFamily="18" charset="0"/>
              </a:rPr>
              <a:t>Dedicated bands for aerosol and water vapor retrieval ensure accurate surface reflectance products</a:t>
            </a: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Coastal Zone Studies: </a:t>
            </a:r>
            <a:r>
              <a:rPr lang="en-US" dirty="0">
                <a:latin typeface="Times New Roman" panose="02020603050405020304" pitchFamily="18" charset="0"/>
                <a:cs typeface="Times New Roman" panose="02020603050405020304" pitchFamily="18" charset="0"/>
              </a:rPr>
              <a:t>300 m full resolution mode enables detailed monitoring of dynamic coastal ecosystems and land-sea interactions</a:t>
            </a:r>
          </a:p>
        </p:txBody>
      </p:sp>
    </p:spTree>
    <p:extLst>
      <p:ext uri="{BB962C8B-B14F-4D97-AF65-F5344CB8AC3E}">
        <p14:creationId xmlns:p14="http://schemas.microsoft.com/office/powerpoint/2010/main" val="4239485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B253-3DE9-0F84-52CD-DC99BB6FEAE9}"/>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1ECA44D4-7061-A4FA-A131-7D6AE48A57F4}"/>
              </a:ext>
            </a:extLst>
          </p:cNvPr>
          <p:cNvSpPr>
            <a:spLocks noGrp="1"/>
          </p:cNvSpPr>
          <p:nvPr>
            <p:ph type="ctrTitle"/>
          </p:nvPr>
        </p:nvSpPr>
        <p:spPr>
          <a:xfrm>
            <a:off x="1060940" y="82061"/>
            <a:ext cx="10433535" cy="715108"/>
          </a:xfrm>
        </p:spPr>
        <p:txBody>
          <a:bodyPr/>
          <a:lstStyle/>
          <a:p>
            <a:r>
              <a:rPr lang="en-US" sz="4400" b="1" dirty="0"/>
              <a:t>MERIS</a:t>
            </a:r>
            <a:endParaRPr lang="en-IN" sz="4400" b="1" dirty="0">
              <a:solidFill>
                <a:srgbClr val="002060"/>
              </a:solidFill>
            </a:endParaRPr>
          </a:p>
        </p:txBody>
      </p:sp>
      <p:sp>
        <p:nvSpPr>
          <p:cNvPr id="29" name="Text Placeholder 6">
            <a:extLst>
              <a:ext uri="{FF2B5EF4-FFF2-40B4-BE49-F238E27FC236}">
                <a16:creationId xmlns:a16="http://schemas.microsoft.com/office/drawing/2014/main" id="{AAEFA021-853F-4949-A56E-374533EF9F1B}"/>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462E4FAC-0E52-60AB-86A2-AC5994D7612F}"/>
              </a:ext>
            </a:extLst>
          </p:cNvPr>
          <p:cNvSpPr txBox="1">
            <a:spLocks/>
          </p:cNvSpPr>
          <p:nvPr/>
        </p:nvSpPr>
        <p:spPr>
          <a:xfrm>
            <a:off x="2102847" y="853504"/>
            <a:ext cx="7678614" cy="45133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GB" sz="2400" b="1" dirty="0"/>
              <a:t>MERIS: Medium Resolution Imaging Spectrometer</a:t>
            </a:r>
            <a:endParaRPr lang="en-GB" sz="2400" b="1" dirty="0">
              <a:solidFill>
                <a:srgbClr val="002060"/>
              </a:solidFill>
            </a:endParaRPr>
          </a:p>
        </p:txBody>
      </p:sp>
      <p:pic>
        <p:nvPicPr>
          <p:cNvPr id="3" name="Picture Placeholder 5">
            <a:extLst>
              <a:ext uri="{FF2B5EF4-FFF2-40B4-BE49-F238E27FC236}">
                <a16:creationId xmlns:a16="http://schemas.microsoft.com/office/drawing/2014/main" id="{8DECD8A2-E342-BF1B-30BB-9F4DD96AE848}"/>
              </a:ext>
            </a:extLst>
          </p:cNvPr>
          <p:cNvPicPr>
            <a:picLocks noChangeAspect="1"/>
          </p:cNvPicPr>
          <p:nvPr/>
        </p:nvPicPr>
        <p:blipFill>
          <a:blip r:embed="rId2"/>
          <a:srcRect t="177" b="177"/>
          <a:stretch>
            <a:fillRect/>
          </a:stretch>
        </p:blipFill>
        <p:spPr>
          <a:xfrm>
            <a:off x="5802923" y="1674446"/>
            <a:ext cx="4937760" cy="4530649"/>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13" name="TextBox 12">
            <a:extLst>
              <a:ext uri="{FF2B5EF4-FFF2-40B4-BE49-F238E27FC236}">
                <a16:creationId xmlns:a16="http://schemas.microsoft.com/office/drawing/2014/main" id="{98900F02-23E9-65DE-2035-4705E6336D75}"/>
              </a:ext>
            </a:extLst>
          </p:cNvPr>
          <p:cNvSpPr txBox="1"/>
          <p:nvPr/>
        </p:nvSpPr>
        <p:spPr>
          <a:xfrm>
            <a:off x="216878" y="3429000"/>
            <a:ext cx="6107722" cy="1938992"/>
          </a:xfrm>
          <a:prstGeom prst="rect">
            <a:avLst/>
          </a:prstGeom>
          <a:noFill/>
        </p:spPr>
        <p:txBody>
          <a:bodyPr wrap="square">
            <a:spAutoFit/>
          </a:bodyPr>
          <a:lstStyle/>
          <a:p>
            <a:r>
              <a:rPr kumimoji="0" lang="en-US" sz="4000" b="0" i="1" u="none" strike="noStrike" kern="1200" cap="all" spc="0" normalizeH="0" baseline="0" noProof="0" dirty="0">
                <a:ln>
                  <a:noFill/>
                </a:ln>
                <a:solidFill>
                  <a:srgbClr val="045FC4">
                    <a:lumMod val="75000"/>
                  </a:srgbClr>
                </a:solidFill>
                <a:effectLst/>
                <a:uLnTx/>
                <a:uFillTx/>
                <a:latin typeface="Sagona ExtraLight" panose="02020303050505020204" pitchFamily="18" charset="0"/>
                <a:ea typeface="+mj-ea"/>
                <a:cs typeface="+mj-cs"/>
              </a:rPr>
              <a:t>Bahamas, captured by MERIS on 24 Jan 2004</a:t>
            </a:r>
            <a:endParaRPr lang="en-IN" dirty="0"/>
          </a:p>
        </p:txBody>
      </p:sp>
    </p:spTree>
    <p:extLst>
      <p:ext uri="{BB962C8B-B14F-4D97-AF65-F5344CB8AC3E}">
        <p14:creationId xmlns:p14="http://schemas.microsoft.com/office/powerpoint/2010/main" val="2703585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047D-8F22-CF91-F23F-2231E3BAA49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A61A33AA-3213-D9B6-0A9A-BF5F8805724A}"/>
              </a:ext>
            </a:extLst>
          </p:cNvPr>
          <p:cNvSpPr>
            <a:spLocks noGrp="1"/>
          </p:cNvSpPr>
          <p:nvPr>
            <p:ph type="ctrTitle"/>
          </p:nvPr>
        </p:nvSpPr>
        <p:spPr>
          <a:xfrm>
            <a:off x="738556" y="70338"/>
            <a:ext cx="11383106" cy="715108"/>
          </a:xfrm>
        </p:spPr>
        <p:txBody>
          <a:bodyPr/>
          <a:lstStyle/>
          <a:p>
            <a:r>
              <a:rPr lang="en-GB" sz="4000" b="1" dirty="0">
                <a:solidFill>
                  <a:srgbClr val="002060"/>
                </a:solidFill>
              </a:rPr>
              <a:t>OSA : Optical Sensor Assembly</a:t>
            </a:r>
            <a:endParaRPr lang="en-IN" sz="4000" b="1" dirty="0">
              <a:solidFill>
                <a:srgbClr val="002060"/>
              </a:solidFill>
            </a:endParaRPr>
          </a:p>
        </p:txBody>
      </p:sp>
      <p:sp>
        <p:nvSpPr>
          <p:cNvPr id="29" name="Text Placeholder 6">
            <a:extLst>
              <a:ext uri="{FF2B5EF4-FFF2-40B4-BE49-F238E27FC236}">
                <a16:creationId xmlns:a16="http://schemas.microsoft.com/office/drawing/2014/main" id="{7E0F917E-0ED4-BA62-F8D8-75973607D8A3}"/>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Content Placeholder 2">
            <a:extLst>
              <a:ext uri="{FF2B5EF4-FFF2-40B4-BE49-F238E27FC236}">
                <a16:creationId xmlns:a16="http://schemas.microsoft.com/office/drawing/2014/main" id="{2F561807-A258-478F-CED7-86C9EFEE6A02}"/>
              </a:ext>
            </a:extLst>
          </p:cNvPr>
          <p:cNvSpPr txBox="1">
            <a:spLocks/>
          </p:cNvSpPr>
          <p:nvPr/>
        </p:nvSpPr>
        <p:spPr>
          <a:xfrm>
            <a:off x="542389" y="2289790"/>
            <a:ext cx="4864257" cy="4391252"/>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latin typeface="Times New Roman" panose="02020603050405020304" pitchFamily="18" charset="0"/>
                <a:cs typeface="Times New Roman" panose="02020603050405020304" pitchFamily="18" charset="0"/>
              </a:rPr>
              <a:t>IKONOS-2</a:t>
            </a:r>
            <a:r>
              <a:rPr lang="en-GB" dirty="0">
                <a:latin typeface="Times New Roman" panose="02020603050405020304" pitchFamily="18" charset="0"/>
                <a:cs typeface="Times New Roman" panose="02020603050405020304" pitchFamily="18" charset="0"/>
              </a:rPr>
              <a:t>(USA)</a:t>
            </a:r>
          </a:p>
          <a:p>
            <a:r>
              <a:rPr lang="en-GB" dirty="0">
                <a:latin typeface="Times New Roman" panose="02020603050405020304" pitchFamily="18" charset="0"/>
                <a:cs typeface="Times New Roman" panose="02020603050405020304" pitchFamily="18" charset="0"/>
              </a:rPr>
              <a:t>Launched: </a:t>
            </a:r>
            <a:r>
              <a:rPr lang="en-IN" b="0" i="0" dirty="0">
                <a:solidFill>
                  <a:schemeClr val="tx1"/>
                </a:solidFill>
                <a:effectLst/>
                <a:latin typeface="Times New Roman" panose="02020603050405020304" pitchFamily="18" charset="0"/>
                <a:cs typeface="Times New Roman" panose="02020603050405020304" pitchFamily="18" charset="0"/>
              </a:rPr>
              <a:t>September</a:t>
            </a:r>
            <a:r>
              <a:rPr lang="en-GB" dirty="0">
                <a:latin typeface="Times New Roman" panose="02020603050405020304" pitchFamily="18" charset="0"/>
                <a:cs typeface="Times New Roman" panose="02020603050405020304" pitchFamily="18" charset="0"/>
              </a:rPr>
              <a:t> 1999</a:t>
            </a:r>
          </a:p>
          <a:p>
            <a:r>
              <a:rPr lang="en-IN" dirty="0">
                <a:solidFill>
                  <a:schemeClr val="tx1"/>
                </a:solidFill>
                <a:latin typeface="Times New Roman" panose="02020603050405020304" pitchFamily="18" charset="0"/>
                <a:cs typeface="Times New Roman" panose="02020603050405020304" pitchFamily="18" charset="0"/>
              </a:rPr>
              <a:t>D</a:t>
            </a:r>
            <a:r>
              <a:rPr lang="en-IN" b="0" i="0" dirty="0">
                <a:solidFill>
                  <a:schemeClr val="tx1"/>
                </a:solidFill>
                <a:effectLst/>
                <a:latin typeface="Times New Roman" panose="02020603050405020304" pitchFamily="18" charset="0"/>
                <a:cs typeface="Times New Roman" panose="02020603050405020304" pitchFamily="18" charset="0"/>
              </a:rPr>
              <a:t>ecommissioned: March 2015</a:t>
            </a:r>
            <a:endParaRPr lang="en-GB" dirty="0">
              <a:solidFill>
                <a:schemeClr val="tx1"/>
              </a:solidFill>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Swath Width: 11.3 km at Nadir</a:t>
            </a:r>
          </a:p>
          <a:p>
            <a:endParaRPr lang="en-GB" dirty="0">
              <a:latin typeface="Times New Roman" panose="02020603050405020304" pitchFamily="18" charset="0"/>
              <a:cs typeface="Times New Roman" panose="02020603050405020304" pitchFamily="18" charset="0"/>
            </a:endParaRPr>
          </a:p>
          <a:p>
            <a:r>
              <a:rPr lang="en-GB" sz="2600" b="1" dirty="0">
                <a:latin typeface="Times New Roman" panose="02020603050405020304" pitchFamily="18" charset="0"/>
                <a:cs typeface="Times New Roman" panose="02020603050405020304" pitchFamily="18" charset="0"/>
              </a:rPr>
              <a:t>Primary Uses</a:t>
            </a:r>
          </a:p>
          <a:p>
            <a:r>
              <a:rPr lang="en-IN" b="0" i="0" dirty="0">
                <a:effectLst/>
                <a:latin typeface="Times New Roman" panose="02020603050405020304" pitchFamily="18" charset="0"/>
                <a:cs typeface="Times New Roman" panose="02020603050405020304" pitchFamily="18" charset="0"/>
              </a:rPr>
              <a:t>Urban planning and management</a:t>
            </a:r>
          </a:p>
          <a:p>
            <a:r>
              <a:rPr lang="en-GB" dirty="0">
                <a:latin typeface="Times New Roman" panose="02020603050405020304" pitchFamily="18" charset="0"/>
                <a:cs typeface="Times New Roman" panose="02020603050405020304" pitchFamily="18" charset="0"/>
              </a:rPr>
              <a:t> and </a:t>
            </a:r>
            <a:r>
              <a:rPr lang="en-US" b="0" i="0" dirty="0">
                <a:effectLst/>
                <a:latin typeface="Times New Roman" panose="02020603050405020304" pitchFamily="18" charset="0"/>
                <a:cs typeface="Times New Roman" panose="02020603050405020304" pitchFamily="18" charset="0"/>
              </a:rPr>
              <a:t>Land use and land cover mapping</a:t>
            </a:r>
          </a:p>
          <a:p>
            <a:r>
              <a:rPr lang="en-GB" dirty="0">
                <a:latin typeface="Times New Roman" panose="02020603050405020304" pitchFamily="18" charset="0"/>
                <a:cs typeface="Times New Roman" panose="02020603050405020304" pitchFamily="18" charset="0"/>
              </a:rPr>
              <a:t>Monitoring of open-pit mines</a:t>
            </a:r>
          </a:p>
          <a:p>
            <a:endParaRPr lang="en-GB" dirty="0"/>
          </a:p>
        </p:txBody>
      </p:sp>
      <p:sp>
        <p:nvSpPr>
          <p:cNvPr id="3" name="Content Placeholder 15">
            <a:extLst>
              <a:ext uri="{FF2B5EF4-FFF2-40B4-BE49-F238E27FC236}">
                <a16:creationId xmlns:a16="http://schemas.microsoft.com/office/drawing/2014/main" id="{099A0D77-8F63-9188-DB31-DDA0E6523399}"/>
              </a:ext>
            </a:extLst>
          </p:cNvPr>
          <p:cNvSpPr txBox="1">
            <a:spLocks/>
          </p:cNvSpPr>
          <p:nvPr/>
        </p:nvSpPr>
        <p:spPr>
          <a:xfrm>
            <a:off x="6096000" y="1933576"/>
            <a:ext cx="4693727" cy="3856978"/>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Multispectral: </a:t>
            </a:r>
            <a:r>
              <a:rPr lang="en-US" b="1" dirty="0">
                <a:latin typeface="Times New Roman" panose="02020603050405020304" pitchFamily="18" charset="0"/>
                <a:cs typeface="Times New Roman" panose="02020603050405020304" pitchFamily="18" charset="0"/>
              </a:rPr>
              <a:t>3.28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Panchromatic: </a:t>
            </a:r>
            <a:r>
              <a:rPr lang="en-US" b="1" dirty="0">
                <a:latin typeface="Times New Roman" panose="02020603050405020304" pitchFamily="18" charset="0"/>
                <a:cs typeface="Times New Roman" panose="02020603050405020304" pitchFamily="18" charset="0"/>
              </a:rPr>
              <a:t>0.82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Ideal for </a:t>
            </a:r>
            <a:r>
              <a:rPr lang="en-IN" dirty="0">
                <a:latin typeface="Times New Roman" panose="02020603050405020304" pitchFamily="18" charset="0"/>
                <a:cs typeface="Times New Roman" panose="02020603050405020304" pitchFamily="18" charset="0"/>
              </a:rPr>
              <a:t>u</a:t>
            </a:r>
            <a:r>
              <a:rPr lang="en-IN" b="0" i="0" dirty="0">
                <a:effectLst/>
                <a:latin typeface="Times New Roman" panose="02020603050405020304" pitchFamily="18" charset="0"/>
                <a:cs typeface="Times New Roman" panose="02020603050405020304" pitchFamily="18" charset="0"/>
              </a:rPr>
              <a:t>rban planning and management</a:t>
            </a:r>
          </a:p>
          <a:p>
            <a:endParaRPr lang="en-US" dirty="0">
              <a:latin typeface="Times New Roman" panose="02020603050405020304" pitchFamily="18" charset="0"/>
              <a:cs typeface="Times New Roman" panose="02020603050405020304" pitchFamily="18" charset="0"/>
            </a:endParaRPr>
          </a:p>
        </p:txBody>
      </p:sp>
      <p:sp>
        <p:nvSpPr>
          <p:cNvPr id="4" name="Text Placeholder 16">
            <a:extLst>
              <a:ext uri="{FF2B5EF4-FFF2-40B4-BE49-F238E27FC236}">
                <a16:creationId xmlns:a16="http://schemas.microsoft.com/office/drawing/2014/main" id="{70CEE59F-0A17-7AB3-4C6C-060DF688390C}"/>
              </a:ext>
            </a:extLst>
          </p:cNvPr>
          <p:cNvSpPr txBox="1">
            <a:spLocks/>
          </p:cNvSpPr>
          <p:nvPr/>
        </p:nvSpPr>
        <p:spPr>
          <a:xfrm>
            <a:off x="542389" y="1449676"/>
            <a:ext cx="4672156"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Platform Details</a:t>
            </a:r>
          </a:p>
        </p:txBody>
      </p:sp>
      <p:sp>
        <p:nvSpPr>
          <p:cNvPr id="5" name="Text Placeholder 6">
            <a:extLst>
              <a:ext uri="{FF2B5EF4-FFF2-40B4-BE49-F238E27FC236}">
                <a16:creationId xmlns:a16="http://schemas.microsoft.com/office/drawing/2014/main" id="{65D3F120-390A-3AD6-BD70-759552BE754C}"/>
              </a:ext>
            </a:extLst>
          </p:cNvPr>
          <p:cNvSpPr txBox="1">
            <a:spLocks/>
          </p:cNvSpPr>
          <p:nvPr/>
        </p:nvSpPr>
        <p:spPr>
          <a:xfrm>
            <a:off x="5942154" y="1443690"/>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Spatial Resolution</a:t>
            </a:r>
          </a:p>
        </p:txBody>
      </p:sp>
    </p:spTree>
    <p:extLst>
      <p:ext uri="{BB962C8B-B14F-4D97-AF65-F5344CB8AC3E}">
        <p14:creationId xmlns:p14="http://schemas.microsoft.com/office/powerpoint/2010/main" val="1458049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A130C-C252-DF6B-E6EF-4761BBED0790}"/>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9641FF0-2756-1725-72EE-42FEBCBC2503}"/>
              </a:ext>
            </a:extLst>
          </p:cNvPr>
          <p:cNvSpPr>
            <a:spLocks noGrp="1"/>
          </p:cNvSpPr>
          <p:nvPr>
            <p:ph type="ctrTitle"/>
          </p:nvPr>
        </p:nvSpPr>
        <p:spPr>
          <a:xfrm>
            <a:off x="1060940" y="82061"/>
            <a:ext cx="10433535" cy="715108"/>
          </a:xfrm>
        </p:spPr>
        <p:txBody>
          <a:bodyPr/>
          <a:lstStyle/>
          <a:p>
            <a:r>
              <a:rPr lang="en-IN" sz="4400" b="1" dirty="0"/>
              <a:t>Spectral band configuration</a:t>
            </a:r>
            <a:endParaRPr lang="en-IN" sz="4400" b="1" dirty="0">
              <a:solidFill>
                <a:srgbClr val="002060"/>
              </a:solidFill>
            </a:endParaRPr>
          </a:p>
        </p:txBody>
      </p:sp>
      <p:sp>
        <p:nvSpPr>
          <p:cNvPr id="29" name="Text Placeholder 6">
            <a:extLst>
              <a:ext uri="{FF2B5EF4-FFF2-40B4-BE49-F238E27FC236}">
                <a16:creationId xmlns:a16="http://schemas.microsoft.com/office/drawing/2014/main" id="{DAE039F7-496B-ED91-14D3-AE2731800ED2}"/>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ext Placeholder 2">
            <a:extLst>
              <a:ext uri="{FF2B5EF4-FFF2-40B4-BE49-F238E27FC236}">
                <a16:creationId xmlns:a16="http://schemas.microsoft.com/office/drawing/2014/main" id="{2C44E74D-E989-7B47-8C67-242A05BE0684}"/>
              </a:ext>
            </a:extLst>
          </p:cNvPr>
          <p:cNvSpPr txBox="1">
            <a:spLocks/>
          </p:cNvSpPr>
          <p:nvPr/>
        </p:nvSpPr>
        <p:spPr>
          <a:xfrm>
            <a:off x="66698" y="1507066"/>
            <a:ext cx="11677627" cy="4849283"/>
          </a:xfrm>
          <a:prstGeom prst="rect">
            <a:avLst/>
          </a:prstGeom>
        </p:spPr>
        <p:txBody>
          <a:bodyPr>
            <a:no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latin typeface="Times New Roman" panose="02020603050405020304" pitchFamily="18" charset="0"/>
                <a:cs typeface="Times New Roman" panose="02020603050405020304" pitchFamily="18" charset="0"/>
              </a:rPr>
              <a:t>Band                    Wavelength(µm)                                      Application                                  </a:t>
            </a:r>
          </a:p>
          <a:p>
            <a:pPr algn="just">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Panchromatic    </a:t>
            </a:r>
            <a:r>
              <a:rPr lang="en-IN" sz="2200" dirty="0">
                <a:latin typeface="Times New Roman" panose="02020603050405020304" pitchFamily="18" charset="0"/>
                <a:cs typeface="Times New Roman" panose="02020603050405020304" pitchFamily="18" charset="0"/>
              </a:rPr>
              <a:t>            0.45 – 0.90                      </a:t>
            </a:r>
            <a:r>
              <a:rPr lang="en-IN" sz="2200" b="0" i="0" dirty="0">
                <a:effectLst/>
                <a:latin typeface="Times New Roman" panose="02020603050405020304" pitchFamily="18" charset="0"/>
                <a:cs typeface="Times New Roman" panose="02020603050405020304" pitchFamily="18" charset="0"/>
              </a:rPr>
              <a:t>Used for high-resolution mapping (up to 1 meter)</a:t>
            </a:r>
            <a:endParaRPr lang="en-IN" sz="22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Blue                              </a:t>
            </a:r>
            <a:r>
              <a:rPr lang="en-IN" sz="2200" dirty="0">
                <a:latin typeface="Times New Roman" panose="02020603050405020304" pitchFamily="18" charset="0"/>
                <a:cs typeface="Times New Roman" panose="02020603050405020304" pitchFamily="18" charset="0"/>
              </a:rPr>
              <a:t>0.45 – 0.52                 </a:t>
            </a:r>
            <a:r>
              <a:rPr lang="en-IN" sz="2200" b="0" i="0" dirty="0">
                <a:effectLst/>
                <a:latin typeface="Times New Roman" panose="02020603050405020304" pitchFamily="18" charset="0"/>
                <a:cs typeface="Times New Roman" panose="02020603050405020304" pitchFamily="18" charset="0"/>
              </a:rPr>
              <a:t>Useful in coastal zone studies,</a:t>
            </a:r>
            <a:r>
              <a:rPr lang="en-US" sz="2200" b="0" i="0" dirty="0">
                <a:effectLst/>
                <a:latin typeface="Times New Roman" panose="02020603050405020304" pitchFamily="18" charset="0"/>
                <a:cs typeface="Times New Roman" panose="02020603050405020304" pitchFamily="18" charset="0"/>
              </a:rPr>
              <a:t> Water body delineation  </a:t>
            </a:r>
          </a:p>
          <a:p>
            <a:pPr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Green                            </a:t>
            </a:r>
            <a:r>
              <a:rPr lang="en-IN" sz="2200" dirty="0">
                <a:latin typeface="Times New Roman" panose="02020603050405020304" pitchFamily="18" charset="0"/>
                <a:cs typeface="Times New Roman" panose="02020603050405020304" pitchFamily="18" charset="0"/>
              </a:rPr>
              <a:t>0.52 – 0.60          </a:t>
            </a:r>
            <a:r>
              <a:rPr lang="en-US" sz="2200" b="0" i="0" dirty="0">
                <a:effectLst/>
                <a:latin typeface="Times New Roman" panose="02020603050405020304" pitchFamily="18" charset="0"/>
                <a:cs typeface="Times New Roman" panose="02020603050405020304" pitchFamily="18" charset="0"/>
              </a:rPr>
              <a:t>Supports forestry analysis and urban green space mapping</a:t>
            </a:r>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Red</a:t>
            </a:r>
            <a:r>
              <a:rPr lang="en-IN" sz="2200" dirty="0">
                <a:latin typeface="Times New Roman" panose="02020603050405020304" pitchFamily="18" charset="0"/>
                <a:cs typeface="Times New Roman" panose="02020603050405020304" pitchFamily="18" charset="0"/>
              </a:rPr>
              <a:t>                               0.63 – 0.70                  </a:t>
            </a:r>
            <a:r>
              <a:rPr lang="en-US" sz="2200" b="0" i="0" dirty="0">
                <a:effectLst/>
                <a:latin typeface="Times New Roman" panose="02020603050405020304" pitchFamily="18" charset="0"/>
                <a:cs typeface="Times New Roman" panose="02020603050405020304" pitchFamily="18" charset="0"/>
              </a:rPr>
              <a:t>Identifies vegetation species, </a:t>
            </a:r>
            <a:r>
              <a:rPr lang="en-IN" sz="2200" b="0" i="0" dirty="0">
                <a:effectLst/>
                <a:latin typeface="Times New Roman" panose="02020603050405020304" pitchFamily="18" charset="0"/>
                <a:cs typeface="Times New Roman" panose="02020603050405020304" pitchFamily="18" charset="0"/>
              </a:rPr>
              <a:t>land cover classification</a:t>
            </a:r>
            <a:endParaRPr lang="en-IN" sz="2200" dirty="0"/>
          </a:p>
          <a:p>
            <a:pPr marL="0" indent="0">
              <a:buNone/>
            </a:pPr>
            <a:endParaRPr lang="en-IN"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NIR                             </a:t>
            </a:r>
            <a:r>
              <a:rPr lang="en-IN" sz="2200" dirty="0">
                <a:latin typeface="Times New Roman" panose="02020603050405020304" pitchFamily="18" charset="0"/>
                <a:cs typeface="Times New Roman" panose="02020603050405020304" pitchFamily="18" charset="0"/>
              </a:rPr>
              <a:t> 0.76 – 0.90                   </a:t>
            </a:r>
            <a:r>
              <a:rPr lang="en-US" sz="2200" b="0" i="0" dirty="0">
                <a:effectLst/>
                <a:latin typeface="Times New Roman" panose="02020603050405020304" pitchFamily="18" charset="0"/>
                <a:cs typeface="Times New Roman" panose="02020603050405020304" pitchFamily="18" charset="0"/>
              </a:rPr>
              <a:t>Vegetation health assessment, biomass estimation</a:t>
            </a:r>
            <a:r>
              <a:rPr lang="en-IN" sz="2200"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07102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9FF3A-E3F2-BD36-624A-6D69735A1F29}"/>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5886310-9959-4957-D3CA-EEE8771331FC}"/>
              </a:ext>
            </a:extLst>
          </p:cNvPr>
          <p:cNvSpPr>
            <a:spLocks noGrp="1"/>
          </p:cNvSpPr>
          <p:nvPr>
            <p:ph type="ctrTitle"/>
          </p:nvPr>
        </p:nvSpPr>
        <p:spPr>
          <a:xfrm>
            <a:off x="1060940" y="82061"/>
            <a:ext cx="10433535" cy="715108"/>
          </a:xfrm>
        </p:spPr>
        <p:txBody>
          <a:bodyPr/>
          <a:lstStyle/>
          <a:p>
            <a:r>
              <a:rPr lang="en-GB" sz="4400" b="1" dirty="0" err="1">
                <a:solidFill>
                  <a:schemeClr val="tx1">
                    <a:lumMod val="95000"/>
                    <a:lumOff val="5000"/>
                  </a:schemeClr>
                </a:solidFill>
                <a:latin typeface="Times New Roman" panose="02020603050405020304" pitchFamily="18" charset="0"/>
                <a:cs typeface="Times New Roman" panose="02020603050405020304" pitchFamily="18" charset="0"/>
              </a:rPr>
              <a:t>QuickBird</a:t>
            </a:r>
            <a:endParaRPr lang="en-IN" sz="4400" b="1" dirty="0">
              <a:solidFill>
                <a:schemeClr val="tx1">
                  <a:lumMod val="95000"/>
                  <a:lumOff val="5000"/>
                </a:schemeClr>
              </a:solidFill>
            </a:endParaRPr>
          </a:p>
        </p:txBody>
      </p:sp>
      <p:sp>
        <p:nvSpPr>
          <p:cNvPr id="6" name="Content Placeholder 2">
            <a:extLst>
              <a:ext uri="{FF2B5EF4-FFF2-40B4-BE49-F238E27FC236}">
                <a16:creationId xmlns:a16="http://schemas.microsoft.com/office/drawing/2014/main" id="{E03553BC-F9CC-4F35-B37D-9224E2463016}"/>
              </a:ext>
            </a:extLst>
          </p:cNvPr>
          <p:cNvSpPr txBox="1">
            <a:spLocks/>
          </p:cNvSpPr>
          <p:nvPr/>
        </p:nvSpPr>
        <p:spPr>
          <a:xfrm>
            <a:off x="542389" y="2061190"/>
            <a:ext cx="4864257" cy="4391252"/>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err="1">
                <a:latin typeface="Times New Roman" panose="02020603050405020304" pitchFamily="18" charset="0"/>
                <a:cs typeface="Times New Roman" panose="02020603050405020304" pitchFamily="18" charset="0"/>
              </a:rPr>
              <a:t>QuickBird</a:t>
            </a:r>
            <a:r>
              <a:rPr lang="en-GB" dirty="0">
                <a:latin typeface="Times New Roman" panose="02020603050405020304" pitchFamily="18" charset="0"/>
                <a:cs typeface="Times New Roman" panose="02020603050405020304" pitchFamily="18" charset="0"/>
              </a:rPr>
              <a:t>(USA)</a:t>
            </a:r>
          </a:p>
          <a:p>
            <a:r>
              <a:rPr lang="en-GB" dirty="0">
                <a:latin typeface="Times New Roman" panose="02020603050405020304" pitchFamily="18" charset="0"/>
                <a:cs typeface="Times New Roman" panose="02020603050405020304" pitchFamily="18" charset="0"/>
              </a:rPr>
              <a:t>Launched: </a:t>
            </a:r>
            <a:r>
              <a:rPr lang="en-IN" b="0" i="0" dirty="0">
                <a:solidFill>
                  <a:schemeClr val="tx1"/>
                </a:solidFill>
                <a:effectLst/>
                <a:latin typeface="Times New Roman" panose="02020603050405020304" pitchFamily="18" charset="0"/>
                <a:cs typeface="Times New Roman" panose="02020603050405020304" pitchFamily="18" charset="0"/>
              </a:rPr>
              <a:t>October</a:t>
            </a:r>
            <a:r>
              <a:rPr lang="en-GB" dirty="0">
                <a:latin typeface="Times New Roman" panose="02020603050405020304" pitchFamily="18" charset="0"/>
                <a:cs typeface="Times New Roman" panose="02020603050405020304" pitchFamily="18" charset="0"/>
              </a:rPr>
              <a:t> </a:t>
            </a:r>
            <a:r>
              <a:rPr lang="en-IN" b="0" i="0" dirty="0">
                <a:solidFill>
                  <a:srgbClr val="808080"/>
                </a:solidFill>
                <a:effectLst/>
                <a:latin typeface="Cabin"/>
              </a:rPr>
              <a:t> </a:t>
            </a:r>
            <a:r>
              <a:rPr lang="en-IN" b="0" i="0" dirty="0">
                <a:solidFill>
                  <a:schemeClr val="tx1"/>
                </a:solidFill>
                <a:effectLst/>
                <a:latin typeface="Times New Roman" panose="02020603050405020304" pitchFamily="18" charset="0"/>
                <a:cs typeface="Times New Roman" panose="02020603050405020304" pitchFamily="18" charset="0"/>
              </a:rPr>
              <a:t>2001</a:t>
            </a:r>
            <a:endParaRPr lang="en-GB"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a:t>
            </a:r>
            <a:r>
              <a:rPr lang="en-IN" b="0" i="0" dirty="0">
                <a:solidFill>
                  <a:schemeClr val="tx1"/>
                </a:solidFill>
                <a:effectLst/>
                <a:latin typeface="Times New Roman" panose="02020603050405020304" pitchFamily="18" charset="0"/>
                <a:cs typeface="Times New Roman" panose="02020603050405020304" pitchFamily="18" charset="0"/>
              </a:rPr>
              <a:t>ecommissioned: January 2015</a:t>
            </a:r>
            <a:endParaRPr lang="en-GB" dirty="0">
              <a:solidFill>
                <a:schemeClr val="tx1"/>
              </a:solidFill>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Swath Width: 16.8 km </a:t>
            </a:r>
          </a:p>
          <a:p>
            <a:endParaRPr lang="en-GB" dirty="0">
              <a:latin typeface="Times New Roman" panose="02020603050405020304" pitchFamily="18" charset="0"/>
              <a:cs typeface="Times New Roman" panose="02020603050405020304" pitchFamily="18" charset="0"/>
            </a:endParaRPr>
          </a:p>
          <a:p>
            <a:r>
              <a:rPr lang="en-GB" sz="2600" b="1" dirty="0">
                <a:latin typeface="Times New Roman" panose="02020603050405020304" pitchFamily="18" charset="0"/>
                <a:cs typeface="Times New Roman" panose="02020603050405020304" pitchFamily="18" charset="0"/>
              </a:rPr>
              <a:t>Primary Uses</a:t>
            </a:r>
          </a:p>
          <a:p>
            <a:r>
              <a:rPr lang="en-IN" b="0" i="0" dirty="0">
                <a:effectLst/>
                <a:latin typeface="Times New Roman" panose="02020603050405020304" pitchFamily="18" charset="0"/>
                <a:cs typeface="Times New Roman" panose="02020603050405020304" pitchFamily="18" charset="0"/>
              </a:rPr>
              <a:t>Environmental monitoring</a:t>
            </a:r>
            <a:r>
              <a:rPr lang="en-GB" dirty="0">
                <a:latin typeface="Times New Roman" panose="02020603050405020304" pitchFamily="18" charset="0"/>
                <a:cs typeface="Times New Roman" panose="02020603050405020304" pitchFamily="18" charset="0"/>
              </a:rPr>
              <a:t> and </a:t>
            </a:r>
            <a:r>
              <a:rPr lang="en-IN" b="0" i="0" dirty="0">
                <a:effectLst/>
                <a:latin typeface="Times New Roman" panose="02020603050405020304" pitchFamily="18" charset="0"/>
                <a:cs typeface="Times New Roman" panose="02020603050405020304" pitchFamily="18" charset="0"/>
              </a:rPr>
              <a:t>Natural resource exploration</a:t>
            </a:r>
            <a:endParaRPr lang="en-US" b="0" i="0" dirty="0">
              <a:effectLst/>
              <a:latin typeface="Times New Roman" panose="02020603050405020304" pitchFamily="18" charset="0"/>
              <a:cs typeface="Times New Roman" panose="02020603050405020304" pitchFamily="18" charset="0"/>
            </a:endParaRPr>
          </a:p>
          <a:p>
            <a:r>
              <a:rPr lang="en-IN" b="0" i="0" dirty="0">
                <a:effectLst/>
                <a:latin typeface="Times New Roman" panose="02020603050405020304" pitchFamily="18" charset="0"/>
                <a:cs typeface="Times New Roman" panose="02020603050405020304" pitchFamily="18" charset="0"/>
              </a:rPr>
              <a:t>Disaster management and emergency response</a:t>
            </a:r>
            <a:endParaRPr lang="en-GB" dirty="0">
              <a:latin typeface="Times New Roman" panose="02020603050405020304" pitchFamily="18" charset="0"/>
              <a:cs typeface="Times New Roman" panose="02020603050405020304" pitchFamily="18" charset="0"/>
            </a:endParaRPr>
          </a:p>
        </p:txBody>
      </p:sp>
      <p:sp>
        <p:nvSpPr>
          <p:cNvPr id="7" name="Content Placeholder 15">
            <a:extLst>
              <a:ext uri="{FF2B5EF4-FFF2-40B4-BE49-F238E27FC236}">
                <a16:creationId xmlns:a16="http://schemas.microsoft.com/office/drawing/2014/main" id="{19905308-8E26-41C8-8BAB-9BD011381BB8}"/>
              </a:ext>
            </a:extLst>
          </p:cNvPr>
          <p:cNvSpPr txBox="1">
            <a:spLocks/>
          </p:cNvSpPr>
          <p:nvPr/>
        </p:nvSpPr>
        <p:spPr>
          <a:xfrm>
            <a:off x="6096000" y="1933576"/>
            <a:ext cx="4693727" cy="3856978"/>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Multispectral: </a:t>
            </a:r>
            <a:r>
              <a:rPr lang="en-US" b="1" dirty="0">
                <a:latin typeface="Times New Roman" panose="02020603050405020304" pitchFamily="18" charset="0"/>
                <a:cs typeface="Times New Roman" panose="02020603050405020304" pitchFamily="18" charset="0"/>
              </a:rPr>
              <a:t> 2.90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Panchromatic: </a:t>
            </a:r>
            <a:r>
              <a:rPr lang="en-US" b="1" dirty="0">
                <a:latin typeface="Times New Roman" panose="02020603050405020304" pitchFamily="18" charset="0"/>
                <a:cs typeface="Times New Roman" panose="02020603050405020304" pitchFamily="18" charset="0"/>
              </a:rPr>
              <a:t>0.65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Ideal for </a:t>
            </a:r>
            <a:r>
              <a:rPr lang="en-IN" b="0" i="0" dirty="0">
                <a:effectLst/>
                <a:latin typeface="fkGroteskNeue"/>
              </a:rPr>
              <a:t>high-resolution earth observation</a:t>
            </a:r>
            <a:endParaRPr lang="en-IN" b="0" i="0" dirty="0">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8" name="Text Placeholder 16">
            <a:extLst>
              <a:ext uri="{FF2B5EF4-FFF2-40B4-BE49-F238E27FC236}">
                <a16:creationId xmlns:a16="http://schemas.microsoft.com/office/drawing/2014/main" id="{1C9C9A65-7265-4093-8022-D92366C1BB01}"/>
              </a:ext>
            </a:extLst>
          </p:cNvPr>
          <p:cNvSpPr txBox="1">
            <a:spLocks/>
          </p:cNvSpPr>
          <p:nvPr/>
        </p:nvSpPr>
        <p:spPr>
          <a:xfrm>
            <a:off x="542389" y="1449676"/>
            <a:ext cx="4672156"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Platform Details</a:t>
            </a:r>
          </a:p>
        </p:txBody>
      </p:sp>
      <p:sp>
        <p:nvSpPr>
          <p:cNvPr id="9" name="Text Placeholder 6">
            <a:extLst>
              <a:ext uri="{FF2B5EF4-FFF2-40B4-BE49-F238E27FC236}">
                <a16:creationId xmlns:a16="http://schemas.microsoft.com/office/drawing/2014/main" id="{2A4EAA0A-9836-45CD-8DB0-DE1A7118C770}"/>
              </a:ext>
            </a:extLst>
          </p:cNvPr>
          <p:cNvSpPr txBox="1">
            <a:spLocks/>
          </p:cNvSpPr>
          <p:nvPr/>
        </p:nvSpPr>
        <p:spPr>
          <a:xfrm>
            <a:off x="5942154" y="1443690"/>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Spatial Resolution</a:t>
            </a:r>
          </a:p>
        </p:txBody>
      </p:sp>
    </p:spTree>
    <p:extLst>
      <p:ext uri="{BB962C8B-B14F-4D97-AF65-F5344CB8AC3E}">
        <p14:creationId xmlns:p14="http://schemas.microsoft.com/office/powerpoint/2010/main" val="3201310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476C8-AC19-168F-727C-7B6304F9D34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40E7ADD-F60A-E724-B71E-428F0BD97C65}"/>
              </a:ext>
            </a:extLst>
          </p:cNvPr>
          <p:cNvSpPr>
            <a:spLocks noGrp="1"/>
          </p:cNvSpPr>
          <p:nvPr>
            <p:ph type="ctrTitle"/>
          </p:nvPr>
        </p:nvSpPr>
        <p:spPr>
          <a:xfrm>
            <a:off x="975215" y="97190"/>
            <a:ext cx="10433535" cy="715108"/>
          </a:xfrm>
        </p:spPr>
        <p:txBody>
          <a:bodyPr/>
          <a:lstStyle/>
          <a:p>
            <a:r>
              <a:rPr lang="en-IN" sz="4400" b="1" dirty="0">
                <a:solidFill>
                  <a:srgbClr val="002060"/>
                </a:solidFill>
              </a:rPr>
              <a:t>SPECTRAL BAND CONFIGURATION </a:t>
            </a:r>
          </a:p>
        </p:txBody>
      </p:sp>
      <p:sp>
        <p:nvSpPr>
          <p:cNvPr id="29" name="Text Placeholder 6">
            <a:extLst>
              <a:ext uri="{FF2B5EF4-FFF2-40B4-BE49-F238E27FC236}">
                <a16:creationId xmlns:a16="http://schemas.microsoft.com/office/drawing/2014/main" id="{A3DEAFAB-0A65-6549-8C5D-03C489104E0C}"/>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14" name="TextBox 13">
            <a:extLst>
              <a:ext uri="{FF2B5EF4-FFF2-40B4-BE49-F238E27FC236}">
                <a16:creationId xmlns:a16="http://schemas.microsoft.com/office/drawing/2014/main" id="{1D5C265F-C4BC-4018-88D2-76153516B9A3}"/>
              </a:ext>
            </a:extLst>
          </p:cNvPr>
          <p:cNvSpPr txBox="1"/>
          <p:nvPr/>
        </p:nvSpPr>
        <p:spPr>
          <a:xfrm>
            <a:off x="133350" y="1395442"/>
            <a:ext cx="11516261" cy="553369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Band                    Wavelength(µm)                                      Application                                  </a:t>
            </a: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Panchromatic    </a:t>
            </a:r>
            <a:r>
              <a:rPr lang="en-IN" sz="2200" dirty="0">
                <a:latin typeface="Times New Roman" panose="02020603050405020304" pitchFamily="18" charset="0"/>
                <a:cs typeface="Times New Roman" panose="02020603050405020304" pitchFamily="18" charset="0"/>
              </a:rPr>
              <a:t>            0.45 – 0.90                 </a:t>
            </a:r>
            <a:r>
              <a:rPr lang="en-IN" sz="2200" b="0" i="0" dirty="0">
                <a:effectLst/>
                <a:latin typeface="Times New Roman" panose="02020603050405020304" pitchFamily="18" charset="0"/>
                <a:cs typeface="Times New Roman" panose="02020603050405020304" pitchFamily="18" charset="0"/>
              </a:rPr>
              <a:t>Urban infrastructure delineation and monitoring</a:t>
            </a:r>
          </a:p>
          <a:p>
            <a:pPr algn="just">
              <a:lnSpc>
                <a:spcPct val="150000"/>
              </a:lnSpc>
            </a:pPr>
            <a:endParaRPr lang="en-IN"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Blue                              </a:t>
            </a:r>
            <a:r>
              <a:rPr lang="en-IN" sz="2200" dirty="0">
                <a:latin typeface="Times New Roman" panose="02020603050405020304" pitchFamily="18" charset="0"/>
                <a:cs typeface="Times New Roman" panose="02020603050405020304" pitchFamily="18" charset="0"/>
              </a:rPr>
              <a:t>0.45 – 0.52                      </a:t>
            </a:r>
            <a:r>
              <a:rPr lang="en-IN" sz="2200" b="0" i="0" dirty="0">
                <a:effectLst/>
                <a:latin typeface="Times New Roman" panose="02020603050405020304" pitchFamily="18" charset="0"/>
                <a:cs typeface="Times New Roman" panose="02020603050405020304" pitchFamily="18" charset="0"/>
              </a:rPr>
              <a:t>Soil and vegetation discrimination</a:t>
            </a:r>
          </a:p>
          <a:p>
            <a:pPr algn="just">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Green                            </a:t>
            </a:r>
            <a:r>
              <a:rPr lang="en-IN" sz="2200" dirty="0">
                <a:latin typeface="Times New Roman" panose="02020603050405020304" pitchFamily="18" charset="0"/>
                <a:cs typeface="Times New Roman" panose="02020603050405020304" pitchFamily="18" charset="0"/>
              </a:rPr>
              <a:t>0.52 – 0.60                        </a:t>
            </a:r>
            <a:r>
              <a:rPr lang="en-US" sz="2200" b="0" i="0" dirty="0">
                <a:effectLst/>
                <a:latin typeface="Times New Roman" panose="02020603050405020304" pitchFamily="18" charset="0"/>
                <a:cs typeface="Times New Roman" panose="02020603050405020304" pitchFamily="18" charset="0"/>
              </a:rPr>
              <a:t>Forest cover and biomass estimation</a:t>
            </a:r>
          </a:p>
          <a:p>
            <a:pPr algn="l">
              <a:lnSpc>
                <a:spcPct val="150000"/>
              </a:lnSpc>
              <a:buFont typeface="Arial" panose="020B0604020202020204" pitchFamily="34" charset="0"/>
              <a:buChar char="•"/>
            </a:pPr>
            <a:endParaRPr lang="en-US" sz="2200" b="0" i="0" dirty="0">
              <a:effectLst/>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Red</a:t>
            </a:r>
            <a:r>
              <a:rPr lang="en-IN" sz="2200" dirty="0">
                <a:latin typeface="Times New Roman" panose="02020603050405020304" pitchFamily="18" charset="0"/>
                <a:cs typeface="Times New Roman" panose="02020603050405020304" pitchFamily="18" charset="0"/>
              </a:rPr>
              <a:t>                               0.63 – 0.70                 </a:t>
            </a:r>
            <a:r>
              <a:rPr lang="en-US" sz="2200" b="0" i="0" dirty="0">
                <a:effectLst/>
                <a:latin typeface="Times New Roman" panose="02020603050405020304" pitchFamily="18" charset="0"/>
                <a:cs typeface="Times New Roman" panose="02020603050405020304" pitchFamily="18" charset="0"/>
              </a:rPr>
              <a:t>Land cover classification and soil discrimination</a:t>
            </a:r>
          </a:p>
          <a:p>
            <a:pPr algn="l">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NIR                             </a:t>
            </a:r>
            <a:r>
              <a:rPr lang="en-IN" sz="2200" dirty="0">
                <a:latin typeface="Times New Roman" panose="02020603050405020304" pitchFamily="18" charset="0"/>
                <a:cs typeface="Times New Roman" panose="02020603050405020304" pitchFamily="18" charset="0"/>
              </a:rPr>
              <a:t> 0.76 – 0.90                </a:t>
            </a:r>
            <a:r>
              <a:rPr lang="en-US" sz="2200" b="0" i="0" dirty="0">
                <a:effectLst/>
                <a:latin typeface="Times New Roman" panose="02020603050405020304" pitchFamily="18" charset="0"/>
                <a:cs typeface="Times New Roman" panose="02020603050405020304" pitchFamily="18" charset="0"/>
              </a:rPr>
              <a:t>Water body boundaries and sediment detection</a:t>
            </a:r>
          </a:p>
          <a:p>
            <a:pPr>
              <a:lnSpc>
                <a:spcPct val="150000"/>
              </a:lnSpc>
              <a:buFont typeface="Arial" panose="020B0604020202020204" pitchFamily="34" charset="0"/>
              <a:buChar char="•"/>
            </a:pPr>
            <a:endParaRPr lang="en-IN" sz="2200" dirty="0"/>
          </a:p>
        </p:txBody>
      </p:sp>
    </p:spTree>
    <p:extLst>
      <p:ext uri="{BB962C8B-B14F-4D97-AF65-F5344CB8AC3E}">
        <p14:creationId xmlns:p14="http://schemas.microsoft.com/office/powerpoint/2010/main" val="3316588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0DCAF-1366-68AB-2D35-298E0688B30F}"/>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E62F0F73-28A7-2A55-D38C-519294CCE5D6}"/>
              </a:ext>
            </a:extLst>
          </p:cNvPr>
          <p:cNvSpPr>
            <a:spLocks noGrp="1"/>
          </p:cNvSpPr>
          <p:nvPr>
            <p:ph type="ctrTitle"/>
          </p:nvPr>
        </p:nvSpPr>
        <p:spPr>
          <a:xfrm>
            <a:off x="1060940" y="82061"/>
            <a:ext cx="10433535" cy="715108"/>
          </a:xfrm>
        </p:spPr>
        <p:txBody>
          <a:bodyPr/>
          <a:lstStyle/>
          <a:p>
            <a:r>
              <a:rPr lang="en-IN" sz="4400" b="1" dirty="0">
                <a:solidFill>
                  <a:srgbClr val="002060"/>
                </a:solidFill>
              </a:rPr>
              <a:t>WorldView-2</a:t>
            </a:r>
          </a:p>
        </p:txBody>
      </p:sp>
      <p:sp>
        <p:nvSpPr>
          <p:cNvPr id="13" name="Content Placeholder 2">
            <a:extLst>
              <a:ext uri="{FF2B5EF4-FFF2-40B4-BE49-F238E27FC236}">
                <a16:creationId xmlns:a16="http://schemas.microsoft.com/office/drawing/2014/main" id="{68A1D24D-9010-4728-AB5C-0F97B400FC8B}"/>
              </a:ext>
            </a:extLst>
          </p:cNvPr>
          <p:cNvSpPr txBox="1">
            <a:spLocks/>
          </p:cNvSpPr>
          <p:nvPr/>
        </p:nvSpPr>
        <p:spPr>
          <a:xfrm>
            <a:off x="542389" y="2289790"/>
            <a:ext cx="4864257" cy="4391252"/>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latin typeface="Times New Roman" panose="02020603050405020304" pitchFamily="18" charset="0"/>
                <a:cs typeface="Times New Roman" panose="02020603050405020304" pitchFamily="18" charset="0"/>
              </a:rPr>
              <a:t>WorldView-2</a:t>
            </a:r>
            <a:r>
              <a:rPr lang="en-GB" dirty="0">
                <a:latin typeface="Times New Roman" panose="02020603050405020304" pitchFamily="18" charset="0"/>
                <a:cs typeface="Times New Roman" panose="02020603050405020304" pitchFamily="18" charset="0"/>
              </a:rPr>
              <a:t>(USA)</a:t>
            </a:r>
          </a:p>
          <a:p>
            <a:r>
              <a:rPr lang="en-GB" dirty="0">
                <a:latin typeface="Times New Roman" panose="02020603050405020304" pitchFamily="18" charset="0"/>
                <a:cs typeface="Times New Roman" panose="02020603050405020304" pitchFamily="18" charset="0"/>
              </a:rPr>
              <a:t>Launched: </a:t>
            </a:r>
            <a:r>
              <a:rPr lang="en-IN" b="0" i="0" dirty="0">
                <a:solidFill>
                  <a:schemeClr val="tx1"/>
                </a:solidFill>
                <a:effectLst/>
                <a:latin typeface="Times New Roman" panose="02020603050405020304" pitchFamily="18" charset="0"/>
                <a:cs typeface="Times New Roman" panose="02020603050405020304" pitchFamily="18" charset="0"/>
              </a:rPr>
              <a:t>October</a:t>
            </a:r>
            <a:r>
              <a:rPr lang="en-IN" b="0" i="0" dirty="0">
                <a:solidFill>
                  <a:srgbClr val="808080"/>
                </a:solidFill>
                <a:effectLst/>
                <a:latin typeface="Cabin"/>
              </a:rPr>
              <a:t> </a:t>
            </a:r>
            <a:r>
              <a:rPr lang="en-IN" b="0" i="0" dirty="0">
                <a:solidFill>
                  <a:schemeClr val="tx1">
                    <a:lumMod val="95000"/>
                    <a:lumOff val="5000"/>
                  </a:schemeClr>
                </a:solidFill>
                <a:effectLst/>
                <a:latin typeface="Times New Roman" panose="02020603050405020304" pitchFamily="18" charset="0"/>
                <a:cs typeface="Times New Roman" panose="02020603050405020304" pitchFamily="18" charset="0"/>
              </a:rPr>
              <a:t>2009</a:t>
            </a:r>
            <a:endParaRPr lang="en-GB" dirty="0">
              <a:solidFill>
                <a:schemeClr val="tx1"/>
              </a:solidFill>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Swath Width: 16.4 km </a:t>
            </a:r>
          </a:p>
          <a:p>
            <a:endParaRPr lang="en-GB" dirty="0">
              <a:latin typeface="Times New Roman" panose="02020603050405020304" pitchFamily="18" charset="0"/>
              <a:cs typeface="Times New Roman" panose="02020603050405020304" pitchFamily="18" charset="0"/>
            </a:endParaRPr>
          </a:p>
          <a:p>
            <a:r>
              <a:rPr lang="en-GB" sz="2600" b="1" dirty="0">
                <a:latin typeface="Times New Roman" panose="02020603050405020304" pitchFamily="18" charset="0"/>
                <a:cs typeface="Times New Roman" panose="02020603050405020304" pitchFamily="18" charset="0"/>
              </a:rPr>
              <a:t>Primary Uses</a:t>
            </a:r>
          </a:p>
          <a:p>
            <a:r>
              <a:rPr lang="en-IN" sz="2600" b="0" i="0" dirty="0">
                <a:effectLst/>
                <a:latin typeface="Times New Roman" panose="02020603050405020304" pitchFamily="18" charset="0"/>
                <a:cs typeface="Times New Roman" panose="02020603050405020304" pitchFamily="18" charset="0"/>
              </a:rPr>
              <a:t>Generation of Digital Terrain Models</a:t>
            </a:r>
            <a:r>
              <a:rPr lang="en-GB" sz="2600" dirty="0">
                <a:latin typeface="Times New Roman" panose="02020603050405020304" pitchFamily="18" charset="0"/>
                <a:cs typeface="Times New Roman" panose="02020603050405020304" pitchFamily="18" charset="0"/>
              </a:rPr>
              <a:t> and </a:t>
            </a:r>
            <a:r>
              <a:rPr lang="en-US" sz="2600" b="0" i="0" dirty="0">
                <a:effectLst/>
                <a:latin typeface="Times New Roman" panose="02020603050405020304" pitchFamily="18" charset="0"/>
                <a:cs typeface="Times New Roman" panose="02020603050405020304" pitchFamily="18" charset="0"/>
              </a:rPr>
              <a:t>Crop monitoring and yield forecasting</a:t>
            </a:r>
          </a:p>
          <a:p>
            <a:r>
              <a:rPr lang="en-US" sz="2600" b="0" i="0" dirty="0">
                <a:effectLst/>
                <a:latin typeface="Times New Roman" panose="02020603050405020304" pitchFamily="18" charset="0"/>
                <a:cs typeface="Times New Roman" panose="02020603050405020304" pitchFamily="18" charset="0"/>
              </a:rPr>
              <a:t>Forest inventory and forest management</a:t>
            </a:r>
            <a:endParaRPr lang="en-GB" sz="2600" dirty="0">
              <a:latin typeface="Times New Roman" panose="02020603050405020304" pitchFamily="18" charset="0"/>
              <a:cs typeface="Times New Roman" panose="02020603050405020304" pitchFamily="18" charset="0"/>
            </a:endParaRPr>
          </a:p>
        </p:txBody>
      </p:sp>
      <p:sp>
        <p:nvSpPr>
          <p:cNvPr id="14" name="Content Placeholder 15">
            <a:extLst>
              <a:ext uri="{FF2B5EF4-FFF2-40B4-BE49-F238E27FC236}">
                <a16:creationId xmlns:a16="http://schemas.microsoft.com/office/drawing/2014/main" id="{A1BB140E-5BB2-44E8-8771-68ED33BFAC63}"/>
              </a:ext>
            </a:extLst>
          </p:cNvPr>
          <p:cNvSpPr txBox="1">
            <a:spLocks/>
          </p:cNvSpPr>
          <p:nvPr/>
        </p:nvSpPr>
        <p:spPr>
          <a:xfrm>
            <a:off x="6096000" y="1933576"/>
            <a:ext cx="4693727" cy="3856978"/>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Multispectral: </a:t>
            </a:r>
            <a:r>
              <a:rPr lang="en-US" b="1" dirty="0">
                <a:latin typeface="Times New Roman" panose="02020603050405020304" pitchFamily="18" charset="0"/>
                <a:cs typeface="Times New Roman" panose="02020603050405020304" pitchFamily="18" charset="0"/>
              </a:rPr>
              <a:t>1.84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Panchromatic: </a:t>
            </a:r>
            <a:r>
              <a:rPr lang="en-US" b="1" dirty="0">
                <a:latin typeface="Times New Roman" panose="02020603050405020304" pitchFamily="18" charset="0"/>
                <a:cs typeface="Times New Roman" panose="02020603050405020304" pitchFamily="18" charset="0"/>
              </a:rPr>
              <a:t>0.46 meters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Ideal for </a:t>
            </a:r>
            <a:r>
              <a:rPr lang="en-IN" b="0" i="0" dirty="0">
                <a:effectLst/>
                <a:latin typeface="fkGroteskNeue"/>
              </a:rPr>
              <a:t>high-resolution </a:t>
            </a:r>
            <a:r>
              <a:rPr lang="en-US" b="0" i="0" dirty="0">
                <a:effectLst/>
                <a:latin typeface="Times New Roman" panose="02020603050405020304" pitchFamily="18" charset="0"/>
                <a:cs typeface="Times New Roman" panose="02020603050405020304" pitchFamily="18" charset="0"/>
              </a:rPr>
              <a:t>urban planning and infrastructure monitoring,</a:t>
            </a:r>
            <a:r>
              <a:rPr lang="en-US" b="0" i="0" dirty="0">
                <a:effectLst/>
                <a:latin typeface="fkGroteskNeue"/>
              </a:rPr>
              <a:t> </a:t>
            </a:r>
            <a:r>
              <a:rPr lang="en-US" b="0" i="0" dirty="0">
                <a:effectLst/>
                <a:latin typeface="Times New Roman" panose="02020603050405020304" pitchFamily="18" charset="0"/>
                <a:cs typeface="Times New Roman" panose="02020603050405020304" pitchFamily="18" charset="0"/>
              </a:rPr>
              <a:t>road networks, buildings, and utilities</a:t>
            </a:r>
            <a:endParaRPr lang="en-IN" b="0" i="0" dirty="0">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5" name="Text Placeholder 16">
            <a:extLst>
              <a:ext uri="{FF2B5EF4-FFF2-40B4-BE49-F238E27FC236}">
                <a16:creationId xmlns:a16="http://schemas.microsoft.com/office/drawing/2014/main" id="{4A30F1BD-72E3-4E68-8424-489348B59942}"/>
              </a:ext>
            </a:extLst>
          </p:cNvPr>
          <p:cNvSpPr txBox="1">
            <a:spLocks/>
          </p:cNvSpPr>
          <p:nvPr/>
        </p:nvSpPr>
        <p:spPr>
          <a:xfrm>
            <a:off x="542389" y="1449676"/>
            <a:ext cx="4672156"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Platform Details</a:t>
            </a:r>
          </a:p>
        </p:txBody>
      </p:sp>
      <p:sp>
        <p:nvSpPr>
          <p:cNvPr id="16" name="Text Placeholder 6">
            <a:extLst>
              <a:ext uri="{FF2B5EF4-FFF2-40B4-BE49-F238E27FC236}">
                <a16:creationId xmlns:a16="http://schemas.microsoft.com/office/drawing/2014/main" id="{2AB3CA0C-D15A-4213-9C79-12F344399A06}"/>
              </a:ext>
            </a:extLst>
          </p:cNvPr>
          <p:cNvSpPr txBox="1">
            <a:spLocks/>
          </p:cNvSpPr>
          <p:nvPr/>
        </p:nvSpPr>
        <p:spPr>
          <a:xfrm>
            <a:off x="5942154" y="1443690"/>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Spatial Resolution</a:t>
            </a:r>
          </a:p>
        </p:txBody>
      </p:sp>
    </p:spTree>
    <p:extLst>
      <p:ext uri="{BB962C8B-B14F-4D97-AF65-F5344CB8AC3E}">
        <p14:creationId xmlns:p14="http://schemas.microsoft.com/office/powerpoint/2010/main" val="725201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FAB2-C378-B5E4-223A-15A66A74CD39}"/>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4DF354A4-4135-BD63-D21A-08BBEB5BE4DC}"/>
              </a:ext>
            </a:extLst>
          </p:cNvPr>
          <p:cNvSpPr>
            <a:spLocks noGrp="1"/>
          </p:cNvSpPr>
          <p:nvPr>
            <p:ph type="ctrTitle"/>
          </p:nvPr>
        </p:nvSpPr>
        <p:spPr>
          <a:xfrm>
            <a:off x="1060940" y="82061"/>
            <a:ext cx="10433535" cy="715108"/>
          </a:xfrm>
        </p:spPr>
        <p:txBody>
          <a:bodyPr/>
          <a:lstStyle/>
          <a:p>
            <a:r>
              <a:rPr lang="en-IN" sz="4400" b="1" dirty="0">
                <a:solidFill>
                  <a:srgbClr val="002060"/>
                </a:solidFill>
              </a:rPr>
              <a:t>SPECTRAL BAND CONFIGURATION </a:t>
            </a:r>
          </a:p>
        </p:txBody>
      </p:sp>
      <p:sp>
        <p:nvSpPr>
          <p:cNvPr id="6" name="TextBox 5">
            <a:extLst>
              <a:ext uri="{FF2B5EF4-FFF2-40B4-BE49-F238E27FC236}">
                <a16:creationId xmlns:a16="http://schemas.microsoft.com/office/drawing/2014/main" id="{FE01DCAC-9495-4D5E-A0C8-9FD598F335BF}"/>
              </a:ext>
            </a:extLst>
          </p:cNvPr>
          <p:cNvSpPr txBox="1"/>
          <p:nvPr/>
        </p:nvSpPr>
        <p:spPr>
          <a:xfrm>
            <a:off x="0" y="797169"/>
            <a:ext cx="11658600" cy="6125523"/>
          </a:xfrm>
          <a:prstGeom prst="rect">
            <a:avLst/>
          </a:prstGeom>
          <a:noFill/>
        </p:spPr>
        <p:txBody>
          <a:bodyPr wrap="square">
            <a:spAutoFit/>
          </a:bodyPr>
          <a:lstStyle/>
          <a:p>
            <a:pPr>
              <a:lnSpc>
                <a:spcPct val="150000"/>
              </a:lnSpc>
            </a:pPr>
            <a:r>
              <a:rPr lang="en-IN" sz="2200" b="1" dirty="0">
                <a:latin typeface="Times New Roman" panose="02020603050405020304" pitchFamily="18" charset="0"/>
                <a:cs typeface="Times New Roman" panose="02020603050405020304" pitchFamily="18" charset="0"/>
              </a:rPr>
              <a:t>Band                    Wavelength(µm)                                      Application  </a:t>
            </a:r>
          </a:p>
          <a:p>
            <a:pPr>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Panchromatic    </a:t>
            </a:r>
            <a:r>
              <a:rPr lang="en-IN" sz="2200" dirty="0">
                <a:latin typeface="Times New Roman" panose="02020603050405020304" pitchFamily="18" charset="0"/>
                <a:cs typeface="Times New Roman" panose="02020603050405020304" pitchFamily="18" charset="0"/>
              </a:rPr>
              <a:t>            0.45 – 0.80                </a:t>
            </a:r>
            <a:r>
              <a:rPr lang="en-US" sz="2200" b="0" i="0" dirty="0">
                <a:effectLst/>
                <a:latin typeface="Times New Roman" panose="02020603050405020304" pitchFamily="18" charset="0"/>
                <a:cs typeface="Times New Roman" panose="02020603050405020304" pitchFamily="18" charset="0"/>
              </a:rPr>
              <a:t>High-resolution grayscale imagery for detailed mapping</a:t>
            </a:r>
            <a:endParaRPr lang="en-IN" sz="2200" b="0" i="0" dirty="0">
              <a:effectLst/>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Coastal                          0.40 – 0.45                </a:t>
            </a:r>
            <a:r>
              <a:rPr lang="en-US" sz="2200" b="0" i="0" dirty="0">
                <a:effectLst/>
                <a:latin typeface="Times New Roman" panose="02020603050405020304" pitchFamily="18" charset="0"/>
                <a:cs typeface="Times New Roman" panose="02020603050405020304" pitchFamily="18" charset="0"/>
              </a:rPr>
              <a:t>Coastal and shallow water bathymetry mapping</a:t>
            </a:r>
            <a:endParaRPr lang="en-IN"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Blue                              </a:t>
            </a:r>
            <a:r>
              <a:rPr lang="en-IN" sz="2200" dirty="0">
                <a:latin typeface="Times New Roman" panose="02020603050405020304" pitchFamily="18" charset="0"/>
                <a:cs typeface="Times New Roman" panose="02020603050405020304" pitchFamily="18" charset="0"/>
              </a:rPr>
              <a:t>0.45 – 0.52                      </a:t>
            </a:r>
            <a:r>
              <a:rPr lang="en-IN" sz="2200" b="0" i="0" dirty="0">
                <a:effectLst/>
                <a:latin typeface="Times New Roman" panose="02020603050405020304" pitchFamily="18" charset="0"/>
                <a:cs typeface="Times New Roman" panose="02020603050405020304" pitchFamily="18" charset="0"/>
              </a:rPr>
              <a:t>Soil and vegetation discrimination</a:t>
            </a:r>
            <a:endParaRPr lang="en-IN"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Green                            </a:t>
            </a:r>
            <a:r>
              <a:rPr lang="en-IN" sz="2200" dirty="0">
                <a:latin typeface="Times New Roman" panose="02020603050405020304" pitchFamily="18" charset="0"/>
                <a:cs typeface="Times New Roman" panose="02020603050405020304" pitchFamily="18" charset="0"/>
              </a:rPr>
              <a:t>0.52 – 0.60                        </a:t>
            </a:r>
            <a:r>
              <a:rPr lang="en-US" sz="2200" b="0" i="0" dirty="0">
                <a:effectLst/>
                <a:latin typeface="Times New Roman" panose="02020603050405020304" pitchFamily="18" charset="0"/>
                <a:cs typeface="Times New Roman" panose="02020603050405020304" pitchFamily="18" charset="0"/>
              </a:rPr>
              <a:t>Forest cover and biomass estimation</a:t>
            </a:r>
            <a:endParaRPr lang="en-US"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Yellow</a:t>
            </a:r>
            <a:r>
              <a:rPr lang="en-US" sz="2200" i="0" dirty="0">
                <a:effectLst/>
                <a:latin typeface="Times New Roman" panose="02020603050405020304" pitchFamily="18" charset="0"/>
                <a:cs typeface="Times New Roman" panose="02020603050405020304" pitchFamily="18" charset="0"/>
              </a:rPr>
              <a:t>                          0.58 – 0.62                </a:t>
            </a:r>
            <a:r>
              <a:rPr lang="en-US" sz="2200" b="0" i="0" dirty="0">
                <a:effectLst/>
                <a:latin typeface="Times New Roman" panose="02020603050405020304" pitchFamily="18" charset="0"/>
                <a:cs typeface="Times New Roman" panose="02020603050405020304" pitchFamily="18" charset="0"/>
              </a:rPr>
              <a:t>Crop maturity and stress monitoring</a:t>
            </a: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Red</a:t>
            </a:r>
            <a:r>
              <a:rPr lang="en-IN" sz="2200" dirty="0">
                <a:latin typeface="Times New Roman" panose="02020603050405020304" pitchFamily="18" charset="0"/>
                <a:cs typeface="Times New Roman" panose="02020603050405020304" pitchFamily="18" charset="0"/>
              </a:rPr>
              <a:t>                               0.63 – 0.70                 </a:t>
            </a:r>
            <a:r>
              <a:rPr lang="en-US" sz="2200" b="0" i="0" dirty="0">
                <a:effectLst/>
                <a:latin typeface="Times New Roman" panose="02020603050405020304" pitchFamily="18" charset="0"/>
                <a:cs typeface="Times New Roman" panose="02020603050405020304" pitchFamily="18" charset="0"/>
              </a:rPr>
              <a:t>Land cover classification and soil discrimination</a:t>
            </a:r>
            <a:endParaRPr lang="en-US"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Red-edge                      0.70 – 0.74                 </a:t>
            </a:r>
            <a:r>
              <a:rPr lang="en-US" sz="2200" b="0" i="0" dirty="0">
                <a:effectLst/>
                <a:latin typeface="Times New Roman" panose="02020603050405020304" pitchFamily="18" charset="0"/>
                <a:cs typeface="Times New Roman" panose="02020603050405020304" pitchFamily="18" charset="0"/>
              </a:rPr>
              <a:t>Sensitive to chlorophyll content for crop health</a:t>
            </a:r>
            <a:endParaRPr lang="en-IN"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NIR 1                           </a:t>
            </a:r>
            <a:r>
              <a:rPr lang="en-IN" sz="2200" dirty="0">
                <a:latin typeface="Times New Roman" panose="02020603050405020304" pitchFamily="18" charset="0"/>
                <a:cs typeface="Times New Roman" panose="02020603050405020304" pitchFamily="18" charset="0"/>
              </a:rPr>
              <a:t> 0.77 – 0.89                </a:t>
            </a:r>
            <a:r>
              <a:rPr lang="en-US" sz="2200" b="0" i="0" dirty="0">
                <a:effectLst/>
                <a:latin typeface="Times New Roman" panose="02020603050405020304" pitchFamily="18" charset="0"/>
                <a:cs typeface="Times New Roman" panose="02020603050405020304" pitchFamily="18" charset="0"/>
              </a:rPr>
              <a:t>Vegetation biomass and health monitoring</a:t>
            </a:r>
          </a:p>
          <a:p>
            <a:pPr algn="l">
              <a:lnSpc>
                <a:spcPct val="150000"/>
              </a:lnSpc>
              <a:buFont typeface="Arial" panose="020B0604020202020204" pitchFamily="34" charset="0"/>
              <a:buChar char="•"/>
            </a:pPr>
            <a:r>
              <a:rPr lang="en-IN" sz="2200" i="0" dirty="0">
                <a:effectLst/>
                <a:latin typeface="Times New Roman" panose="02020603050405020304" pitchFamily="18" charset="0"/>
                <a:cs typeface="Times New Roman" panose="02020603050405020304" pitchFamily="18" charset="0"/>
              </a:rPr>
              <a:t>NIR2                             0.86 – 1.04         </a:t>
            </a:r>
            <a:r>
              <a:rPr lang="en-US" sz="2200" b="0" i="0" dirty="0">
                <a:effectLst/>
                <a:latin typeface="Times New Roman" panose="02020603050405020304" pitchFamily="18" charset="0"/>
                <a:cs typeface="Times New Roman" panose="02020603050405020304" pitchFamily="18" charset="0"/>
              </a:rPr>
              <a:t>Enhanced vegetation discrimination and biomass assessment</a:t>
            </a:r>
          </a:p>
          <a:p>
            <a:pPr>
              <a:lnSpc>
                <a:spcPct val="150000"/>
              </a:lnSpc>
            </a:pPr>
            <a:br>
              <a:rPr lang="en-US"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3465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5A7DB-70DE-E268-E0BB-84B4A227ED49}"/>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4145B0F-27C1-2FCB-5B7C-DDA4BEA76254}"/>
              </a:ext>
            </a:extLst>
          </p:cNvPr>
          <p:cNvSpPr>
            <a:spLocks noGrp="1"/>
          </p:cNvSpPr>
          <p:nvPr>
            <p:ph type="ctrTitle"/>
          </p:nvPr>
        </p:nvSpPr>
        <p:spPr>
          <a:xfrm>
            <a:off x="1060940" y="82061"/>
            <a:ext cx="10433535" cy="715108"/>
          </a:xfrm>
        </p:spPr>
        <p:txBody>
          <a:bodyPr/>
          <a:lstStyle/>
          <a:p>
            <a:r>
              <a:rPr lang="en-IN" sz="4400" b="1" dirty="0"/>
              <a:t>WorldView-3</a:t>
            </a:r>
            <a:endParaRPr lang="en-IN" sz="4400" b="1" dirty="0">
              <a:solidFill>
                <a:srgbClr val="002060"/>
              </a:solidFill>
            </a:endParaRPr>
          </a:p>
        </p:txBody>
      </p:sp>
      <p:sp>
        <p:nvSpPr>
          <p:cNvPr id="29" name="Text Placeholder 6">
            <a:extLst>
              <a:ext uri="{FF2B5EF4-FFF2-40B4-BE49-F238E27FC236}">
                <a16:creationId xmlns:a16="http://schemas.microsoft.com/office/drawing/2014/main" id="{CD2E848B-89B7-726D-DCDF-460C6F03C78A}"/>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7" name="Content Placeholder 2">
            <a:extLst>
              <a:ext uri="{FF2B5EF4-FFF2-40B4-BE49-F238E27FC236}">
                <a16:creationId xmlns:a16="http://schemas.microsoft.com/office/drawing/2014/main" id="{9A22BD38-CBB2-43F3-B50C-0EA2AAF92B45}"/>
              </a:ext>
            </a:extLst>
          </p:cNvPr>
          <p:cNvSpPr txBox="1">
            <a:spLocks/>
          </p:cNvSpPr>
          <p:nvPr/>
        </p:nvSpPr>
        <p:spPr>
          <a:xfrm>
            <a:off x="542389" y="2289790"/>
            <a:ext cx="4864257" cy="4391252"/>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latin typeface="Times New Roman" panose="02020603050405020304" pitchFamily="18" charset="0"/>
                <a:cs typeface="Times New Roman" panose="02020603050405020304" pitchFamily="18" charset="0"/>
              </a:rPr>
              <a:t>WorldView-3</a:t>
            </a:r>
            <a:r>
              <a:rPr lang="en-GB" dirty="0">
                <a:latin typeface="Times New Roman" panose="02020603050405020304" pitchFamily="18" charset="0"/>
                <a:cs typeface="Times New Roman" panose="02020603050405020304" pitchFamily="18" charset="0"/>
              </a:rPr>
              <a:t>(USA)</a:t>
            </a:r>
          </a:p>
          <a:p>
            <a:r>
              <a:rPr lang="en-GB" dirty="0">
                <a:latin typeface="Times New Roman" panose="02020603050405020304" pitchFamily="18" charset="0"/>
                <a:cs typeface="Times New Roman" panose="02020603050405020304" pitchFamily="18" charset="0"/>
              </a:rPr>
              <a:t>Launched: </a:t>
            </a:r>
            <a:r>
              <a:rPr lang="en-IN" b="0" i="0" dirty="0">
                <a:solidFill>
                  <a:schemeClr val="tx1">
                    <a:lumMod val="95000"/>
                    <a:lumOff val="5000"/>
                  </a:schemeClr>
                </a:solidFill>
                <a:effectLst/>
                <a:latin typeface="Times New Roman" panose="02020603050405020304" pitchFamily="18" charset="0"/>
                <a:cs typeface="Times New Roman" panose="02020603050405020304" pitchFamily="18" charset="0"/>
              </a:rPr>
              <a:t>August</a:t>
            </a:r>
            <a:r>
              <a:rPr lang="en-IN" b="0" i="0" dirty="0">
                <a:solidFill>
                  <a:srgbClr val="808080"/>
                </a:solidFill>
                <a:effectLst/>
                <a:latin typeface="Cabin"/>
              </a:rPr>
              <a:t> </a:t>
            </a:r>
            <a:r>
              <a:rPr lang="en-IN" b="0" i="0" dirty="0">
                <a:solidFill>
                  <a:schemeClr val="tx1">
                    <a:lumMod val="95000"/>
                    <a:lumOff val="5000"/>
                  </a:schemeClr>
                </a:solidFill>
                <a:effectLst/>
                <a:latin typeface="Times New Roman" panose="02020603050405020304" pitchFamily="18" charset="0"/>
                <a:cs typeface="Times New Roman" panose="02020603050405020304" pitchFamily="18" charset="0"/>
              </a:rPr>
              <a:t>2014</a:t>
            </a:r>
            <a:endParaRPr lang="en-GB" dirty="0">
              <a:solidFill>
                <a:schemeClr val="tx1"/>
              </a:solidFill>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Swath Width: 13.1 km </a:t>
            </a:r>
          </a:p>
          <a:p>
            <a:endParaRPr lang="en-GB" dirty="0">
              <a:latin typeface="Times New Roman" panose="02020603050405020304" pitchFamily="18" charset="0"/>
              <a:cs typeface="Times New Roman" panose="02020603050405020304" pitchFamily="18" charset="0"/>
            </a:endParaRPr>
          </a:p>
          <a:p>
            <a:r>
              <a:rPr lang="en-GB" sz="2600" b="1" dirty="0">
                <a:latin typeface="Times New Roman" panose="02020603050405020304" pitchFamily="18" charset="0"/>
                <a:cs typeface="Times New Roman" panose="02020603050405020304" pitchFamily="18" charset="0"/>
              </a:rPr>
              <a:t>Primary Uses</a:t>
            </a:r>
          </a:p>
          <a:p>
            <a:r>
              <a:rPr lang="en-IN" sz="2200" b="0" i="0" dirty="0">
                <a:effectLst/>
                <a:latin typeface="Times New Roman" panose="02020603050405020304" pitchFamily="18" charset="0"/>
                <a:cs typeface="Times New Roman" panose="02020603050405020304" pitchFamily="18" charset="0"/>
              </a:rPr>
              <a:t>Environmental monitoring</a:t>
            </a:r>
            <a:r>
              <a:rPr lang="en-GB" sz="2200" dirty="0">
                <a:latin typeface="Times New Roman" panose="02020603050405020304" pitchFamily="18" charset="0"/>
                <a:cs typeface="Times New Roman" panose="02020603050405020304" pitchFamily="18" charset="0"/>
              </a:rPr>
              <a:t> and </a:t>
            </a:r>
            <a:r>
              <a:rPr lang="en-US" sz="2200" b="0" i="0" dirty="0">
                <a:effectLst/>
                <a:latin typeface="Times New Roman" panose="02020603050405020304" pitchFamily="18" charset="0"/>
                <a:cs typeface="Times New Roman" panose="02020603050405020304" pitchFamily="18" charset="0"/>
              </a:rPr>
              <a:t>Mineral and geological mapping enabled by SWIR bands</a:t>
            </a:r>
          </a:p>
          <a:p>
            <a:r>
              <a:rPr lang="en-US" sz="2200" b="0" i="0" dirty="0">
                <a:effectLst/>
                <a:latin typeface="Times New Roman" panose="02020603050405020304" pitchFamily="18" charset="0"/>
                <a:cs typeface="Times New Roman" panose="02020603050405020304" pitchFamily="18" charset="0"/>
              </a:rPr>
              <a:t>CAVIS sensor bands that monitor clouds, aerosols, vapors, ice, and snow</a:t>
            </a:r>
            <a:endParaRPr lang="en-GB" sz="2200" dirty="0">
              <a:latin typeface="Times New Roman" panose="02020603050405020304" pitchFamily="18" charset="0"/>
              <a:cs typeface="Times New Roman" panose="02020603050405020304" pitchFamily="18" charset="0"/>
            </a:endParaRPr>
          </a:p>
        </p:txBody>
      </p:sp>
      <p:sp>
        <p:nvSpPr>
          <p:cNvPr id="9" name="Content Placeholder 15">
            <a:extLst>
              <a:ext uri="{FF2B5EF4-FFF2-40B4-BE49-F238E27FC236}">
                <a16:creationId xmlns:a16="http://schemas.microsoft.com/office/drawing/2014/main" id="{D124DDFB-C997-40F5-81A0-6ACCA2B4ED52}"/>
              </a:ext>
            </a:extLst>
          </p:cNvPr>
          <p:cNvSpPr txBox="1">
            <a:spLocks/>
          </p:cNvSpPr>
          <p:nvPr/>
        </p:nvSpPr>
        <p:spPr>
          <a:xfrm>
            <a:off x="6096000" y="1933576"/>
            <a:ext cx="4693727" cy="3856978"/>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Multispectral: </a:t>
            </a:r>
            <a:r>
              <a:rPr lang="en-US" b="1" dirty="0">
                <a:latin typeface="Times New Roman" panose="02020603050405020304" pitchFamily="18" charset="0"/>
                <a:cs typeface="Times New Roman" panose="02020603050405020304" pitchFamily="18" charset="0"/>
              </a:rPr>
              <a:t>1.24 meters</a:t>
            </a:r>
          </a:p>
          <a:p>
            <a:r>
              <a:rPr lang="en-US" dirty="0">
                <a:latin typeface="Times New Roman" panose="02020603050405020304" pitchFamily="18" charset="0"/>
                <a:cs typeface="Times New Roman" panose="02020603050405020304" pitchFamily="18" charset="0"/>
              </a:rPr>
              <a:t>SWIR: </a:t>
            </a:r>
            <a:r>
              <a:rPr lang="en-US" b="1" dirty="0">
                <a:latin typeface="Times New Roman" panose="02020603050405020304" pitchFamily="18" charset="0"/>
                <a:cs typeface="Times New Roman" panose="02020603050405020304" pitchFamily="18" charset="0"/>
              </a:rPr>
              <a:t>3.7meters</a:t>
            </a:r>
          </a:p>
          <a:p>
            <a:r>
              <a:rPr lang="en-US" dirty="0">
                <a:latin typeface="Times New Roman" panose="02020603050405020304" pitchFamily="18" charset="0"/>
                <a:cs typeface="Times New Roman" panose="02020603050405020304" pitchFamily="18" charset="0"/>
              </a:rPr>
              <a:t>CAVIS: </a:t>
            </a:r>
            <a:r>
              <a:rPr lang="en-US" b="1" dirty="0">
                <a:latin typeface="Times New Roman" panose="02020603050405020304" pitchFamily="18" charset="0"/>
                <a:cs typeface="Times New Roman" panose="02020603050405020304" pitchFamily="18" charset="0"/>
              </a:rPr>
              <a:t>30 meters</a:t>
            </a:r>
          </a:p>
          <a:p>
            <a:r>
              <a:rPr lang="en-US" dirty="0">
                <a:latin typeface="Times New Roman" panose="02020603050405020304" pitchFamily="18" charset="0"/>
                <a:cs typeface="Times New Roman" panose="02020603050405020304" pitchFamily="18" charset="0"/>
              </a:rPr>
              <a:t>Panchromatic: </a:t>
            </a:r>
            <a:r>
              <a:rPr lang="en-US" b="1" dirty="0">
                <a:latin typeface="Times New Roman" panose="02020603050405020304" pitchFamily="18" charset="0"/>
                <a:cs typeface="Times New Roman" panose="02020603050405020304" pitchFamily="18" charset="0"/>
              </a:rPr>
              <a:t>0.31 meters</a:t>
            </a:r>
            <a:endParaRPr lang="en-US" dirty="0">
              <a:latin typeface="Times New Roman" panose="02020603050405020304" pitchFamily="18" charset="0"/>
              <a:cs typeface="Times New Roman" panose="02020603050405020304" pitchFamily="18" charset="0"/>
            </a:endParaRPr>
          </a:p>
          <a:p>
            <a:r>
              <a:rPr lang="en-IN" b="0" i="0" dirty="0">
                <a:effectLst/>
                <a:latin typeface="Times New Roman" panose="02020603050405020304" pitchFamily="18" charset="0"/>
                <a:cs typeface="Times New Roman" panose="02020603050405020304" pitchFamily="18" charset="0"/>
              </a:rPr>
              <a:t>Precise environmental and atmospheric monitoring</a:t>
            </a:r>
            <a:endParaRPr lang="en-US" dirty="0">
              <a:latin typeface="Times New Roman" panose="02020603050405020304" pitchFamily="18" charset="0"/>
              <a:cs typeface="Times New Roman" panose="02020603050405020304" pitchFamily="18" charset="0"/>
            </a:endParaRPr>
          </a:p>
        </p:txBody>
      </p:sp>
      <p:sp>
        <p:nvSpPr>
          <p:cNvPr id="10" name="Text Placeholder 16">
            <a:extLst>
              <a:ext uri="{FF2B5EF4-FFF2-40B4-BE49-F238E27FC236}">
                <a16:creationId xmlns:a16="http://schemas.microsoft.com/office/drawing/2014/main" id="{5CA7161A-8700-4ACD-9788-C4A32AC8B392}"/>
              </a:ext>
            </a:extLst>
          </p:cNvPr>
          <p:cNvSpPr txBox="1">
            <a:spLocks/>
          </p:cNvSpPr>
          <p:nvPr/>
        </p:nvSpPr>
        <p:spPr>
          <a:xfrm>
            <a:off x="542389" y="1449676"/>
            <a:ext cx="4672156"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Platform Details</a:t>
            </a:r>
          </a:p>
        </p:txBody>
      </p:sp>
      <p:sp>
        <p:nvSpPr>
          <p:cNvPr id="11" name="Text Placeholder 6">
            <a:extLst>
              <a:ext uri="{FF2B5EF4-FFF2-40B4-BE49-F238E27FC236}">
                <a16:creationId xmlns:a16="http://schemas.microsoft.com/office/drawing/2014/main" id="{0DC10EEC-A75D-41DA-9E69-DA2427CA971E}"/>
              </a:ext>
            </a:extLst>
          </p:cNvPr>
          <p:cNvSpPr txBox="1">
            <a:spLocks/>
          </p:cNvSpPr>
          <p:nvPr/>
        </p:nvSpPr>
        <p:spPr>
          <a:xfrm>
            <a:off x="5942154" y="1443690"/>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Spatial Resolution</a:t>
            </a:r>
          </a:p>
        </p:txBody>
      </p:sp>
    </p:spTree>
    <p:extLst>
      <p:ext uri="{BB962C8B-B14F-4D97-AF65-F5344CB8AC3E}">
        <p14:creationId xmlns:p14="http://schemas.microsoft.com/office/powerpoint/2010/main" val="1625739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295C0-9C75-338D-0C5B-F1AA25564E07}"/>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F99EF74-C0FA-DF47-6929-DC15D25D0C8F}"/>
              </a:ext>
            </a:extLst>
          </p:cNvPr>
          <p:cNvSpPr>
            <a:spLocks noGrp="1"/>
          </p:cNvSpPr>
          <p:nvPr>
            <p:ph type="ctrTitle"/>
          </p:nvPr>
        </p:nvSpPr>
        <p:spPr>
          <a:xfrm>
            <a:off x="1060940" y="82061"/>
            <a:ext cx="10433535" cy="715108"/>
          </a:xfrm>
        </p:spPr>
        <p:txBody>
          <a:bodyPr/>
          <a:lstStyle/>
          <a:p>
            <a:r>
              <a:rPr lang="en-IN" sz="4400" b="1" dirty="0">
                <a:solidFill>
                  <a:srgbClr val="002060"/>
                </a:solidFill>
              </a:rPr>
              <a:t>SPECTRAL BAND CONFIGURATION </a:t>
            </a:r>
          </a:p>
        </p:txBody>
      </p:sp>
      <p:sp>
        <p:nvSpPr>
          <p:cNvPr id="29" name="Text Placeholder 6">
            <a:extLst>
              <a:ext uri="{FF2B5EF4-FFF2-40B4-BE49-F238E27FC236}">
                <a16:creationId xmlns:a16="http://schemas.microsoft.com/office/drawing/2014/main" id="{4FDCAE18-AFF3-B74A-A49D-A18647633011}"/>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US" dirty="0"/>
          </a:p>
          <a:p>
            <a:pPr marL="285750" indent="-285750">
              <a:buFont typeface="Arial" panose="020B0604020202020204" pitchFamily="34" charset="0"/>
              <a:buChar char="•"/>
            </a:pPr>
            <a:endParaRPr lang="en-US" dirty="0"/>
          </a:p>
        </p:txBody>
      </p:sp>
      <p:sp>
        <p:nvSpPr>
          <p:cNvPr id="2" name="TextBox 1">
            <a:extLst>
              <a:ext uri="{FF2B5EF4-FFF2-40B4-BE49-F238E27FC236}">
                <a16:creationId xmlns:a16="http://schemas.microsoft.com/office/drawing/2014/main" id="{26D512B1-C42C-4A39-83A9-D0E20AE0749E}"/>
              </a:ext>
            </a:extLst>
          </p:cNvPr>
          <p:cNvSpPr txBox="1"/>
          <p:nvPr/>
        </p:nvSpPr>
        <p:spPr>
          <a:xfrm>
            <a:off x="55704" y="797170"/>
            <a:ext cx="11593907" cy="5693866"/>
          </a:xfrm>
          <a:prstGeom prst="rect">
            <a:avLst/>
          </a:prstGeom>
          <a:noFill/>
        </p:spPr>
        <p:txBody>
          <a:bodyPr wrap="square" rtlCol="0">
            <a:spAutoFit/>
          </a:bodyPr>
          <a:lstStyle/>
          <a:p>
            <a:pPr marL="285750" indent="-285750">
              <a:buFont typeface="Arial" panose="020B0604020202020204" pitchFamily="34" charset="0"/>
              <a:buChar char="•"/>
            </a:pPr>
            <a:r>
              <a:rPr lang="en-US" sz="2400" b="0" i="0" dirty="0">
                <a:solidFill>
                  <a:schemeClr val="accent1">
                    <a:lumMod val="75000"/>
                  </a:schemeClr>
                </a:solidFill>
                <a:effectLst/>
                <a:latin typeface="Times New Roman" panose="02020603050405020304" pitchFamily="18" charset="0"/>
                <a:cs typeface="Times New Roman" panose="02020603050405020304" pitchFamily="18" charset="0"/>
              </a:rPr>
              <a:t>Panchromatic Band (0.45 – 0.80 µm)</a:t>
            </a:r>
          </a:p>
          <a:p>
            <a:pPr algn="l"/>
            <a:r>
              <a:rPr lang="en-US" sz="2200" b="0" i="0" dirty="0">
                <a:solidFill>
                  <a:schemeClr val="accent1">
                    <a:lumMod val="75000"/>
                  </a:schemeClr>
                </a:solidFill>
                <a:effectLst/>
                <a:latin typeface="Times New Roman" panose="02020603050405020304" pitchFamily="18" charset="0"/>
                <a:cs typeface="Times New Roman" panose="02020603050405020304" pitchFamily="18" charset="0"/>
              </a:rPr>
              <a:t>    </a:t>
            </a:r>
            <a:r>
              <a:rPr lang="en-US" sz="2200" b="0" i="0" dirty="0">
                <a:effectLst/>
                <a:latin typeface="Times New Roman" panose="02020603050405020304" pitchFamily="18" charset="0"/>
                <a:cs typeface="Times New Roman" panose="02020603050405020304" pitchFamily="18" charset="0"/>
              </a:rPr>
              <a:t>High-resolution black-and-white imagery for detailed mapping and feature extraction.</a:t>
            </a:r>
          </a:p>
          <a:p>
            <a:r>
              <a:rPr lang="en-US" sz="2200" b="0" i="0" dirty="0">
                <a:effectLst/>
                <a:latin typeface="Times New Roman" panose="02020603050405020304" pitchFamily="18" charset="0"/>
                <a:cs typeface="Times New Roman" panose="02020603050405020304" pitchFamily="18" charset="0"/>
              </a:rPr>
              <a:t>    Urban infrastructure and road network analysis</a:t>
            </a:r>
            <a:endParaRPr lang="en-US" sz="2400" dirty="0">
              <a:latin typeface="fkGroteskNeue"/>
            </a:endParaRPr>
          </a:p>
          <a:p>
            <a:pPr marL="342900" indent="-342900" algn="l">
              <a:buFont typeface="Arial" panose="020B0604020202020204" pitchFamily="34" charset="0"/>
              <a:buChar char="•"/>
            </a:pPr>
            <a:r>
              <a:rPr lang="en-IN" sz="2400" b="0" i="0" dirty="0">
                <a:solidFill>
                  <a:schemeClr val="accent1">
                    <a:lumMod val="75000"/>
                  </a:schemeClr>
                </a:solidFill>
                <a:effectLst/>
                <a:latin typeface="Times New Roman" panose="02020603050405020304" pitchFamily="18" charset="0"/>
                <a:cs typeface="Times New Roman" panose="02020603050405020304" pitchFamily="18" charset="0"/>
              </a:rPr>
              <a:t>Multispectral Bands (0.40 –  1.04 µm)</a:t>
            </a:r>
          </a:p>
          <a:p>
            <a:r>
              <a:rPr lang="en-IN" sz="2200" b="0" i="0" dirty="0">
                <a:effectLst/>
                <a:latin typeface="Times New Roman" panose="02020603050405020304" pitchFamily="18" charset="0"/>
                <a:cs typeface="Times New Roman" panose="02020603050405020304" pitchFamily="18" charset="0"/>
              </a:rPr>
              <a:t>     Soil and Moisture Analysis</a:t>
            </a:r>
          </a:p>
          <a:p>
            <a:r>
              <a:rPr lang="en-IN" sz="2200" b="0" i="0" dirty="0">
                <a:effectLst/>
                <a:latin typeface="Times New Roman" panose="02020603050405020304" pitchFamily="18" charset="0"/>
                <a:cs typeface="Times New Roman" panose="02020603050405020304" pitchFamily="18" charset="0"/>
              </a:rPr>
              <a:t>     Vegetation Monitoring</a:t>
            </a:r>
            <a:br>
              <a:rPr lang="en-IN" sz="2200" b="0" i="0" dirty="0">
                <a:effectLst/>
                <a:latin typeface="Times New Roman" panose="02020603050405020304" pitchFamily="18" charset="0"/>
                <a:cs typeface="Times New Roman" panose="02020603050405020304" pitchFamily="18" charset="0"/>
              </a:rPr>
            </a:br>
            <a:r>
              <a:rPr lang="en-IN" sz="2200" b="0" i="0" dirty="0">
                <a:effectLst/>
                <a:latin typeface="Times New Roman" panose="02020603050405020304" pitchFamily="18" charset="0"/>
                <a:cs typeface="Times New Roman" panose="02020603050405020304" pitchFamily="18" charset="0"/>
              </a:rPr>
              <a:t>     Land Cover Classification</a:t>
            </a:r>
            <a:endParaRPr lang="en-IN" sz="2200" b="0" i="0" dirty="0">
              <a:solidFill>
                <a:schemeClr val="accent1">
                  <a:lumMod val="75000"/>
                </a:schemeClr>
              </a:solidFill>
              <a:effectLst/>
              <a:latin typeface="Times New Roman" panose="02020603050405020304" pitchFamily="18" charset="0"/>
              <a:cs typeface="Times New Roman" panose="02020603050405020304" pitchFamily="18" charset="0"/>
            </a:endParaRPr>
          </a:p>
          <a:p>
            <a:r>
              <a:rPr lang="en-IN" sz="2200" b="0" i="0" dirty="0">
                <a:effectLst/>
                <a:latin typeface="Times New Roman" panose="02020603050405020304" pitchFamily="18" charset="0"/>
                <a:cs typeface="Times New Roman" panose="02020603050405020304" pitchFamily="18" charset="0"/>
              </a:rPr>
              <a:t>     Urban Mapping</a:t>
            </a:r>
            <a:endParaRPr lang="en-US" sz="2200" b="0" i="0" dirty="0">
              <a:solidFill>
                <a:schemeClr val="accent1">
                  <a:lumMod val="75000"/>
                </a:schemeClr>
              </a:solidFill>
              <a:effectLst/>
              <a:latin typeface="Times New Roman" panose="02020603050405020304" pitchFamily="18" charset="0"/>
              <a:cs typeface="Times New Roman" panose="02020603050405020304" pitchFamily="18" charset="0"/>
            </a:endParaRPr>
          </a:p>
          <a:p>
            <a:r>
              <a:rPr lang="en-IN" sz="2200" b="0" i="0" dirty="0">
                <a:effectLst/>
                <a:latin typeface="Times New Roman" panose="02020603050405020304" pitchFamily="18" charset="0"/>
                <a:cs typeface="Times New Roman" panose="02020603050405020304" pitchFamily="18" charset="0"/>
              </a:rPr>
              <a:t>     Disaster Assessment</a:t>
            </a:r>
          </a:p>
          <a:p>
            <a:pPr marL="342900" indent="-342900">
              <a:buFont typeface="Arial" panose="020B0604020202020204" pitchFamily="34" charset="0"/>
              <a:buChar char="•"/>
            </a:pPr>
            <a:r>
              <a:rPr lang="en-IN" sz="2400" b="0" i="0" dirty="0">
                <a:solidFill>
                  <a:schemeClr val="accent1">
                    <a:lumMod val="75000"/>
                  </a:schemeClr>
                </a:solidFill>
                <a:effectLst/>
                <a:latin typeface="Times New Roman" panose="02020603050405020304" pitchFamily="18" charset="0"/>
                <a:cs typeface="Times New Roman" panose="02020603050405020304" pitchFamily="18" charset="0"/>
              </a:rPr>
              <a:t>Shortwave Infrared (SWIR) Bands (1.19 - 2.36 µm)</a:t>
            </a:r>
          </a:p>
          <a:p>
            <a:r>
              <a:rPr lang="en-US" sz="2400" b="0" i="0" dirty="0">
                <a:effectLst/>
                <a:latin typeface="fkGroteskNeue"/>
              </a:rPr>
              <a:t>    </a:t>
            </a:r>
            <a:r>
              <a:rPr lang="en-US" sz="2200" b="0" i="0" dirty="0">
                <a:effectLst/>
                <a:latin typeface="Times New Roman" panose="02020603050405020304" pitchFamily="18" charset="0"/>
                <a:cs typeface="Times New Roman" panose="02020603050405020304" pitchFamily="18" charset="0"/>
              </a:rPr>
              <a:t>Mineral identification and geological mapping</a:t>
            </a:r>
          </a:p>
          <a:p>
            <a:r>
              <a:rPr lang="en-US" sz="2200" b="0" i="0" dirty="0">
                <a:effectLst/>
                <a:latin typeface="Times New Roman" panose="02020603050405020304" pitchFamily="18" charset="0"/>
                <a:cs typeface="Times New Roman" panose="02020603050405020304" pitchFamily="18" charset="0"/>
              </a:rPr>
              <a:t>    Burn scar and fire damage analysis</a:t>
            </a:r>
          </a:p>
          <a:p>
            <a:pPr marL="342900" indent="-342900">
              <a:buFont typeface="Arial" panose="020B0604020202020204" pitchFamily="34" charset="0"/>
              <a:buChar char="•"/>
            </a:pPr>
            <a:r>
              <a:rPr lang="en-IN" sz="2400" b="0" i="0" dirty="0">
                <a:solidFill>
                  <a:schemeClr val="accent1">
                    <a:lumMod val="75000"/>
                  </a:schemeClr>
                </a:solidFill>
                <a:effectLst/>
                <a:latin typeface="Times New Roman" panose="02020603050405020304" pitchFamily="18" charset="0"/>
                <a:cs typeface="Times New Roman" panose="02020603050405020304" pitchFamily="18" charset="0"/>
              </a:rPr>
              <a:t>CAVIS Bands (12 bands)</a:t>
            </a:r>
          </a:p>
          <a:p>
            <a:r>
              <a:rPr lang="en-IN" sz="2400" b="0" i="0" dirty="0">
                <a:effectLst/>
                <a:latin typeface="fkGroteskNeue"/>
              </a:rPr>
              <a:t>     </a:t>
            </a:r>
            <a:r>
              <a:rPr lang="en-IN" sz="2200" b="0" i="0" dirty="0">
                <a:effectLst/>
                <a:latin typeface="Times New Roman" panose="02020603050405020304" pitchFamily="18" charset="0"/>
                <a:cs typeface="Times New Roman" panose="02020603050405020304" pitchFamily="18" charset="0"/>
              </a:rPr>
              <a:t>Atmosphere and cloud monitoring, </a:t>
            </a:r>
            <a:r>
              <a:rPr lang="en-US" sz="2200" b="0" i="0" dirty="0">
                <a:effectLst/>
                <a:latin typeface="Times New Roman" panose="02020603050405020304" pitchFamily="18" charset="0"/>
                <a:cs typeface="Times New Roman" panose="02020603050405020304" pitchFamily="18" charset="0"/>
              </a:rPr>
              <a:t>Aerosol and vapor detection for image correction</a:t>
            </a:r>
          </a:p>
          <a:p>
            <a:r>
              <a:rPr lang="en-US" sz="2200" b="0" i="0" dirty="0">
                <a:effectLst/>
                <a:latin typeface="Times New Roman" panose="02020603050405020304" pitchFamily="18" charset="0"/>
                <a:cs typeface="Times New Roman" panose="02020603050405020304" pitchFamily="18" charset="0"/>
              </a:rPr>
              <a:t>     and snow and ice monitoring </a:t>
            </a:r>
            <a:endParaRPr lang="en-IN" sz="2200" b="0" i="0" dirty="0">
              <a:solidFill>
                <a:schemeClr val="accent1">
                  <a:lumMod val="75000"/>
                </a:schemeClr>
              </a:solidFill>
              <a:effectLst/>
              <a:latin typeface="Times New Roman" panose="02020603050405020304" pitchFamily="18" charset="0"/>
              <a:cs typeface="Times New Roman" panose="02020603050405020304" pitchFamily="18" charset="0"/>
            </a:endParaRPr>
          </a:p>
          <a:p>
            <a:endParaRPr lang="en-IN" sz="2200"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48402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35E0E-5B03-6B45-4BC2-38C32340734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A5876A3-B42B-7883-9888-D2D32CD29B3A}"/>
              </a:ext>
            </a:extLst>
          </p:cNvPr>
          <p:cNvSpPr>
            <a:spLocks noGrp="1"/>
          </p:cNvSpPr>
          <p:nvPr>
            <p:ph type="ctrTitle"/>
          </p:nvPr>
        </p:nvSpPr>
        <p:spPr>
          <a:xfrm>
            <a:off x="1060940" y="82061"/>
            <a:ext cx="10433535" cy="715108"/>
          </a:xfrm>
        </p:spPr>
        <p:txBody>
          <a:bodyPr/>
          <a:lstStyle/>
          <a:p>
            <a:r>
              <a:rPr lang="en-US" sz="4400" b="1" dirty="0"/>
              <a:t>WorldView-4</a:t>
            </a:r>
            <a:endParaRPr lang="en-IN" sz="4400" b="1" dirty="0">
              <a:solidFill>
                <a:srgbClr val="002060"/>
              </a:solidFill>
            </a:endParaRPr>
          </a:p>
        </p:txBody>
      </p:sp>
      <p:sp>
        <p:nvSpPr>
          <p:cNvPr id="29" name="Text Placeholder 6">
            <a:extLst>
              <a:ext uri="{FF2B5EF4-FFF2-40B4-BE49-F238E27FC236}">
                <a16:creationId xmlns:a16="http://schemas.microsoft.com/office/drawing/2014/main" id="{59C75BF4-95E5-ED42-D08A-1A5FB00FFD20}"/>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6" name="Text Placeholder 6">
            <a:extLst>
              <a:ext uri="{FF2B5EF4-FFF2-40B4-BE49-F238E27FC236}">
                <a16:creationId xmlns:a16="http://schemas.microsoft.com/office/drawing/2014/main" id="{CB8F79FA-F991-48F1-A3F7-ED75897A4062}"/>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7" name="Content Placeholder 2">
            <a:extLst>
              <a:ext uri="{FF2B5EF4-FFF2-40B4-BE49-F238E27FC236}">
                <a16:creationId xmlns:a16="http://schemas.microsoft.com/office/drawing/2014/main" id="{9D62DF6C-9430-4F7D-A0A6-8F8039EA9D10}"/>
              </a:ext>
            </a:extLst>
          </p:cNvPr>
          <p:cNvSpPr txBox="1">
            <a:spLocks/>
          </p:cNvSpPr>
          <p:nvPr/>
        </p:nvSpPr>
        <p:spPr>
          <a:xfrm>
            <a:off x="542389" y="2289790"/>
            <a:ext cx="4864257" cy="4391252"/>
          </a:xfrm>
          <a:prstGeom prst="rect">
            <a:avLst/>
          </a:prstGeom>
          <a:noFill/>
          <a:ln>
            <a:noFill/>
          </a:ln>
        </p:spPr>
        <p:txBody>
          <a:bodyPr vert="horz" wrap="square" lIns="91440" tIns="45720" rIns="91440" bIns="45720" anchor="t" anchorCtr="1" compatLnSpc="1">
            <a:normAutofit lnSpcReduction="10000"/>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latin typeface="Times New Roman" panose="02020603050405020304" pitchFamily="18" charset="0"/>
                <a:cs typeface="Times New Roman" panose="02020603050405020304" pitchFamily="18" charset="0"/>
              </a:rPr>
              <a:t>WorldView-4</a:t>
            </a:r>
            <a:r>
              <a:rPr lang="en-GB" dirty="0">
                <a:latin typeface="Times New Roman" panose="02020603050405020304" pitchFamily="18" charset="0"/>
                <a:cs typeface="Times New Roman" panose="02020603050405020304" pitchFamily="18" charset="0"/>
              </a:rPr>
              <a:t>(USA)</a:t>
            </a:r>
          </a:p>
          <a:p>
            <a:r>
              <a:rPr lang="en-GB" dirty="0">
                <a:latin typeface="Times New Roman" panose="02020603050405020304" pitchFamily="18" charset="0"/>
                <a:cs typeface="Times New Roman" panose="02020603050405020304" pitchFamily="18" charset="0"/>
              </a:rPr>
              <a:t>Launched: </a:t>
            </a:r>
            <a:r>
              <a:rPr lang="en-IN" b="0" i="0" dirty="0">
                <a:solidFill>
                  <a:schemeClr val="tx1"/>
                </a:solidFill>
                <a:effectLst/>
                <a:latin typeface="Times New Roman" panose="02020603050405020304" pitchFamily="18" charset="0"/>
                <a:cs typeface="Times New Roman" panose="02020603050405020304" pitchFamily="18" charset="0"/>
              </a:rPr>
              <a:t>January</a:t>
            </a:r>
            <a:r>
              <a:rPr lang="en-IN" b="0" i="0" dirty="0">
                <a:solidFill>
                  <a:srgbClr val="808080"/>
                </a:solidFill>
                <a:effectLst/>
                <a:latin typeface="Cabin"/>
              </a:rPr>
              <a:t> </a:t>
            </a:r>
            <a:r>
              <a:rPr lang="en-IN" b="0" i="0" dirty="0">
                <a:solidFill>
                  <a:schemeClr val="tx1">
                    <a:lumMod val="95000"/>
                    <a:lumOff val="5000"/>
                  </a:schemeClr>
                </a:solidFill>
                <a:effectLst/>
                <a:latin typeface="Times New Roman" panose="02020603050405020304" pitchFamily="18" charset="0"/>
                <a:cs typeface="Times New Roman" panose="02020603050405020304" pitchFamily="18" charset="0"/>
              </a:rPr>
              <a:t>2019</a:t>
            </a:r>
            <a:endParaRPr lang="en-GB" dirty="0">
              <a:solidFill>
                <a:schemeClr val="tx1"/>
              </a:solidFill>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Swath Width: 13.1 km </a:t>
            </a:r>
          </a:p>
          <a:p>
            <a:endParaRPr lang="en-GB" dirty="0">
              <a:latin typeface="Times New Roman" panose="02020603050405020304" pitchFamily="18" charset="0"/>
              <a:cs typeface="Times New Roman" panose="02020603050405020304" pitchFamily="18" charset="0"/>
            </a:endParaRPr>
          </a:p>
          <a:p>
            <a:r>
              <a:rPr lang="en-GB" sz="2600" b="1" dirty="0">
                <a:latin typeface="Times New Roman" panose="02020603050405020304" pitchFamily="18" charset="0"/>
                <a:cs typeface="Times New Roman" panose="02020603050405020304" pitchFamily="18" charset="0"/>
              </a:rPr>
              <a:t>Primary Uses</a:t>
            </a:r>
          </a:p>
          <a:p>
            <a:r>
              <a:rPr lang="en-US" sz="2200" b="0" i="0" dirty="0">
                <a:effectLst/>
                <a:latin typeface="Times New Roman" panose="02020603050405020304" pitchFamily="18" charset="0"/>
                <a:cs typeface="Times New Roman" panose="02020603050405020304" pitchFamily="18" charset="0"/>
              </a:rPr>
              <a:t>Engineering surveys especially for construction and oil and gas facilities and Detailed urban and infrastructure mapping</a:t>
            </a:r>
          </a:p>
          <a:p>
            <a:r>
              <a:rPr lang="en-US" sz="2200" b="0" i="0" dirty="0">
                <a:effectLst/>
                <a:latin typeface="Times New Roman" panose="02020603050405020304" pitchFamily="18" charset="0"/>
                <a:cs typeface="Times New Roman" panose="02020603050405020304" pitchFamily="18" charset="0"/>
              </a:rPr>
              <a:t>Disaster response and recovery assessment</a:t>
            </a:r>
            <a:endParaRPr lang="en-GB" sz="2200" dirty="0">
              <a:latin typeface="Times New Roman" panose="02020603050405020304" pitchFamily="18" charset="0"/>
              <a:cs typeface="Times New Roman" panose="02020603050405020304" pitchFamily="18" charset="0"/>
            </a:endParaRPr>
          </a:p>
        </p:txBody>
      </p:sp>
      <p:sp>
        <p:nvSpPr>
          <p:cNvPr id="8" name="Content Placeholder 15">
            <a:extLst>
              <a:ext uri="{FF2B5EF4-FFF2-40B4-BE49-F238E27FC236}">
                <a16:creationId xmlns:a16="http://schemas.microsoft.com/office/drawing/2014/main" id="{E677B785-B913-4D64-B110-FBF5D2BCE7EC}"/>
              </a:ext>
            </a:extLst>
          </p:cNvPr>
          <p:cNvSpPr txBox="1">
            <a:spLocks/>
          </p:cNvSpPr>
          <p:nvPr/>
        </p:nvSpPr>
        <p:spPr>
          <a:xfrm>
            <a:off x="6096000" y="1933576"/>
            <a:ext cx="4693727" cy="3856978"/>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Multispectral: </a:t>
            </a:r>
            <a:r>
              <a:rPr lang="en-US" b="1" dirty="0">
                <a:latin typeface="Times New Roman" panose="02020603050405020304" pitchFamily="18" charset="0"/>
                <a:cs typeface="Times New Roman" panose="02020603050405020304" pitchFamily="18" charset="0"/>
              </a:rPr>
              <a:t>1.24 meters</a:t>
            </a:r>
          </a:p>
          <a:p>
            <a:r>
              <a:rPr lang="en-US" dirty="0">
                <a:latin typeface="Times New Roman" panose="02020603050405020304" pitchFamily="18" charset="0"/>
                <a:cs typeface="Times New Roman" panose="02020603050405020304" pitchFamily="18" charset="0"/>
              </a:rPr>
              <a:t>Panchromatic: </a:t>
            </a:r>
            <a:r>
              <a:rPr lang="en-US" b="1" dirty="0">
                <a:latin typeface="Times New Roman" panose="02020603050405020304" pitchFamily="18" charset="0"/>
                <a:cs typeface="Times New Roman" panose="02020603050405020304" pitchFamily="18" charset="0"/>
              </a:rPr>
              <a:t>0.31 meters</a:t>
            </a:r>
            <a:endParaRPr lang="en-US" dirty="0">
              <a:latin typeface="Times New Roman" panose="02020603050405020304" pitchFamily="18" charset="0"/>
              <a:cs typeface="Times New Roman" panose="02020603050405020304" pitchFamily="18" charset="0"/>
            </a:endParaRPr>
          </a:p>
        </p:txBody>
      </p:sp>
      <p:sp>
        <p:nvSpPr>
          <p:cNvPr id="9" name="Text Placeholder 16">
            <a:extLst>
              <a:ext uri="{FF2B5EF4-FFF2-40B4-BE49-F238E27FC236}">
                <a16:creationId xmlns:a16="http://schemas.microsoft.com/office/drawing/2014/main" id="{DC3B4E15-4CEC-425B-AECB-DFBDCA234960}"/>
              </a:ext>
            </a:extLst>
          </p:cNvPr>
          <p:cNvSpPr txBox="1">
            <a:spLocks/>
          </p:cNvSpPr>
          <p:nvPr/>
        </p:nvSpPr>
        <p:spPr>
          <a:xfrm>
            <a:off x="542389" y="1449676"/>
            <a:ext cx="4672156"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Platform Details</a:t>
            </a:r>
          </a:p>
        </p:txBody>
      </p:sp>
      <p:sp>
        <p:nvSpPr>
          <p:cNvPr id="10" name="Text Placeholder 6">
            <a:extLst>
              <a:ext uri="{FF2B5EF4-FFF2-40B4-BE49-F238E27FC236}">
                <a16:creationId xmlns:a16="http://schemas.microsoft.com/office/drawing/2014/main" id="{8B8BF990-A919-4F7B-B98F-13B43A8A5E1F}"/>
              </a:ext>
            </a:extLst>
          </p:cNvPr>
          <p:cNvSpPr txBox="1">
            <a:spLocks/>
          </p:cNvSpPr>
          <p:nvPr/>
        </p:nvSpPr>
        <p:spPr>
          <a:xfrm>
            <a:off x="5942154" y="1443690"/>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Spatial Resolution</a:t>
            </a:r>
          </a:p>
        </p:txBody>
      </p:sp>
    </p:spTree>
    <p:extLst>
      <p:ext uri="{BB962C8B-B14F-4D97-AF65-F5344CB8AC3E}">
        <p14:creationId xmlns:p14="http://schemas.microsoft.com/office/powerpoint/2010/main" val="17409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EA02-B547-89E7-A179-B7B75D44E097}"/>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C9AC192B-A673-2195-DB8C-3A21D7C43199}"/>
              </a:ext>
            </a:extLst>
          </p:cNvPr>
          <p:cNvSpPr>
            <a:spLocks noGrp="1"/>
          </p:cNvSpPr>
          <p:nvPr>
            <p:ph type="ctrTitle"/>
          </p:nvPr>
        </p:nvSpPr>
        <p:spPr>
          <a:xfrm>
            <a:off x="1060940" y="82061"/>
            <a:ext cx="10433535" cy="715108"/>
          </a:xfrm>
        </p:spPr>
        <p:txBody>
          <a:bodyPr/>
          <a:lstStyle/>
          <a:p>
            <a:r>
              <a:rPr lang="en-IN" sz="4400" b="1" dirty="0">
                <a:solidFill>
                  <a:srgbClr val="002060"/>
                </a:solidFill>
              </a:rPr>
              <a:t>SPECTRAL BAND CONFIGURATION </a:t>
            </a:r>
          </a:p>
        </p:txBody>
      </p:sp>
      <p:sp>
        <p:nvSpPr>
          <p:cNvPr id="8" name="TextBox 7">
            <a:extLst>
              <a:ext uri="{FF2B5EF4-FFF2-40B4-BE49-F238E27FC236}">
                <a16:creationId xmlns:a16="http://schemas.microsoft.com/office/drawing/2014/main" id="{685B131A-7E72-4582-9191-56E0CA63234D}"/>
              </a:ext>
            </a:extLst>
          </p:cNvPr>
          <p:cNvSpPr txBox="1"/>
          <p:nvPr/>
        </p:nvSpPr>
        <p:spPr>
          <a:xfrm>
            <a:off x="16850" y="1188322"/>
            <a:ext cx="11756049" cy="5820183"/>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Band                    Wavelength(µm)                                      Application                                  </a:t>
            </a:r>
          </a:p>
          <a:p>
            <a:pPr algn="l">
              <a:lnSpc>
                <a:spcPct val="150000"/>
              </a:lnSpc>
              <a:buFont typeface="Arial" panose="020B0604020202020204" pitchFamily="34" charset="0"/>
              <a:buChar char="•"/>
            </a:pPr>
            <a:r>
              <a:rPr lang="en-IN" sz="2400" i="0" dirty="0">
                <a:effectLst/>
                <a:latin typeface="Times New Roman" panose="02020603050405020304" pitchFamily="18" charset="0"/>
                <a:cs typeface="Times New Roman" panose="02020603050405020304" pitchFamily="18" charset="0"/>
              </a:rPr>
              <a:t>Panchromatic    </a:t>
            </a:r>
            <a:r>
              <a:rPr lang="en-IN" sz="2400" dirty="0">
                <a:latin typeface="Times New Roman" panose="02020603050405020304" pitchFamily="18" charset="0"/>
                <a:cs typeface="Times New Roman" panose="02020603050405020304" pitchFamily="18" charset="0"/>
              </a:rPr>
              <a:t>            0.45 - 0.80   </a:t>
            </a:r>
            <a:r>
              <a:rPr lang="en-US" sz="2400" b="0" i="0" dirty="0">
                <a:effectLst/>
                <a:latin typeface="Times New Roman" panose="02020603050405020304" pitchFamily="18" charset="0"/>
                <a:cs typeface="Times New Roman" panose="02020603050405020304" pitchFamily="18" charset="0"/>
              </a:rPr>
              <a:t>High-resolution detailed mapping and feature extraction</a:t>
            </a:r>
            <a:endParaRPr lang="en-IN" sz="2400" b="0" i="0" dirty="0">
              <a:effectLst/>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400" i="0" dirty="0">
                <a:effectLst/>
                <a:latin typeface="Times New Roman" panose="02020603050405020304" pitchFamily="18" charset="0"/>
                <a:cs typeface="Times New Roman" panose="02020603050405020304" pitchFamily="18" charset="0"/>
              </a:rPr>
              <a:t>Blue                              </a:t>
            </a:r>
            <a:r>
              <a:rPr lang="en-IN" sz="2400" dirty="0">
                <a:latin typeface="Times New Roman" panose="02020603050405020304" pitchFamily="18" charset="0"/>
                <a:cs typeface="Times New Roman" panose="02020603050405020304" pitchFamily="18" charset="0"/>
              </a:rPr>
              <a:t>0.45 - 0.51                   </a:t>
            </a:r>
            <a:r>
              <a:rPr lang="en-US" sz="2400" b="0" i="0" dirty="0">
                <a:effectLst/>
                <a:latin typeface="Times New Roman" panose="02020603050405020304" pitchFamily="18" charset="0"/>
                <a:cs typeface="Times New Roman" panose="02020603050405020304" pitchFamily="18" charset="0"/>
              </a:rPr>
              <a:t>Water body delineation and sediment analysis</a:t>
            </a:r>
            <a:endParaRPr lang="en-IN" sz="2400" b="0" i="0" dirty="0">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400" i="0" dirty="0">
                <a:effectLst/>
                <a:latin typeface="Times New Roman" panose="02020603050405020304" pitchFamily="18" charset="0"/>
                <a:cs typeface="Times New Roman" panose="02020603050405020304" pitchFamily="18" charset="0"/>
              </a:rPr>
              <a:t>Green                            </a:t>
            </a:r>
            <a:r>
              <a:rPr lang="en-IN" sz="2400" dirty="0">
                <a:latin typeface="Times New Roman" panose="02020603050405020304" pitchFamily="18" charset="0"/>
                <a:cs typeface="Times New Roman" panose="02020603050405020304" pitchFamily="18" charset="0"/>
              </a:rPr>
              <a:t>0.51 - 0.58                       </a:t>
            </a:r>
            <a:r>
              <a:rPr lang="en-US" sz="2400" b="0" i="0" dirty="0">
                <a:effectLst/>
                <a:latin typeface="Times New Roman" panose="02020603050405020304" pitchFamily="18" charset="0"/>
                <a:cs typeface="Times New Roman" panose="02020603050405020304" pitchFamily="18" charset="0"/>
              </a:rPr>
              <a:t>Crop monitoring and species differentiation</a:t>
            </a:r>
          </a:p>
          <a:p>
            <a:pPr algn="l">
              <a:lnSpc>
                <a:spcPct val="150000"/>
              </a:lnSpc>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2400" i="0" dirty="0">
                <a:effectLst/>
                <a:latin typeface="Times New Roman" panose="02020603050405020304" pitchFamily="18" charset="0"/>
                <a:cs typeface="Times New Roman" panose="02020603050405020304" pitchFamily="18" charset="0"/>
              </a:rPr>
              <a:t>Red</a:t>
            </a:r>
            <a:r>
              <a:rPr lang="en-IN" sz="2400" dirty="0">
                <a:latin typeface="Times New Roman" panose="02020603050405020304" pitchFamily="18" charset="0"/>
                <a:cs typeface="Times New Roman" panose="02020603050405020304" pitchFamily="18" charset="0"/>
              </a:rPr>
              <a:t>                               0.65 - 0.69                            </a:t>
            </a:r>
            <a:r>
              <a:rPr lang="en-US" sz="2400" b="0" i="0" dirty="0">
                <a:effectLst/>
                <a:latin typeface="Times New Roman" panose="02020603050405020304" pitchFamily="18" charset="0"/>
                <a:cs typeface="Times New Roman" panose="02020603050405020304" pitchFamily="18" charset="0"/>
              </a:rPr>
              <a:t>Soil and land cover classification</a:t>
            </a:r>
          </a:p>
          <a:p>
            <a:pPr algn="l">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400" i="0" dirty="0">
                <a:effectLst/>
                <a:latin typeface="Times New Roman" panose="02020603050405020304" pitchFamily="18" charset="0"/>
                <a:cs typeface="Times New Roman" panose="02020603050405020304" pitchFamily="18" charset="0"/>
              </a:rPr>
              <a:t>NIR                               0.78 - 0.92</a:t>
            </a:r>
            <a:r>
              <a:rPr lang="en-IN" sz="2400" dirty="0">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Water body boundaries and wetland mapping</a:t>
            </a:r>
          </a:p>
          <a:p>
            <a:pPr>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222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98829-2AC7-3D0A-347A-3952197FE5B8}"/>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ECE27E41-D6C0-9968-42AC-9976B76A3447}"/>
              </a:ext>
            </a:extLst>
          </p:cNvPr>
          <p:cNvSpPr>
            <a:spLocks noGrp="1"/>
          </p:cNvSpPr>
          <p:nvPr>
            <p:ph type="ctrTitle"/>
          </p:nvPr>
        </p:nvSpPr>
        <p:spPr>
          <a:xfrm>
            <a:off x="1060940" y="82061"/>
            <a:ext cx="10433535" cy="715108"/>
          </a:xfrm>
        </p:spPr>
        <p:txBody>
          <a:bodyPr/>
          <a:lstStyle/>
          <a:p>
            <a:r>
              <a:rPr lang="en-US" sz="4400" b="1" dirty="0" err="1"/>
              <a:t>RapidEye</a:t>
            </a:r>
            <a:r>
              <a:rPr lang="en-US" sz="4400" b="1" dirty="0"/>
              <a:t> </a:t>
            </a:r>
            <a:endParaRPr lang="en-IN" sz="4400" b="1" dirty="0">
              <a:solidFill>
                <a:srgbClr val="002060"/>
              </a:solidFill>
            </a:endParaRPr>
          </a:p>
        </p:txBody>
      </p:sp>
      <p:sp>
        <p:nvSpPr>
          <p:cNvPr id="29" name="Text Placeholder 6">
            <a:extLst>
              <a:ext uri="{FF2B5EF4-FFF2-40B4-BE49-F238E27FC236}">
                <a16:creationId xmlns:a16="http://schemas.microsoft.com/office/drawing/2014/main" id="{ACB28F81-2465-D76B-31FA-4DC234590D21}"/>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6" name="Text Placeholder 6">
            <a:extLst>
              <a:ext uri="{FF2B5EF4-FFF2-40B4-BE49-F238E27FC236}">
                <a16:creationId xmlns:a16="http://schemas.microsoft.com/office/drawing/2014/main" id="{E1638854-B8C5-4876-BF8B-A8668C9FDF08}"/>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7" name="Text Placeholder 6">
            <a:extLst>
              <a:ext uri="{FF2B5EF4-FFF2-40B4-BE49-F238E27FC236}">
                <a16:creationId xmlns:a16="http://schemas.microsoft.com/office/drawing/2014/main" id="{5B37C6BF-42EE-46A1-B9D8-C5E2CC04A7E7}"/>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8" name="Content Placeholder 2">
            <a:extLst>
              <a:ext uri="{FF2B5EF4-FFF2-40B4-BE49-F238E27FC236}">
                <a16:creationId xmlns:a16="http://schemas.microsoft.com/office/drawing/2014/main" id="{47BE1CEA-B54C-4689-AC5F-12CB61D34B6F}"/>
              </a:ext>
            </a:extLst>
          </p:cNvPr>
          <p:cNvSpPr txBox="1">
            <a:spLocks/>
          </p:cNvSpPr>
          <p:nvPr/>
        </p:nvSpPr>
        <p:spPr>
          <a:xfrm>
            <a:off x="542389" y="2289790"/>
            <a:ext cx="4864257" cy="4391252"/>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err="1">
                <a:latin typeface="Times New Roman" panose="02020603050405020304" pitchFamily="18" charset="0"/>
                <a:cs typeface="Times New Roman" panose="02020603050405020304" pitchFamily="18" charset="0"/>
              </a:rPr>
              <a:t>RapidEye</a:t>
            </a:r>
            <a:r>
              <a:rPr lang="en-GB" dirty="0">
                <a:latin typeface="Times New Roman" panose="02020603050405020304" pitchFamily="18" charset="0"/>
                <a:cs typeface="Times New Roman" panose="02020603050405020304" pitchFamily="18" charset="0"/>
              </a:rPr>
              <a:t> (USA)</a:t>
            </a:r>
          </a:p>
          <a:p>
            <a:r>
              <a:rPr lang="en-GB" dirty="0">
                <a:latin typeface="Times New Roman" panose="02020603050405020304" pitchFamily="18" charset="0"/>
                <a:cs typeface="Times New Roman" panose="02020603050405020304" pitchFamily="18" charset="0"/>
              </a:rPr>
              <a:t>Launched: </a:t>
            </a:r>
            <a:r>
              <a:rPr lang="en-IN" sz="2600" b="0" i="0" dirty="0">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August</a:t>
            </a:r>
            <a:r>
              <a:rPr lang="en-IN" sz="2600" b="0" i="0" dirty="0">
                <a:solidFill>
                  <a:srgbClr val="808080"/>
                </a:solidFill>
                <a:effectLst/>
                <a:latin typeface="Times New Roman" panose="02020603050405020304" pitchFamily="18" charset="0"/>
                <a:cs typeface="Times New Roman" panose="02020603050405020304" pitchFamily="18" charset="0"/>
              </a:rPr>
              <a:t> </a:t>
            </a:r>
            <a:r>
              <a:rPr lang="en-IN" sz="2600" b="0" i="0" dirty="0">
                <a:solidFill>
                  <a:schemeClr val="tx1">
                    <a:lumMod val="95000"/>
                    <a:lumOff val="5000"/>
                  </a:schemeClr>
                </a:solidFill>
                <a:effectLst/>
                <a:latin typeface="Times New Roman" panose="02020603050405020304" pitchFamily="18" charset="0"/>
                <a:cs typeface="Times New Roman" panose="02020603050405020304" pitchFamily="18" charset="0"/>
              </a:rPr>
              <a:t>2008</a:t>
            </a:r>
          </a:p>
          <a:p>
            <a:r>
              <a:rPr lang="en-IN" sz="2600" b="0" i="0" dirty="0">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Decommissioned: April 2020</a:t>
            </a:r>
            <a:endParaRPr lang="en-GB" sz="26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Swath Width: 77 km </a:t>
            </a:r>
          </a:p>
          <a:p>
            <a:endParaRPr lang="en-GB" dirty="0">
              <a:latin typeface="Times New Roman" panose="02020603050405020304" pitchFamily="18" charset="0"/>
              <a:cs typeface="Times New Roman" panose="02020603050405020304" pitchFamily="18" charset="0"/>
            </a:endParaRPr>
          </a:p>
          <a:p>
            <a:r>
              <a:rPr lang="en-GB" sz="2600" b="1" dirty="0">
                <a:latin typeface="Times New Roman" panose="02020603050405020304" pitchFamily="18" charset="0"/>
                <a:cs typeface="Times New Roman" panose="02020603050405020304" pitchFamily="18" charset="0"/>
              </a:rPr>
              <a:t>Primary Uses</a:t>
            </a:r>
          </a:p>
          <a:p>
            <a:r>
              <a:rPr lang="en-IN" sz="2200" b="0" i="0" dirty="0">
                <a:effectLst/>
                <a:latin typeface="Times New Roman" panose="02020603050405020304" pitchFamily="18" charset="0"/>
                <a:cs typeface="Times New Roman" panose="02020603050405020304" pitchFamily="18" charset="0"/>
              </a:rPr>
              <a:t>Disaster Management </a:t>
            </a:r>
            <a:r>
              <a:rPr lang="en-US" sz="2200" b="0" i="0" dirty="0">
                <a:effectLst/>
                <a:latin typeface="Times New Roman" panose="02020603050405020304" pitchFamily="18" charset="0"/>
                <a:cs typeface="Times New Roman" panose="02020603050405020304" pitchFamily="18" charset="0"/>
              </a:rPr>
              <a:t>and </a:t>
            </a:r>
            <a:r>
              <a:rPr lang="en-IN" sz="2200" b="0" i="0" dirty="0">
                <a:effectLst/>
                <a:latin typeface="Times New Roman" panose="02020603050405020304" pitchFamily="18" charset="0"/>
                <a:cs typeface="Times New Roman" panose="02020603050405020304" pitchFamily="18" charset="0"/>
              </a:rPr>
              <a:t>Mapping and Cartography</a:t>
            </a:r>
            <a:endParaRPr lang="en-US" sz="2200" b="0" i="0" dirty="0">
              <a:effectLst/>
              <a:latin typeface="Times New Roman" panose="02020603050405020304" pitchFamily="18" charset="0"/>
              <a:cs typeface="Times New Roman" panose="02020603050405020304" pitchFamily="18" charset="0"/>
            </a:endParaRPr>
          </a:p>
          <a:p>
            <a:r>
              <a:rPr lang="en-IN" sz="2200" b="0" i="0" dirty="0">
                <a:effectLst/>
                <a:latin typeface="Times New Roman" panose="02020603050405020304" pitchFamily="18" charset="0"/>
                <a:cs typeface="Times New Roman" panose="02020603050405020304" pitchFamily="18" charset="0"/>
              </a:rPr>
              <a:t>Land and Agriculture Monitoring</a:t>
            </a:r>
            <a:endParaRPr lang="en-GB" sz="2200" dirty="0">
              <a:latin typeface="Times New Roman" panose="02020603050405020304" pitchFamily="18" charset="0"/>
              <a:cs typeface="Times New Roman" panose="02020603050405020304" pitchFamily="18" charset="0"/>
            </a:endParaRPr>
          </a:p>
        </p:txBody>
      </p:sp>
      <p:sp>
        <p:nvSpPr>
          <p:cNvPr id="9" name="Content Placeholder 15">
            <a:extLst>
              <a:ext uri="{FF2B5EF4-FFF2-40B4-BE49-F238E27FC236}">
                <a16:creationId xmlns:a16="http://schemas.microsoft.com/office/drawing/2014/main" id="{73FAFA03-B18F-49BD-AEDB-80F05F0F1847}"/>
              </a:ext>
            </a:extLst>
          </p:cNvPr>
          <p:cNvSpPr txBox="1">
            <a:spLocks/>
          </p:cNvSpPr>
          <p:nvPr/>
        </p:nvSpPr>
        <p:spPr>
          <a:xfrm>
            <a:off x="6096000" y="1933576"/>
            <a:ext cx="4693727" cy="3856978"/>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5 meters </a:t>
            </a:r>
            <a:r>
              <a:rPr lang="en-US" dirty="0">
                <a:latin typeface="Times New Roman" panose="02020603050405020304" pitchFamily="18" charset="0"/>
                <a:cs typeface="Times New Roman" panose="02020603050405020304" pitchFamily="18" charset="0"/>
              </a:rPr>
              <a:t>Orthorectified </a:t>
            </a:r>
            <a:endParaRPr lang="en-US" b="1" dirty="0">
              <a:latin typeface="Times New Roman" panose="02020603050405020304" pitchFamily="18" charset="0"/>
              <a:cs typeface="Times New Roman" panose="02020603050405020304" pitchFamily="18" charset="0"/>
            </a:endParaRPr>
          </a:p>
        </p:txBody>
      </p:sp>
      <p:sp>
        <p:nvSpPr>
          <p:cNvPr id="10" name="Text Placeholder 16">
            <a:extLst>
              <a:ext uri="{FF2B5EF4-FFF2-40B4-BE49-F238E27FC236}">
                <a16:creationId xmlns:a16="http://schemas.microsoft.com/office/drawing/2014/main" id="{CA209307-8F69-4531-9D41-43FC21AF9F10}"/>
              </a:ext>
            </a:extLst>
          </p:cNvPr>
          <p:cNvSpPr txBox="1">
            <a:spLocks/>
          </p:cNvSpPr>
          <p:nvPr/>
        </p:nvSpPr>
        <p:spPr>
          <a:xfrm>
            <a:off x="542389" y="1449676"/>
            <a:ext cx="4672156"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Platform Details</a:t>
            </a:r>
          </a:p>
        </p:txBody>
      </p:sp>
      <p:sp>
        <p:nvSpPr>
          <p:cNvPr id="11" name="Text Placeholder 6">
            <a:extLst>
              <a:ext uri="{FF2B5EF4-FFF2-40B4-BE49-F238E27FC236}">
                <a16:creationId xmlns:a16="http://schemas.microsoft.com/office/drawing/2014/main" id="{A99DBBE4-BB1D-4002-B725-89825E9CC147}"/>
              </a:ext>
            </a:extLst>
          </p:cNvPr>
          <p:cNvSpPr txBox="1">
            <a:spLocks/>
          </p:cNvSpPr>
          <p:nvPr/>
        </p:nvSpPr>
        <p:spPr>
          <a:xfrm>
            <a:off x="5942154" y="1443690"/>
            <a:ext cx="4695165" cy="823912"/>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Spatial Resolution</a:t>
            </a:r>
          </a:p>
        </p:txBody>
      </p:sp>
    </p:spTree>
    <p:extLst>
      <p:ext uri="{BB962C8B-B14F-4D97-AF65-F5344CB8AC3E}">
        <p14:creationId xmlns:p14="http://schemas.microsoft.com/office/powerpoint/2010/main" val="2236730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10C7D-84F2-C0C7-82D7-8FE7DB4A90AE}"/>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34246CC-333D-5091-C51B-247657E98DC0}"/>
              </a:ext>
            </a:extLst>
          </p:cNvPr>
          <p:cNvSpPr>
            <a:spLocks noGrp="1"/>
          </p:cNvSpPr>
          <p:nvPr>
            <p:ph type="ctrTitle"/>
          </p:nvPr>
        </p:nvSpPr>
        <p:spPr>
          <a:xfrm>
            <a:off x="1060940" y="82061"/>
            <a:ext cx="10433535" cy="715108"/>
          </a:xfrm>
        </p:spPr>
        <p:txBody>
          <a:bodyPr/>
          <a:lstStyle/>
          <a:p>
            <a:r>
              <a:rPr lang="en-IN" sz="4400" b="1" dirty="0">
                <a:solidFill>
                  <a:srgbClr val="002060"/>
                </a:solidFill>
              </a:rPr>
              <a:t>SPECTRAL BAND CONFIGURATION </a:t>
            </a:r>
          </a:p>
        </p:txBody>
      </p:sp>
      <p:sp>
        <p:nvSpPr>
          <p:cNvPr id="29" name="Text Placeholder 6">
            <a:extLst>
              <a:ext uri="{FF2B5EF4-FFF2-40B4-BE49-F238E27FC236}">
                <a16:creationId xmlns:a16="http://schemas.microsoft.com/office/drawing/2014/main" id="{E44C9E0C-6889-0DFF-0994-0D0F3E23F21A}"/>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10" name="TextBox 9">
            <a:extLst>
              <a:ext uri="{FF2B5EF4-FFF2-40B4-BE49-F238E27FC236}">
                <a16:creationId xmlns:a16="http://schemas.microsoft.com/office/drawing/2014/main" id="{FE4913CE-757B-4651-BCB1-CC5076BC90FF}"/>
              </a:ext>
            </a:extLst>
          </p:cNvPr>
          <p:cNvSpPr txBox="1"/>
          <p:nvPr/>
        </p:nvSpPr>
        <p:spPr>
          <a:xfrm>
            <a:off x="0" y="1079173"/>
            <a:ext cx="11591925" cy="5448415"/>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Band                    Wavelength(µm)                                      Application                                  </a:t>
            </a:r>
          </a:p>
          <a:p>
            <a:pPr algn="l">
              <a:lnSpc>
                <a:spcPct val="150000"/>
              </a:lnSpc>
              <a:buFont typeface="Arial" panose="020B0604020202020204" pitchFamily="34" charset="0"/>
              <a:buChar char="•"/>
            </a:pPr>
            <a:r>
              <a:rPr lang="en-IN" sz="1800" i="0" dirty="0">
                <a:effectLst/>
                <a:latin typeface="Arial" panose="020B0604020202020204" pitchFamily="34" charset="0"/>
              </a:rPr>
              <a:t>Blue</a:t>
            </a:r>
            <a:r>
              <a:rPr lang="en-IN" sz="2200" i="0" dirty="0">
                <a:effectLst/>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0.44 – 0.51         </a:t>
            </a:r>
            <a:r>
              <a:rPr lang="en-US" sz="2200" b="0" i="0" dirty="0">
                <a:effectLst/>
                <a:latin typeface="Times New Roman" panose="02020603050405020304" pitchFamily="18" charset="0"/>
                <a:cs typeface="Times New Roman" panose="02020603050405020304" pitchFamily="18" charset="0"/>
              </a:rPr>
              <a:t>Water body analysis including clarity and quality assessment</a:t>
            </a:r>
            <a:endParaRPr lang="en-IN" sz="2200" b="0" i="0" dirty="0">
              <a:effectLst/>
              <a:latin typeface="Times New Roman" panose="02020603050405020304" pitchFamily="18" charset="0"/>
              <a:cs typeface="Times New Roman" panose="02020603050405020304" pitchFamily="18" charset="0"/>
            </a:endParaRPr>
          </a:p>
          <a:p>
            <a:pPr algn="just">
              <a:lnSpc>
                <a:spcPct val="150000"/>
              </a:lnSpc>
            </a:pPr>
            <a:endParaRPr lang="en-IN"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1800" i="0" dirty="0">
                <a:effectLst/>
                <a:latin typeface="Arial" panose="020B0604020202020204" pitchFamily="34" charset="0"/>
              </a:rPr>
              <a:t>Green</a:t>
            </a:r>
            <a:r>
              <a:rPr lang="en-IN" sz="2200" i="0" dirty="0">
                <a:effectLst/>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0.52 – 0.59                   </a:t>
            </a:r>
            <a:r>
              <a:rPr lang="en-US" sz="2200" b="0" i="0" dirty="0">
                <a:effectLst/>
                <a:latin typeface="Times New Roman" panose="02020603050405020304" pitchFamily="18" charset="0"/>
                <a:cs typeface="Times New Roman" panose="02020603050405020304" pitchFamily="18" charset="0"/>
              </a:rPr>
              <a:t>Urban greenery mapping and land cover classification</a:t>
            </a:r>
          </a:p>
          <a:p>
            <a:pPr algn="l">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1800" i="0" dirty="0">
                <a:effectLst/>
                <a:latin typeface="Arial" panose="020B0604020202020204" pitchFamily="34" charset="0"/>
              </a:rPr>
              <a:t>Red</a:t>
            </a:r>
            <a:r>
              <a:rPr lang="en-IN" sz="2200" i="0" dirty="0">
                <a:effectLst/>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0.630 – 0.68                       </a:t>
            </a:r>
            <a:r>
              <a:rPr lang="en-US" sz="2200" b="0" i="0" dirty="0">
                <a:effectLst/>
                <a:latin typeface="Times New Roman" panose="02020603050405020304" pitchFamily="18" charset="0"/>
                <a:cs typeface="Times New Roman" panose="02020603050405020304" pitchFamily="18" charset="0"/>
              </a:rPr>
              <a:t>Identifying vegetation species and soil mapping</a:t>
            </a:r>
          </a:p>
          <a:p>
            <a:pPr algn="l">
              <a:lnSpc>
                <a:spcPct val="150000"/>
              </a:lnSpc>
              <a:buFont typeface="Arial" panose="020B0604020202020204" pitchFamily="34" charset="0"/>
              <a:buChar char="•"/>
            </a:pPr>
            <a:endParaRPr lang="en-US" sz="2200" b="0" i="0" dirty="0">
              <a:effectLst/>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IN" sz="1800" i="0" dirty="0">
                <a:effectLst/>
                <a:latin typeface="Arial" panose="020B0604020202020204" pitchFamily="34" charset="0"/>
              </a:rPr>
              <a:t>Red-edge</a:t>
            </a:r>
            <a:r>
              <a:rPr lang="en-IN" sz="2200" dirty="0">
                <a:latin typeface="Times New Roman" panose="02020603050405020304" pitchFamily="18" charset="0"/>
                <a:cs typeface="Times New Roman" panose="02020603050405020304" pitchFamily="18" charset="0"/>
              </a:rPr>
              <a:t>                      0.69 – 0.73                    </a:t>
            </a:r>
            <a:r>
              <a:rPr lang="en-US" sz="2200" b="0" i="0" dirty="0">
                <a:effectLst/>
                <a:latin typeface="Times New Roman" panose="02020603050405020304" pitchFamily="18" charset="0"/>
                <a:cs typeface="Times New Roman" panose="02020603050405020304" pitchFamily="18" charset="0"/>
              </a:rPr>
              <a:t>Differentiation of vegetation species and health</a:t>
            </a:r>
          </a:p>
          <a:p>
            <a:pPr algn="l">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1800" i="0" dirty="0">
                <a:effectLst/>
                <a:latin typeface="Arial" panose="020B0604020202020204" pitchFamily="34" charset="0"/>
              </a:rPr>
              <a:t>NIR</a:t>
            </a:r>
            <a:r>
              <a:rPr lang="en-IN" sz="2200" i="0" dirty="0">
                <a:effectLst/>
                <a:latin typeface="Times New Roman" panose="02020603050405020304" pitchFamily="18" charset="0"/>
                <a:cs typeface="Times New Roman" panose="02020603050405020304" pitchFamily="18" charset="0"/>
              </a:rPr>
              <a:t>                               0.76 – 0.85</a:t>
            </a:r>
            <a:r>
              <a:rPr lang="en-IN" sz="2200" dirty="0">
                <a:latin typeface="Times New Roman" panose="02020603050405020304" pitchFamily="18" charset="0"/>
                <a:cs typeface="Times New Roman" panose="02020603050405020304" pitchFamily="18" charset="0"/>
              </a:rPr>
              <a:t>                         </a:t>
            </a:r>
            <a:r>
              <a:rPr lang="en-US" sz="2200" b="0" i="0" dirty="0">
                <a:effectLst/>
                <a:latin typeface="Times New Roman" panose="02020603050405020304" pitchFamily="18" charset="0"/>
                <a:cs typeface="Times New Roman" panose="02020603050405020304" pitchFamily="18" charset="0"/>
              </a:rPr>
              <a:t>Forest inventory and canopy analysis</a:t>
            </a:r>
          </a:p>
          <a:p>
            <a:pPr>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1910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E95E-787E-C804-9937-8340003C5BBB}"/>
              </a:ext>
            </a:extLst>
          </p:cNvPr>
          <p:cNvSpPr>
            <a:spLocks noGrp="1"/>
          </p:cNvSpPr>
          <p:nvPr>
            <p:ph type="ctrTitle"/>
          </p:nvPr>
        </p:nvSpPr>
        <p:spPr>
          <a:xfrm>
            <a:off x="261257" y="3744685"/>
            <a:ext cx="9788435" cy="2386819"/>
          </a:xfrm>
        </p:spPr>
        <p:txBody>
          <a:bodyPr/>
          <a:lstStyle/>
          <a:p>
            <a:pPr algn="l"/>
            <a:r>
              <a:rPr lang="en-IN" sz="2000" b="1" dirty="0">
                <a:latin typeface="Times New Roman" panose="02020603050405020304" pitchFamily="18" charset="0"/>
                <a:cs typeface="Times New Roman" panose="02020603050405020304" pitchFamily="18" charset="0"/>
              </a:rPr>
              <a:t>Sensor Type:</a:t>
            </a:r>
            <a:r>
              <a:rPr lang="en-IN" sz="2000" dirty="0">
                <a:latin typeface="Times New Roman" panose="02020603050405020304" pitchFamily="18" charset="0"/>
                <a:cs typeface="Times New Roman" panose="02020603050405020304" pitchFamily="18" charset="0"/>
              </a:rPr>
              <a:t> Passive Optical </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Agencies:</a:t>
            </a:r>
            <a:r>
              <a:rPr lang="en-IN" sz="2000" dirty="0">
                <a:latin typeface="Times New Roman" panose="02020603050405020304" pitchFamily="18" charset="0"/>
                <a:cs typeface="Times New Roman" panose="02020603050405020304" pitchFamily="18" charset="0"/>
              </a:rPr>
              <a:t> ESA (European Space Agency) &amp; Copernicus Programme</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Orbit:</a:t>
            </a:r>
            <a:r>
              <a:rPr lang="en-IN" sz="2000" dirty="0">
                <a:latin typeface="Times New Roman" panose="02020603050405020304" pitchFamily="18" charset="0"/>
                <a:cs typeface="Times New Roman" panose="02020603050405020304" pitchFamily="18" charset="0"/>
              </a:rPr>
              <a:t> Sun-synchronous, near-polar orbit</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Altitude:</a:t>
            </a:r>
            <a:r>
              <a:rPr lang="en-IN" sz="2000" dirty="0">
                <a:latin typeface="Times New Roman" panose="02020603050405020304" pitchFamily="18" charset="0"/>
                <a:cs typeface="Times New Roman" panose="02020603050405020304" pitchFamily="18" charset="0"/>
              </a:rPr>
              <a:t> ~786 km</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Swath Width:</a:t>
            </a:r>
            <a:r>
              <a:rPr lang="en-IN" sz="2000" dirty="0">
                <a:latin typeface="Times New Roman" panose="02020603050405020304" pitchFamily="18" charset="0"/>
                <a:cs typeface="Times New Roman" panose="02020603050405020304" pitchFamily="18" charset="0"/>
              </a:rPr>
              <a:t> 290 km</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Spatial Resolution:</a:t>
            </a:r>
            <a:r>
              <a:rPr lang="en-IN" sz="2000" dirty="0">
                <a:latin typeface="Times New Roman" panose="02020603050405020304" pitchFamily="18" charset="0"/>
                <a:cs typeface="Times New Roman" panose="02020603050405020304" pitchFamily="18" charset="0"/>
              </a:rPr>
              <a:t> 10 m, 20 m, 60 m (depending on spectral band)</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Mission Timeline:</a:t>
            </a:r>
            <a:r>
              <a:rPr lang="en-IN" sz="2000" dirty="0">
                <a:latin typeface="Times New Roman" panose="02020603050405020304" pitchFamily="18" charset="0"/>
                <a:cs typeface="Times New Roman" panose="02020603050405020304" pitchFamily="18" charset="0"/>
              </a:rPr>
              <a:t> Sentinel-2A (2015–Present), Sentinel-2B (2017–Present)</a:t>
            </a:r>
          </a:p>
        </p:txBody>
      </p:sp>
      <p:sp>
        <p:nvSpPr>
          <p:cNvPr id="3" name="Subtitle 2">
            <a:extLst>
              <a:ext uri="{FF2B5EF4-FFF2-40B4-BE49-F238E27FC236}">
                <a16:creationId xmlns:a16="http://schemas.microsoft.com/office/drawing/2014/main" id="{801771BB-5AE0-8508-0967-842599AD32F9}"/>
              </a:ext>
            </a:extLst>
          </p:cNvPr>
          <p:cNvSpPr>
            <a:spLocks noGrp="1"/>
          </p:cNvSpPr>
          <p:nvPr>
            <p:ph type="subTitle" idx="1"/>
          </p:nvPr>
        </p:nvSpPr>
        <p:spPr>
          <a:xfrm>
            <a:off x="695179" y="1693253"/>
            <a:ext cx="8239815" cy="1655758"/>
          </a:xfrm>
        </p:spPr>
        <p:txBody>
          <a:bodyPr/>
          <a:lstStyle/>
          <a:p>
            <a:pPr algn="l"/>
            <a:r>
              <a:rPr lang="en-US" dirty="0">
                <a:latin typeface="Times New Roman" panose="02020603050405020304" pitchFamily="18" charset="0"/>
                <a:cs typeface="Times New Roman" panose="02020603050405020304" pitchFamily="18" charset="0"/>
              </a:rPr>
              <a:t>-MSI is an optical imaging sensor designed to capture multispectral images of the Earth. It helps in monitoring land use, vegetation, water bodies, urban areas, and disaster management. It’s widely used in satellites like </a:t>
            </a:r>
            <a:r>
              <a:rPr lang="en-US" b="1" dirty="0">
                <a:latin typeface="Times New Roman" panose="02020603050405020304" pitchFamily="18" charset="0"/>
                <a:cs typeface="Times New Roman" panose="02020603050405020304" pitchFamily="18" charset="0"/>
              </a:rPr>
              <a:t>Sentinel-2A and 2B</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Title 27">
            <a:extLst>
              <a:ext uri="{FF2B5EF4-FFF2-40B4-BE49-F238E27FC236}">
                <a16:creationId xmlns:a16="http://schemas.microsoft.com/office/drawing/2014/main" id="{C9129AC7-20D7-B16D-9222-F4C60D0A9756}"/>
              </a:ext>
            </a:extLst>
          </p:cNvPr>
          <p:cNvSpPr txBox="1">
            <a:spLocks/>
          </p:cNvSpPr>
          <p:nvPr/>
        </p:nvSpPr>
        <p:spPr>
          <a:xfrm>
            <a:off x="1060940" y="82061"/>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IN" sz="4400" b="1" dirty="0">
                <a:solidFill>
                  <a:srgbClr val="002060"/>
                </a:solidFill>
              </a:rPr>
              <a:t>Multispectral Imager (MSI)</a:t>
            </a:r>
          </a:p>
        </p:txBody>
      </p:sp>
    </p:spTree>
    <p:extLst>
      <p:ext uri="{BB962C8B-B14F-4D97-AF65-F5344CB8AC3E}">
        <p14:creationId xmlns:p14="http://schemas.microsoft.com/office/powerpoint/2010/main" val="3964423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7D63C-67A5-8F25-E4F4-A93610F08257}"/>
              </a:ext>
            </a:extLst>
          </p:cNvPr>
          <p:cNvSpPr>
            <a:spLocks noGrp="1"/>
          </p:cNvSpPr>
          <p:nvPr>
            <p:ph type="ctrTitle"/>
          </p:nvPr>
        </p:nvSpPr>
        <p:spPr>
          <a:xfrm>
            <a:off x="1060940" y="1115829"/>
            <a:ext cx="3239586" cy="819650"/>
          </a:xfrm>
        </p:spPr>
        <p:txBody>
          <a:bodyPr/>
          <a:lstStyle/>
          <a:p>
            <a:r>
              <a:rPr lang="en-US" sz="3600" u="sng" dirty="0">
                <a:latin typeface="Times New Roman" panose="02020603050405020304" pitchFamily="18" charset="0"/>
                <a:cs typeface="Times New Roman" panose="02020603050405020304" pitchFamily="18" charset="0"/>
              </a:rPr>
              <a:t>Key facts</a:t>
            </a:r>
            <a:endParaRPr lang="en-IN" sz="3600"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867667D-E804-DF47-90B5-75FA87621F8F}"/>
              </a:ext>
            </a:extLst>
          </p:cNvPr>
          <p:cNvSpPr>
            <a:spLocks noGrp="1"/>
          </p:cNvSpPr>
          <p:nvPr>
            <p:ph type="subTitle" idx="1"/>
          </p:nvPr>
        </p:nvSpPr>
        <p:spPr>
          <a:xfrm>
            <a:off x="1524000" y="1935479"/>
            <a:ext cx="9144000" cy="2868427"/>
          </a:xfrm>
        </p:spPr>
        <p:txBody>
          <a:bodyPr/>
          <a:lstStyle/>
          <a:p>
            <a:pPr algn="l"/>
            <a:endParaRPr lang="en-US" sz="1600" dirty="0"/>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Captures data in 13 spectral bands ranging from visible to SWIR (Short-Wave Infrared).</a:t>
            </a: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Spatial resolutions: 10m, 20m, and 60m depending on the band.</a:t>
            </a: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Revisit time: Every 5 days (with both satellites in orbit).</a:t>
            </a: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Features a push-broom scanner, not a whisk-broom — meaning it captures full image swaths at once.</a:t>
            </a: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Great for land cover mapping, vegetation health, and coastal studies.</a:t>
            </a: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Fun fact: The MSI is so precise that it can distinguish between different types of crops or tree species.</a:t>
            </a:r>
          </a:p>
          <a:p>
            <a:pPr algn="l"/>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l"/>
            <a:endParaRPr lang="en-IN" sz="1600" dirty="0"/>
          </a:p>
        </p:txBody>
      </p:sp>
      <p:sp>
        <p:nvSpPr>
          <p:cNvPr id="4" name="Title 27">
            <a:extLst>
              <a:ext uri="{FF2B5EF4-FFF2-40B4-BE49-F238E27FC236}">
                <a16:creationId xmlns:a16="http://schemas.microsoft.com/office/drawing/2014/main" id="{50F658E9-F68B-26DE-102B-FDFB4990015E}"/>
              </a:ext>
            </a:extLst>
          </p:cNvPr>
          <p:cNvSpPr txBox="1">
            <a:spLocks/>
          </p:cNvSpPr>
          <p:nvPr/>
        </p:nvSpPr>
        <p:spPr>
          <a:xfrm>
            <a:off x="1060940" y="82061"/>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IN" sz="4400" b="1" dirty="0">
                <a:solidFill>
                  <a:srgbClr val="002060"/>
                </a:solidFill>
              </a:rPr>
              <a:t>Multispectral Imager (MSI)</a:t>
            </a:r>
          </a:p>
        </p:txBody>
      </p:sp>
    </p:spTree>
    <p:extLst>
      <p:ext uri="{BB962C8B-B14F-4D97-AF65-F5344CB8AC3E}">
        <p14:creationId xmlns:p14="http://schemas.microsoft.com/office/powerpoint/2010/main" val="278714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7DB9F00-4EE6-1123-6D76-E040D2A51298}"/>
              </a:ext>
            </a:extLst>
          </p:cNvPr>
          <p:cNvSpPr>
            <a:spLocks noGrp="1"/>
          </p:cNvSpPr>
          <p:nvPr>
            <p:ph type="subTitle" idx="1"/>
          </p:nvPr>
        </p:nvSpPr>
        <p:spPr>
          <a:xfrm>
            <a:off x="121920" y="1150779"/>
            <a:ext cx="4302034" cy="395193"/>
          </a:xfrm>
        </p:spPr>
        <p:txBody>
          <a:bodyPr/>
          <a:lstStyle/>
          <a:p>
            <a:r>
              <a:rPr lang="en-IN" b="1" u="sng" dirty="0"/>
              <a:t>MSI – Multispectral Imager</a:t>
            </a:r>
          </a:p>
        </p:txBody>
      </p:sp>
      <p:graphicFrame>
        <p:nvGraphicFramePr>
          <p:cNvPr id="4" name="Table 3">
            <a:extLst>
              <a:ext uri="{FF2B5EF4-FFF2-40B4-BE49-F238E27FC236}">
                <a16:creationId xmlns:a16="http://schemas.microsoft.com/office/drawing/2014/main" id="{D397A860-0B7F-0A3D-E64C-73CCD25EB29D}"/>
              </a:ext>
            </a:extLst>
          </p:cNvPr>
          <p:cNvGraphicFramePr>
            <a:graphicFrameLocks noGrp="1"/>
          </p:cNvGraphicFramePr>
          <p:nvPr>
            <p:extLst>
              <p:ext uri="{D42A27DB-BD31-4B8C-83A1-F6EECF244321}">
                <p14:modId xmlns:p14="http://schemas.microsoft.com/office/powerpoint/2010/main" val="203218040"/>
              </p:ext>
            </p:extLst>
          </p:nvPr>
        </p:nvGraphicFramePr>
        <p:xfrm>
          <a:off x="557015" y="1822193"/>
          <a:ext cx="9902381" cy="4389120"/>
        </p:xfrm>
        <a:graphic>
          <a:graphicData uri="http://schemas.openxmlformats.org/drawingml/2006/table">
            <a:tbl>
              <a:tblPr/>
              <a:tblGrid>
                <a:gridCol w="2587181">
                  <a:extLst>
                    <a:ext uri="{9D8B030D-6E8A-4147-A177-3AD203B41FA5}">
                      <a16:colId xmlns:a16="http://schemas.microsoft.com/office/drawing/2014/main" val="3817301292"/>
                    </a:ext>
                  </a:extLst>
                </a:gridCol>
                <a:gridCol w="3657600">
                  <a:extLst>
                    <a:ext uri="{9D8B030D-6E8A-4147-A177-3AD203B41FA5}">
                      <a16:colId xmlns:a16="http://schemas.microsoft.com/office/drawing/2014/main" val="76568758"/>
                    </a:ext>
                  </a:extLst>
                </a:gridCol>
                <a:gridCol w="3657600">
                  <a:extLst>
                    <a:ext uri="{9D8B030D-6E8A-4147-A177-3AD203B41FA5}">
                      <a16:colId xmlns:a16="http://schemas.microsoft.com/office/drawing/2014/main" val="85228549"/>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Parameter</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Sentinel-2A</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Sentinel-2B</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2877634"/>
                  </a:ext>
                </a:extLst>
              </a:tr>
              <a:tr h="0">
                <a:tc>
                  <a:txBody>
                    <a:bodyPr/>
                    <a:lstStyle/>
                    <a:p>
                      <a:pPr>
                        <a:buNone/>
                      </a:pPr>
                      <a:r>
                        <a:rPr lang="en-IN" sz="2000" b="1" dirty="0">
                          <a:latin typeface="Times New Roman" panose="02020603050405020304" pitchFamily="18" charset="0"/>
                          <a:cs typeface="Times New Roman" panose="02020603050405020304" pitchFamily="18" charset="0"/>
                        </a:rPr>
                        <a:t>Launch Date</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23 June 2015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7 March 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288876"/>
                  </a:ext>
                </a:extLst>
              </a:tr>
              <a:tr h="0">
                <a:tc>
                  <a:txBody>
                    <a:bodyPr/>
                    <a:lstStyle/>
                    <a:p>
                      <a:pPr>
                        <a:buNone/>
                      </a:pPr>
                      <a:r>
                        <a:rPr lang="en-IN" sz="2000" b="1" dirty="0">
                          <a:latin typeface="Times New Roman" panose="02020603050405020304" pitchFamily="18" charset="0"/>
                          <a:cs typeface="Times New Roman" panose="02020603050405020304" pitchFamily="18" charset="0"/>
                        </a:rPr>
                        <a:t>Orbit Type</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Sun-synchronous, near-polar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Identical to Sentinel-2A (phase-shifted by 180°)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1356871"/>
                  </a:ext>
                </a:extLst>
              </a:tr>
              <a:tr h="0">
                <a:tc>
                  <a:txBody>
                    <a:bodyPr/>
                    <a:lstStyle/>
                    <a:p>
                      <a:pPr>
                        <a:buNone/>
                      </a:pPr>
                      <a:r>
                        <a:rPr lang="en-IN" sz="2000" b="1">
                          <a:latin typeface="Times New Roman" panose="02020603050405020304" pitchFamily="18" charset="0"/>
                          <a:cs typeface="Times New Roman" panose="02020603050405020304" pitchFamily="18" charset="0"/>
                        </a:rPr>
                        <a:t>Altitude</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786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786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0731914"/>
                  </a:ext>
                </a:extLst>
              </a:tr>
              <a:tr h="0">
                <a:tc>
                  <a:txBody>
                    <a:bodyPr/>
                    <a:lstStyle/>
                    <a:p>
                      <a:pPr>
                        <a:buNone/>
                      </a:pPr>
                      <a:r>
                        <a:rPr lang="en-IN" sz="2000" b="1">
                          <a:latin typeface="Times New Roman" panose="02020603050405020304" pitchFamily="18" charset="0"/>
                          <a:cs typeface="Times New Roman" panose="02020603050405020304" pitchFamily="18" charset="0"/>
                        </a:rPr>
                        <a:t>Orbit Repeat Cycle</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latin typeface="Times New Roman" panose="02020603050405020304" pitchFamily="18" charset="0"/>
                          <a:cs typeface="Times New Roman" panose="02020603050405020304" pitchFamily="18" charset="0"/>
                        </a:rPr>
                        <a:t>10 days (combined with 2B → 5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10 days (phase-shifted → combined 5-day revisit)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6428087"/>
                  </a:ext>
                </a:extLst>
              </a:tr>
              <a:tr h="0">
                <a:tc>
                  <a:txBody>
                    <a:bodyPr/>
                    <a:lstStyle/>
                    <a:p>
                      <a:pPr>
                        <a:buNone/>
                      </a:pPr>
                      <a:r>
                        <a:rPr lang="en-IN" sz="2000" b="1">
                          <a:latin typeface="Times New Roman" panose="02020603050405020304" pitchFamily="18" charset="0"/>
                          <a:cs typeface="Times New Roman" panose="02020603050405020304" pitchFamily="18" charset="0"/>
                        </a:rPr>
                        <a:t>Swath Width</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290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290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3956660"/>
                  </a:ext>
                </a:extLst>
              </a:tr>
              <a:tr h="0">
                <a:tc>
                  <a:txBody>
                    <a:bodyPr/>
                    <a:lstStyle/>
                    <a:p>
                      <a:pPr>
                        <a:buNone/>
                      </a:pPr>
                      <a:r>
                        <a:rPr lang="en-IN" sz="2000" b="1" dirty="0">
                          <a:latin typeface="Times New Roman" panose="02020603050405020304" pitchFamily="18" charset="0"/>
                          <a:cs typeface="Times New Roman" panose="02020603050405020304" pitchFamily="18" charset="0"/>
                        </a:rPr>
                        <a:t>Spatial Resolution</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latin typeface="Times New Roman" panose="02020603050405020304" pitchFamily="18" charset="0"/>
                          <a:cs typeface="Times New Roman" panose="02020603050405020304" pitchFamily="18" charset="0"/>
                        </a:rPr>
                        <a:t>10 m / 20 m / 60 m (depending on band)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10 m / 20 m / 60 m (depending on band)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4695635"/>
                  </a:ext>
                </a:extLst>
              </a:tr>
              <a:tr h="0">
                <a:tc>
                  <a:txBody>
                    <a:bodyPr/>
                    <a:lstStyle/>
                    <a:p>
                      <a:pPr>
                        <a:buNone/>
                      </a:pPr>
                      <a:r>
                        <a:rPr lang="en-IN" sz="2000" b="1">
                          <a:latin typeface="Times New Roman" panose="02020603050405020304" pitchFamily="18" charset="0"/>
                          <a:cs typeface="Times New Roman" panose="02020603050405020304" pitchFamily="18" charset="0"/>
                        </a:rPr>
                        <a:t>Spectral Band Configuration</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latin typeface="Times New Roman" panose="02020603050405020304" pitchFamily="18" charset="0"/>
                          <a:cs typeface="Times New Roman" panose="02020603050405020304" pitchFamily="18" charset="0"/>
                        </a:rPr>
                        <a:t>13 bands (Visible, NIR, SWIR)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latin typeface="Times New Roman" panose="02020603050405020304" pitchFamily="18" charset="0"/>
                          <a:cs typeface="Times New Roman" panose="02020603050405020304" pitchFamily="18" charset="0"/>
                        </a:rPr>
                        <a:t>13 bands (Same as Sentinel-2A)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5073906"/>
                  </a:ext>
                </a:extLst>
              </a:tr>
            </a:tbl>
          </a:graphicData>
        </a:graphic>
      </p:graphicFrame>
      <p:sp>
        <p:nvSpPr>
          <p:cNvPr id="5" name="Title 27">
            <a:extLst>
              <a:ext uri="{FF2B5EF4-FFF2-40B4-BE49-F238E27FC236}">
                <a16:creationId xmlns:a16="http://schemas.microsoft.com/office/drawing/2014/main" id="{DBA5BDC1-A53C-06DE-031F-6F7EBC047C91}"/>
              </a:ext>
            </a:extLst>
          </p:cNvPr>
          <p:cNvSpPr txBox="1">
            <a:spLocks/>
          </p:cNvSpPr>
          <p:nvPr/>
        </p:nvSpPr>
        <p:spPr>
          <a:xfrm>
            <a:off x="557015" y="159450"/>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IN" sz="4400" b="1" dirty="0">
                <a:solidFill>
                  <a:schemeClr val="tx1"/>
                </a:solidFill>
              </a:rPr>
              <a:t>Multispectral Imager (MSI)</a:t>
            </a:r>
          </a:p>
        </p:txBody>
      </p:sp>
    </p:spTree>
    <p:extLst>
      <p:ext uri="{BB962C8B-B14F-4D97-AF65-F5344CB8AC3E}">
        <p14:creationId xmlns:p14="http://schemas.microsoft.com/office/powerpoint/2010/main" val="763391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20312-C20D-BE1C-289C-341CFF610EF7}"/>
              </a:ext>
            </a:extLst>
          </p:cNvPr>
          <p:cNvSpPr>
            <a:spLocks noGrp="1"/>
          </p:cNvSpPr>
          <p:nvPr>
            <p:ph type="ctrTitle"/>
          </p:nvPr>
        </p:nvSpPr>
        <p:spPr>
          <a:xfrm>
            <a:off x="-1148865" y="1741861"/>
            <a:ext cx="5723037" cy="741273"/>
          </a:xfrm>
        </p:spPr>
        <p:txBody>
          <a:bodyPr/>
          <a:lstStyle/>
          <a:p>
            <a:r>
              <a:rPr lang="en-US" sz="2600" b="1" u="sng" dirty="0">
                <a:latin typeface="Times New Roman" panose="02020603050405020304" pitchFamily="18" charset="0"/>
                <a:cs typeface="Times New Roman" panose="02020603050405020304" pitchFamily="18" charset="0"/>
              </a:rPr>
              <a:t>Applications:</a:t>
            </a:r>
            <a:endParaRPr lang="en-IN" sz="2600" u="sng"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45016B54-E726-7CFB-A6B6-EF4ABE916CF4}"/>
              </a:ext>
            </a:extLst>
          </p:cNvPr>
          <p:cNvSpPr txBox="1">
            <a:spLocks/>
          </p:cNvSpPr>
          <p:nvPr/>
        </p:nvSpPr>
        <p:spPr>
          <a:xfrm>
            <a:off x="-87842" y="1004490"/>
            <a:ext cx="3405051" cy="377776"/>
          </a:xfrm>
          <a:prstGeom prst="rect">
            <a:avLst/>
          </a:prstGeom>
          <a:noFill/>
          <a:ln>
            <a:noFill/>
          </a:ln>
        </p:spPr>
        <p:txBody>
          <a:bodyPr vert="horz" wrap="square" lIns="91440" tIns="45720" rIns="91440" bIns="45720" anchor="t" anchorCtr="1" compatLnSpc="1">
            <a:no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IN" sz="2800" b="1" dirty="0">
                <a:latin typeface="Times New Roman" panose="02020603050405020304" pitchFamily="18" charset="0"/>
                <a:cs typeface="Times New Roman" panose="02020603050405020304" pitchFamily="18" charset="0"/>
              </a:rPr>
              <a:t>Sentinel-2A</a:t>
            </a:r>
          </a:p>
        </p:txBody>
      </p:sp>
      <p:sp>
        <p:nvSpPr>
          <p:cNvPr id="5" name="Title 27">
            <a:extLst>
              <a:ext uri="{FF2B5EF4-FFF2-40B4-BE49-F238E27FC236}">
                <a16:creationId xmlns:a16="http://schemas.microsoft.com/office/drawing/2014/main" id="{6B7CE233-9AD5-1605-8E5D-42AC3ADF8A21}"/>
              </a:ext>
            </a:extLst>
          </p:cNvPr>
          <p:cNvSpPr txBox="1">
            <a:spLocks/>
          </p:cNvSpPr>
          <p:nvPr/>
        </p:nvSpPr>
        <p:spPr>
          <a:xfrm>
            <a:off x="1060940" y="90770"/>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IN" sz="4400" b="1" dirty="0">
                <a:solidFill>
                  <a:srgbClr val="002060"/>
                </a:solidFill>
              </a:rPr>
              <a:t>Multispectral Imager (MSI)</a:t>
            </a:r>
          </a:p>
        </p:txBody>
      </p:sp>
      <p:sp>
        <p:nvSpPr>
          <p:cNvPr id="7" name="Rectangle 2">
            <a:extLst>
              <a:ext uri="{FF2B5EF4-FFF2-40B4-BE49-F238E27FC236}">
                <a16:creationId xmlns:a16="http://schemas.microsoft.com/office/drawing/2014/main" id="{131D40EC-9817-A3EC-EFFC-DAB5E5318D42}"/>
              </a:ext>
            </a:extLst>
          </p:cNvPr>
          <p:cNvSpPr>
            <a:spLocks noGrp="1" noChangeArrowheads="1"/>
          </p:cNvSpPr>
          <p:nvPr>
            <p:ph type="subTitle" idx="1"/>
          </p:nvPr>
        </p:nvSpPr>
        <p:spPr bwMode="auto">
          <a:xfrm>
            <a:off x="775063" y="2687727"/>
            <a:ext cx="1043353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Crop type identification, health, and yield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Forestry: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Mapping forest cover, biomass, and deforestation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Land use/land cover (LULC):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Classification and urban expansion studies.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Water resources: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Water quality, turbidity, and inland water mapping.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Disaster management: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Flood, drought, and forest fire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Climate and environment: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Vegetation indices (NDVI), drought assessment, and change detection.</a:t>
            </a:r>
          </a:p>
        </p:txBody>
      </p:sp>
    </p:spTree>
    <p:extLst>
      <p:ext uri="{BB962C8B-B14F-4D97-AF65-F5344CB8AC3E}">
        <p14:creationId xmlns:p14="http://schemas.microsoft.com/office/powerpoint/2010/main" val="1483101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59835-A0CC-4AD6-1AAB-9506829BD5F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BA0C2C1-EC75-AC70-066C-5D2716296159}"/>
              </a:ext>
            </a:extLst>
          </p:cNvPr>
          <p:cNvSpPr>
            <a:spLocks noGrp="1"/>
          </p:cNvSpPr>
          <p:nvPr>
            <p:ph type="subTitle" idx="1"/>
          </p:nvPr>
        </p:nvSpPr>
        <p:spPr>
          <a:xfrm>
            <a:off x="-714100" y="4218328"/>
            <a:ext cx="9144000" cy="3521570"/>
          </a:xfrm>
        </p:spPr>
        <p:txBody>
          <a:bodyPr/>
          <a:lstStyle/>
          <a:p>
            <a:pPr algn="l"/>
            <a:r>
              <a:rPr lang="en-US" sz="2000" b="1" dirty="0">
                <a:latin typeface="Times New Roman" panose="02020603050405020304" pitchFamily="18" charset="0"/>
                <a:cs typeface="Times New Roman" panose="02020603050405020304" pitchFamily="18" charset="0"/>
              </a:rPr>
              <a:t>Applications:</a:t>
            </a:r>
            <a:endParaRPr lang="en-US" sz="20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crop growth assessment</a:t>
            </a:r>
          </a:p>
          <a:p>
            <a:pPr marL="342900" indent="-34290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Continuous land surface monitoring</a:t>
            </a:r>
          </a:p>
          <a:p>
            <a:pPr marL="342900" indent="-34290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water body mapping</a:t>
            </a:r>
          </a:p>
          <a:p>
            <a:pPr marL="342900" indent="-34290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environmental disaster tracking</a:t>
            </a:r>
          </a:p>
          <a:p>
            <a:pPr marL="342900" indent="-34290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climate change analysis.</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Title 27">
            <a:extLst>
              <a:ext uri="{FF2B5EF4-FFF2-40B4-BE49-F238E27FC236}">
                <a16:creationId xmlns:a16="http://schemas.microsoft.com/office/drawing/2014/main" id="{CE53F35F-C3D7-0B2E-40B3-856050130C6B}"/>
              </a:ext>
            </a:extLst>
          </p:cNvPr>
          <p:cNvSpPr txBox="1">
            <a:spLocks/>
          </p:cNvSpPr>
          <p:nvPr/>
        </p:nvSpPr>
        <p:spPr>
          <a:xfrm>
            <a:off x="1060940" y="82061"/>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r>
              <a:rPr lang="en-IN" sz="4400" b="1" dirty="0">
                <a:solidFill>
                  <a:srgbClr val="002060"/>
                </a:solidFill>
              </a:rPr>
              <a:t>Multispectral Imager (MSI)</a:t>
            </a:r>
          </a:p>
        </p:txBody>
      </p:sp>
      <p:sp>
        <p:nvSpPr>
          <p:cNvPr id="5" name="TextBox 4">
            <a:extLst>
              <a:ext uri="{FF2B5EF4-FFF2-40B4-BE49-F238E27FC236}">
                <a16:creationId xmlns:a16="http://schemas.microsoft.com/office/drawing/2014/main" id="{833BEC45-39D6-07A5-C430-D0BDD8380F89}"/>
              </a:ext>
            </a:extLst>
          </p:cNvPr>
          <p:cNvSpPr txBox="1"/>
          <p:nvPr/>
        </p:nvSpPr>
        <p:spPr>
          <a:xfrm>
            <a:off x="1479704" y="2061401"/>
            <a:ext cx="9232591" cy="224676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Key Features &amp; Differences: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Sentinel-2B ensures: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-reduced revisit time → 5 days at the equator, 2–3 days at mid-latitudes.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-Provides global multi-temporal coverage for vegetation and land monitoring.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-Data from 2A &amp; 2B are inter-calibrated for consistency in long-term Earth observation studies.</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5F735CB4-D13C-F0C7-8695-7E9387F8EB25}"/>
              </a:ext>
            </a:extLst>
          </p:cNvPr>
          <p:cNvSpPr txBox="1">
            <a:spLocks/>
          </p:cNvSpPr>
          <p:nvPr/>
        </p:nvSpPr>
        <p:spPr>
          <a:xfrm>
            <a:off x="660346" y="1415477"/>
            <a:ext cx="3405051" cy="377776"/>
          </a:xfrm>
          <a:prstGeom prst="rect">
            <a:avLst/>
          </a:prstGeom>
          <a:noFill/>
          <a:ln>
            <a:noFill/>
          </a:ln>
        </p:spPr>
        <p:txBody>
          <a:bodyPr vert="horz" wrap="square" lIns="91440" tIns="45720" rIns="91440" bIns="45720" anchor="t" anchorCtr="1" compatLnSpc="1">
            <a:noAutofit/>
          </a:bodyPr>
          <a:lstStyle>
            <a:lvl1pPr marL="0" marR="0" lvl="0" indent="0" algn="ctr" defTabSz="914400" rtl="0" fontAlgn="auto" hangingPunct="1">
              <a:lnSpc>
                <a:spcPct val="100000"/>
              </a:lnSpc>
              <a:spcBef>
                <a:spcPts val="600"/>
              </a:spcBef>
              <a:spcAft>
                <a:spcPts val="0"/>
              </a:spcAft>
              <a:buClr>
                <a:srgbClr val="006699"/>
              </a:buClr>
              <a:buSzPct val="110000"/>
              <a:buFont typeface="Wingdings" pitchFamily="2"/>
              <a:buNone/>
              <a:tabLst/>
              <a:defRPr lang="en-US"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IN" b="1" u="sng" dirty="0">
                <a:latin typeface="Times New Roman" panose="02020603050405020304" pitchFamily="18" charset="0"/>
                <a:cs typeface="Times New Roman" panose="02020603050405020304" pitchFamily="18" charset="0"/>
              </a:rPr>
              <a:t>Sentinel-2B</a:t>
            </a:r>
          </a:p>
        </p:txBody>
      </p:sp>
    </p:spTree>
    <p:extLst>
      <p:ext uri="{BB962C8B-B14F-4D97-AF65-F5344CB8AC3E}">
        <p14:creationId xmlns:p14="http://schemas.microsoft.com/office/powerpoint/2010/main" val="424492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A1C77-3DAC-68B5-49A5-877F63709E2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30A313-3A80-8076-B35B-16170E203904}"/>
              </a:ext>
            </a:extLst>
          </p:cNvPr>
          <p:cNvSpPr>
            <a:spLocks noGrp="1"/>
          </p:cNvSpPr>
          <p:nvPr>
            <p:ph type="ctrTitle"/>
          </p:nvPr>
        </p:nvSpPr>
        <p:spPr>
          <a:xfrm>
            <a:off x="374891" y="3110049"/>
            <a:ext cx="10641875" cy="3274296"/>
          </a:xfrm>
        </p:spPr>
        <p:txBody>
          <a:bodyPr/>
          <a:lstStyle/>
          <a:p>
            <a:pPr algn="l"/>
            <a:r>
              <a:rPr lang="en-IN" sz="2100" b="1" dirty="0">
                <a:latin typeface="Times New Roman" panose="02020603050405020304" pitchFamily="18" charset="0"/>
                <a:cs typeface="Times New Roman" panose="02020603050405020304" pitchFamily="18" charset="0"/>
              </a:rPr>
              <a:t>Sensor Type:</a:t>
            </a:r>
            <a:r>
              <a:rPr lang="en-IN" sz="2100" dirty="0">
                <a:latin typeface="Times New Roman" panose="02020603050405020304" pitchFamily="18" charset="0"/>
                <a:cs typeface="Times New Roman" panose="02020603050405020304" pitchFamily="18" charset="0"/>
              </a:rPr>
              <a:t> Passive Optical (Visible, Near Infrared, Shortwave Infrared, Thermal Infrared)</a:t>
            </a:r>
            <a:br>
              <a:rPr lang="en-IN" sz="2100" dirty="0">
                <a:latin typeface="Times New Roman" panose="02020603050405020304" pitchFamily="18" charset="0"/>
                <a:cs typeface="Times New Roman" panose="02020603050405020304" pitchFamily="18" charset="0"/>
              </a:rPr>
            </a:br>
            <a:r>
              <a:rPr lang="en-IN" sz="2100" b="1" dirty="0">
                <a:latin typeface="Times New Roman" panose="02020603050405020304" pitchFamily="18" charset="0"/>
                <a:cs typeface="Times New Roman" panose="02020603050405020304" pitchFamily="18" charset="0"/>
              </a:rPr>
              <a:t>Platform:</a:t>
            </a:r>
            <a:r>
              <a:rPr lang="en-IN" sz="2100" dirty="0">
                <a:latin typeface="Times New Roman" panose="02020603050405020304" pitchFamily="18" charset="0"/>
                <a:cs typeface="Times New Roman" panose="02020603050405020304" pitchFamily="18" charset="0"/>
              </a:rPr>
              <a:t> Suomi NPP and NOAA-20 (JPSS Satellite Series)</a:t>
            </a:r>
            <a:br>
              <a:rPr lang="en-IN" sz="2100" dirty="0">
                <a:latin typeface="Times New Roman" panose="02020603050405020304" pitchFamily="18" charset="0"/>
                <a:cs typeface="Times New Roman" panose="02020603050405020304" pitchFamily="18" charset="0"/>
              </a:rPr>
            </a:br>
            <a:r>
              <a:rPr lang="en-IN" sz="2100" b="1" dirty="0">
                <a:latin typeface="Times New Roman" panose="02020603050405020304" pitchFamily="18" charset="0"/>
                <a:cs typeface="Times New Roman" panose="02020603050405020304" pitchFamily="18" charset="0"/>
              </a:rPr>
              <a:t>Agencies:</a:t>
            </a:r>
            <a:r>
              <a:rPr lang="en-IN" sz="2100" dirty="0">
                <a:latin typeface="Times New Roman" panose="02020603050405020304" pitchFamily="18" charset="0"/>
                <a:cs typeface="Times New Roman" panose="02020603050405020304" pitchFamily="18" charset="0"/>
              </a:rPr>
              <a:t> NASA (USA) &amp; NOAA (USA)</a:t>
            </a:r>
            <a:br>
              <a:rPr lang="en-IN" sz="2100" dirty="0">
                <a:latin typeface="Times New Roman" panose="02020603050405020304" pitchFamily="18" charset="0"/>
                <a:cs typeface="Times New Roman" panose="02020603050405020304" pitchFamily="18" charset="0"/>
              </a:rPr>
            </a:br>
            <a:r>
              <a:rPr lang="en-IN" sz="2100" b="1" dirty="0">
                <a:latin typeface="Times New Roman" panose="02020603050405020304" pitchFamily="18" charset="0"/>
                <a:cs typeface="Times New Roman" panose="02020603050405020304" pitchFamily="18" charset="0"/>
              </a:rPr>
              <a:t>Orbit:</a:t>
            </a:r>
            <a:r>
              <a:rPr lang="en-IN" sz="2100" dirty="0">
                <a:latin typeface="Times New Roman" panose="02020603050405020304" pitchFamily="18" charset="0"/>
                <a:cs typeface="Times New Roman" panose="02020603050405020304" pitchFamily="18" charset="0"/>
              </a:rPr>
              <a:t> Sun-synchronous, near-polar orbit</a:t>
            </a:r>
            <a:br>
              <a:rPr lang="en-IN" sz="2100" dirty="0">
                <a:latin typeface="Times New Roman" panose="02020603050405020304" pitchFamily="18" charset="0"/>
                <a:cs typeface="Times New Roman" panose="02020603050405020304" pitchFamily="18" charset="0"/>
              </a:rPr>
            </a:br>
            <a:r>
              <a:rPr lang="en-IN" sz="2100" b="1" dirty="0">
                <a:latin typeface="Times New Roman" panose="02020603050405020304" pitchFamily="18" charset="0"/>
                <a:cs typeface="Times New Roman" panose="02020603050405020304" pitchFamily="18" charset="0"/>
              </a:rPr>
              <a:t>Altitude:</a:t>
            </a:r>
            <a:r>
              <a:rPr lang="en-IN" sz="2100" dirty="0">
                <a:latin typeface="Times New Roman" panose="02020603050405020304" pitchFamily="18" charset="0"/>
                <a:cs typeface="Times New Roman" panose="02020603050405020304" pitchFamily="18" charset="0"/>
              </a:rPr>
              <a:t> ~824 km</a:t>
            </a:r>
            <a:br>
              <a:rPr lang="en-IN" sz="2100" dirty="0">
                <a:latin typeface="Times New Roman" panose="02020603050405020304" pitchFamily="18" charset="0"/>
                <a:cs typeface="Times New Roman" panose="02020603050405020304" pitchFamily="18" charset="0"/>
              </a:rPr>
            </a:br>
            <a:r>
              <a:rPr lang="en-IN" sz="2100" b="1" dirty="0">
                <a:latin typeface="Times New Roman" panose="02020603050405020304" pitchFamily="18" charset="0"/>
                <a:cs typeface="Times New Roman" panose="02020603050405020304" pitchFamily="18" charset="0"/>
              </a:rPr>
              <a:t>Swath Width:</a:t>
            </a:r>
            <a:r>
              <a:rPr lang="en-IN" sz="2100" dirty="0">
                <a:latin typeface="Times New Roman" panose="02020603050405020304" pitchFamily="18" charset="0"/>
                <a:cs typeface="Times New Roman" panose="02020603050405020304" pitchFamily="18" charset="0"/>
              </a:rPr>
              <a:t> 3,040 km</a:t>
            </a:r>
            <a:br>
              <a:rPr lang="en-IN" sz="2100" dirty="0">
                <a:latin typeface="Times New Roman" panose="02020603050405020304" pitchFamily="18" charset="0"/>
                <a:cs typeface="Times New Roman" panose="02020603050405020304" pitchFamily="18" charset="0"/>
              </a:rPr>
            </a:br>
            <a:r>
              <a:rPr lang="en-IN" sz="2100" b="1" dirty="0">
                <a:latin typeface="Times New Roman" panose="02020603050405020304" pitchFamily="18" charset="0"/>
                <a:cs typeface="Times New Roman" panose="02020603050405020304" pitchFamily="18" charset="0"/>
              </a:rPr>
              <a:t>Spatial Resolution:</a:t>
            </a:r>
            <a:r>
              <a:rPr lang="en-IN" sz="2100" dirty="0">
                <a:latin typeface="Times New Roman" panose="02020603050405020304" pitchFamily="18" charset="0"/>
                <a:cs typeface="Times New Roman" panose="02020603050405020304" pitchFamily="18" charset="0"/>
              </a:rPr>
              <a:t> 375 m (Imagery bands), 750 m (Moderate-resolution bands)</a:t>
            </a:r>
            <a:br>
              <a:rPr lang="en-IN" sz="2100" dirty="0">
                <a:latin typeface="Times New Roman" panose="02020603050405020304" pitchFamily="18" charset="0"/>
                <a:cs typeface="Times New Roman" panose="02020603050405020304" pitchFamily="18" charset="0"/>
              </a:rPr>
            </a:br>
            <a:r>
              <a:rPr lang="en-IN" sz="2100" b="1" dirty="0">
                <a:latin typeface="Times New Roman" panose="02020603050405020304" pitchFamily="18" charset="0"/>
                <a:cs typeface="Times New Roman" panose="02020603050405020304" pitchFamily="18" charset="0"/>
              </a:rPr>
              <a:t>Mission Timeline:</a:t>
            </a:r>
            <a:br>
              <a:rPr lang="en-IN" sz="2100" dirty="0">
                <a:latin typeface="Times New Roman" panose="02020603050405020304" pitchFamily="18" charset="0"/>
                <a:cs typeface="Times New Roman" panose="02020603050405020304" pitchFamily="18" charset="0"/>
              </a:rPr>
            </a:b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Suomi NPP VIIRS:</a:t>
            </a:r>
            <a:r>
              <a:rPr lang="en-IN" sz="2100" dirty="0">
                <a:latin typeface="Times New Roman" panose="02020603050405020304" pitchFamily="18" charset="0"/>
                <a:cs typeface="Times New Roman" panose="02020603050405020304" pitchFamily="18" charset="0"/>
              </a:rPr>
              <a:t> Launched 28 October 2011 (Operational)</a:t>
            </a:r>
            <a:br>
              <a:rPr lang="en-IN" sz="2100" dirty="0">
                <a:latin typeface="Times New Roman" panose="02020603050405020304" pitchFamily="18" charset="0"/>
                <a:cs typeface="Times New Roman" panose="02020603050405020304" pitchFamily="18" charset="0"/>
              </a:rPr>
            </a:b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NOAA-20 VIIRS:</a:t>
            </a:r>
            <a:r>
              <a:rPr lang="en-IN" sz="2100" dirty="0">
                <a:latin typeface="Times New Roman" panose="02020603050405020304" pitchFamily="18" charset="0"/>
                <a:cs typeface="Times New Roman" panose="02020603050405020304" pitchFamily="18" charset="0"/>
              </a:rPr>
              <a:t> Launched 18 November 2017 (Operational)</a:t>
            </a:r>
            <a:br>
              <a:rPr lang="en-IN" sz="2100" dirty="0">
                <a:latin typeface="Times New Roman" panose="02020603050405020304" pitchFamily="18" charset="0"/>
                <a:cs typeface="Times New Roman" panose="02020603050405020304" pitchFamily="18" charset="0"/>
              </a:rPr>
            </a:b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NOAA-21 VIIRS:</a:t>
            </a:r>
            <a:r>
              <a:rPr lang="en-IN" sz="2100" dirty="0">
                <a:latin typeface="Times New Roman" panose="02020603050405020304" pitchFamily="18" charset="0"/>
                <a:cs typeface="Times New Roman" panose="02020603050405020304" pitchFamily="18" charset="0"/>
              </a:rPr>
              <a:t> Launched 10 November 2022 (Operational)</a:t>
            </a:r>
          </a:p>
        </p:txBody>
      </p:sp>
      <p:sp>
        <p:nvSpPr>
          <p:cNvPr id="6" name="TextBox 5">
            <a:extLst>
              <a:ext uri="{FF2B5EF4-FFF2-40B4-BE49-F238E27FC236}">
                <a16:creationId xmlns:a16="http://schemas.microsoft.com/office/drawing/2014/main" id="{11FB4C4C-CFCD-7FB4-9A85-B3590D995A61}"/>
              </a:ext>
            </a:extLst>
          </p:cNvPr>
          <p:cNvSpPr txBox="1"/>
          <p:nvPr/>
        </p:nvSpPr>
        <p:spPr>
          <a:xfrm>
            <a:off x="679267" y="1091446"/>
            <a:ext cx="9187543" cy="144655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t>
            </a:r>
            <a:r>
              <a:rPr lang="en-US" sz="2200" dirty="0">
                <a:latin typeface="Times New Roman" panose="02020603050405020304" pitchFamily="18" charset="0"/>
                <a:cs typeface="Times New Roman" panose="02020603050405020304" pitchFamily="18" charset="0"/>
              </a:rPr>
              <a:t>The VIIRS sensor is a multispectral imaging radiometer designed to collect visible and infrared imagery of land, atmosphere, cryosphere, and oceans.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It bridges the heritage of MODIS (Terra/Aqua) and AVHRR (NOAA series), providing higher spatial resolution and improved radiometric accuracy.</a:t>
            </a:r>
            <a:endParaRPr lang="en-IN" sz="2200" dirty="0">
              <a:latin typeface="Times New Roman" panose="02020603050405020304" pitchFamily="18" charset="0"/>
              <a:cs typeface="Times New Roman" panose="02020603050405020304" pitchFamily="18" charset="0"/>
            </a:endParaRPr>
          </a:p>
        </p:txBody>
      </p:sp>
      <p:sp>
        <p:nvSpPr>
          <p:cNvPr id="7" name="Title 27">
            <a:extLst>
              <a:ext uri="{FF2B5EF4-FFF2-40B4-BE49-F238E27FC236}">
                <a16:creationId xmlns:a16="http://schemas.microsoft.com/office/drawing/2014/main" id="{743812F9-4E88-7ACC-9880-6A248C76BD95}"/>
              </a:ext>
            </a:extLst>
          </p:cNvPr>
          <p:cNvSpPr txBox="1">
            <a:spLocks/>
          </p:cNvSpPr>
          <p:nvPr/>
        </p:nvSpPr>
        <p:spPr>
          <a:xfrm>
            <a:off x="679267" y="56732"/>
            <a:ext cx="10554789"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prstClr val="black"/>
                </a:solidFill>
                <a:effectLst/>
                <a:uLnTx/>
                <a:uFillTx/>
                <a:latin typeface="Calibri" panose="020F0502020204030204"/>
                <a:ea typeface="+mn-ea"/>
                <a:cs typeface="+mn-cs"/>
              </a:rPr>
              <a:t>Visible Infrared Imaging Radiometer Suite (VIIRS)</a:t>
            </a:r>
            <a:endParaRPr kumimoji="0" lang="en-IN" sz="36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8155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160A432-44CE-ACB3-970F-5E708C390C29}"/>
              </a:ext>
            </a:extLst>
          </p:cNvPr>
          <p:cNvSpPr>
            <a:spLocks noGrp="1"/>
          </p:cNvSpPr>
          <p:nvPr>
            <p:ph type="subTitle" idx="1"/>
          </p:nvPr>
        </p:nvSpPr>
        <p:spPr>
          <a:xfrm>
            <a:off x="275085" y="2308890"/>
            <a:ext cx="7077822" cy="3884520"/>
          </a:xfrm>
        </p:spPr>
        <p:txBody>
          <a:bodyPr/>
          <a:lstStyle/>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Capable of capturing low-light nighttime imagery such as city lights and gas flares (“Black Marble” imagery).</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Has 22 spectral bands covering visible to infrared regions.</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Provides data for weather forecasting, ocean color, and fire detection.</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Detects active fires and thermal anomalies with high accuracy.</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Successor to the MODIS instrument with improved spatial resolution and calibration stability.</a:t>
            </a:r>
          </a:p>
          <a:p>
            <a:pPr marL="285750" indent="-285750" algn="l">
              <a:buFont typeface="Wingdings" panose="05000000000000000000" pitchFamily="2" charset="2"/>
              <a:buChar char="q"/>
            </a:pPr>
            <a:endParaRPr lang="en-IN" sz="1800" dirty="0"/>
          </a:p>
        </p:txBody>
      </p:sp>
      <p:sp>
        <p:nvSpPr>
          <p:cNvPr id="4" name="Title 1">
            <a:extLst>
              <a:ext uri="{FF2B5EF4-FFF2-40B4-BE49-F238E27FC236}">
                <a16:creationId xmlns:a16="http://schemas.microsoft.com/office/drawing/2014/main" id="{466CE97C-3C99-B3DC-5AFB-F50FA4BF4DD0}"/>
              </a:ext>
            </a:extLst>
          </p:cNvPr>
          <p:cNvSpPr>
            <a:spLocks noGrp="1"/>
          </p:cNvSpPr>
          <p:nvPr>
            <p:ph type="ctrTitle"/>
          </p:nvPr>
        </p:nvSpPr>
        <p:spPr>
          <a:xfrm>
            <a:off x="446833" y="1130540"/>
            <a:ext cx="3239586" cy="819650"/>
          </a:xfrm>
        </p:spPr>
        <p:txBody>
          <a:bodyPr/>
          <a:lstStyle/>
          <a:p>
            <a:r>
              <a:rPr lang="en-US" sz="4200" u="sng" dirty="0">
                <a:latin typeface="Times New Roman" panose="02020603050405020304" pitchFamily="18" charset="0"/>
                <a:cs typeface="Times New Roman" panose="02020603050405020304" pitchFamily="18" charset="0"/>
              </a:rPr>
              <a:t>Key facts</a:t>
            </a:r>
            <a:endParaRPr lang="en-IN" sz="4200" u="sng" dirty="0">
              <a:latin typeface="Times New Roman" panose="02020603050405020304" pitchFamily="18" charset="0"/>
              <a:cs typeface="Times New Roman" panose="02020603050405020304" pitchFamily="18" charset="0"/>
            </a:endParaRPr>
          </a:p>
        </p:txBody>
      </p:sp>
      <p:sp>
        <p:nvSpPr>
          <p:cNvPr id="5" name="Title 27">
            <a:extLst>
              <a:ext uri="{FF2B5EF4-FFF2-40B4-BE49-F238E27FC236}">
                <a16:creationId xmlns:a16="http://schemas.microsoft.com/office/drawing/2014/main" id="{0F9BD216-DA6B-822E-85C9-F3CDCCAEE3FA}"/>
              </a:ext>
            </a:extLst>
          </p:cNvPr>
          <p:cNvSpPr txBox="1">
            <a:spLocks/>
          </p:cNvSpPr>
          <p:nvPr/>
        </p:nvSpPr>
        <p:spPr>
          <a:xfrm>
            <a:off x="679267" y="56732"/>
            <a:ext cx="10554789"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prstClr val="black"/>
                </a:solidFill>
                <a:effectLst/>
                <a:uLnTx/>
                <a:uFillTx/>
                <a:latin typeface="Calibri" panose="020F0502020204030204"/>
                <a:ea typeface="+mn-ea"/>
                <a:cs typeface="+mn-cs"/>
              </a:rPr>
              <a:t>Visible Infrared Imaging Radiometer Suite (VIIRS)</a:t>
            </a:r>
            <a:endParaRPr kumimoji="0" lang="en-IN" sz="36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FC88E2F-92E9-DA64-D681-79ECB5FD0EFB}"/>
              </a:ext>
            </a:extLst>
          </p:cNvPr>
          <p:cNvPicPr>
            <a:picLocks noChangeAspect="1"/>
          </p:cNvPicPr>
          <p:nvPr/>
        </p:nvPicPr>
        <p:blipFill>
          <a:blip r:embed="rId2"/>
          <a:stretch>
            <a:fillRect/>
          </a:stretch>
        </p:blipFill>
        <p:spPr>
          <a:xfrm>
            <a:off x="7145518" y="2071870"/>
            <a:ext cx="4348833" cy="3298721"/>
          </a:xfrm>
          <a:prstGeom prst="rect">
            <a:avLst/>
          </a:prstGeom>
        </p:spPr>
      </p:pic>
    </p:spTree>
    <p:extLst>
      <p:ext uri="{BB962C8B-B14F-4D97-AF65-F5344CB8AC3E}">
        <p14:creationId xmlns:p14="http://schemas.microsoft.com/office/powerpoint/2010/main" val="3706459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E5B13-E53C-4059-BF02-9B4DD94A8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E607E-A99A-D257-1DDD-43269BE84948}"/>
              </a:ext>
            </a:extLst>
          </p:cNvPr>
          <p:cNvSpPr>
            <a:spLocks noGrp="1"/>
          </p:cNvSpPr>
          <p:nvPr>
            <p:ph type="ctrTitle"/>
          </p:nvPr>
        </p:nvSpPr>
        <p:spPr>
          <a:xfrm>
            <a:off x="653143" y="1470704"/>
            <a:ext cx="4650374" cy="419056"/>
          </a:xfrm>
        </p:spPr>
        <p:txBody>
          <a:bodyPr/>
          <a:lstStyle/>
          <a:p>
            <a:pPr algn="l"/>
            <a:r>
              <a:rPr lang="en-IN" sz="2300" dirty="0">
                <a:latin typeface="Times New Roman" panose="02020603050405020304" pitchFamily="18" charset="0"/>
                <a:cs typeface="Times New Roman" panose="02020603050405020304" pitchFamily="18" charset="0"/>
              </a:rPr>
              <a:t>Types / Satellites Carrying VIIRS</a:t>
            </a:r>
          </a:p>
        </p:txBody>
      </p:sp>
      <p:sp>
        <p:nvSpPr>
          <p:cNvPr id="4" name="Title 27">
            <a:extLst>
              <a:ext uri="{FF2B5EF4-FFF2-40B4-BE49-F238E27FC236}">
                <a16:creationId xmlns:a16="http://schemas.microsoft.com/office/drawing/2014/main" id="{9B0CAFC1-E48A-15FB-97FC-4F136ADC0674}"/>
              </a:ext>
            </a:extLst>
          </p:cNvPr>
          <p:cNvSpPr txBox="1">
            <a:spLocks/>
          </p:cNvSpPr>
          <p:nvPr/>
        </p:nvSpPr>
        <p:spPr>
          <a:xfrm>
            <a:off x="1060940" y="82061"/>
            <a:ext cx="11131060"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prstClr val="black"/>
                </a:solidFill>
                <a:effectLst/>
                <a:uLnTx/>
                <a:uFillTx/>
                <a:latin typeface="Calibri" panose="020F0502020204030204"/>
                <a:ea typeface="+mn-ea"/>
                <a:cs typeface="+mn-cs"/>
              </a:rPr>
              <a:t>Visible Infrared Imaging Radiometer Suite (VIIRS)</a:t>
            </a:r>
            <a:endParaRPr kumimoji="0" lang="en-IN" sz="36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F1CDBB32-EE02-0B71-F709-FC3C0CD90A88}"/>
              </a:ext>
            </a:extLst>
          </p:cNvPr>
          <p:cNvGraphicFramePr>
            <a:graphicFrameLocks noGrp="1"/>
          </p:cNvGraphicFramePr>
          <p:nvPr>
            <p:extLst>
              <p:ext uri="{D42A27DB-BD31-4B8C-83A1-F6EECF244321}">
                <p14:modId xmlns:p14="http://schemas.microsoft.com/office/powerpoint/2010/main" val="1291095163"/>
              </p:ext>
            </p:extLst>
          </p:nvPr>
        </p:nvGraphicFramePr>
        <p:xfrm>
          <a:off x="653143" y="2400141"/>
          <a:ext cx="10929258" cy="2560320"/>
        </p:xfrm>
        <a:graphic>
          <a:graphicData uri="http://schemas.openxmlformats.org/drawingml/2006/table">
            <a:tbl>
              <a:tblPr/>
              <a:tblGrid>
                <a:gridCol w="1524000">
                  <a:extLst>
                    <a:ext uri="{9D8B030D-6E8A-4147-A177-3AD203B41FA5}">
                      <a16:colId xmlns:a16="http://schemas.microsoft.com/office/drawing/2014/main" val="1412205111"/>
                    </a:ext>
                  </a:extLst>
                </a:gridCol>
                <a:gridCol w="1567543">
                  <a:extLst>
                    <a:ext uri="{9D8B030D-6E8A-4147-A177-3AD203B41FA5}">
                      <a16:colId xmlns:a16="http://schemas.microsoft.com/office/drawing/2014/main" val="147884792"/>
                    </a:ext>
                  </a:extLst>
                </a:gridCol>
                <a:gridCol w="1567543">
                  <a:extLst>
                    <a:ext uri="{9D8B030D-6E8A-4147-A177-3AD203B41FA5}">
                      <a16:colId xmlns:a16="http://schemas.microsoft.com/office/drawing/2014/main" val="2225533030"/>
                    </a:ext>
                  </a:extLst>
                </a:gridCol>
                <a:gridCol w="1567543">
                  <a:extLst>
                    <a:ext uri="{9D8B030D-6E8A-4147-A177-3AD203B41FA5}">
                      <a16:colId xmlns:a16="http://schemas.microsoft.com/office/drawing/2014/main" val="317566"/>
                    </a:ext>
                  </a:extLst>
                </a:gridCol>
                <a:gridCol w="1567543">
                  <a:extLst>
                    <a:ext uri="{9D8B030D-6E8A-4147-A177-3AD203B41FA5}">
                      <a16:colId xmlns:a16="http://schemas.microsoft.com/office/drawing/2014/main" val="1833365759"/>
                    </a:ext>
                  </a:extLst>
                </a:gridCol>
                <a:gridCol w="1567543">
                  <a:extLst>
                    <a:ext uri="{9D8B030D-6E8A-4147-A177-3AD203B41FA5}">
                      <a16:colId xmlns:a16="http://schemas.microsoft.com/office/drawing/2014/main" val="3596393873"/>
                    </a:ext>
                  </a:extLst>
                </a:gridCol>
                <a:gridCol w="1567543">
                  <a:extLst>
                    <a:ext uri="{9D8B030D-6E8A-4147-A177-3AD203B41FA5}">
                      <a16:colId xmlns:a16="http://schemas.microsoft.com/office/drawing/2014/main" val="3708617666"/>
                    </a:ext>
                  </a:extLst>
                </a:gridCol>
              </a:tblGrid>
              <a:tr h="365760">
                <a:tc>
                  <a:txBody>
                    <a:bodyPr/>
                    <a:lstStyle/>
                    <a:p>
                      <a:pPr>
                        <a:buNone/>
                      </a:pPr>
                      <a:r>
                        <a:rPr lang="en-IN" sz="1800" b="1" dirty="0">
                          <a:latin typeface="Times New Roman" panose="02020603050405020304" pitchFamily="18" charset="0"/>
                          <a:cs typeface="Times New Roman" panose="02020603050405020304" pitchFamily="18" charset="0"/>
                        </a:rPr>
                        <a:t>Satellite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Launch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Agency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Orbit Altitude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Swath 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Revisit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5185848"/>
                  </a:ext>
                </a:extLst>
              </a:tr>
              <a:tr h="640080">
                <a:tc>
                  <a:txBody>
                    <a:bodyPr/>
                    <a:lstStyle/>
                    <a:p>
                      <a:pPr>
                        <a:buNone/>
                      </a:pPr>
                      <a:r>
                        <a:rPr lang="en-IN" sz="1800" b="1" dirty="0">
                          <a:latin typeface="Times New Roman" panose="02020603050405020304" pitchFamily="18" charset="0"/>
                          <a:cs typeface="Times New Roman" panose="02020603050405020304" pitchFamily="18" charset="0"/>
                        </a:rPr>
                        <a:t>Suomi NPP (S-NPP)</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NASA–NOAA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Active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~824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3,040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Daily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8804142"/>
                  </a:ext>
                </a:extLst>
              </a:tr>
              <a:tr h="640080">
                <a:tc>
                  <a:txBody>
                    <a:bodyPr/>
                    <a:lstStyle/>
                    <a:p>
                      <a:pPr>
                        <a:buNone/>
                      </a:pPr>
                      <a:r>
                        <a:rPr lang="en-IN" sz="1800" b="1">
                          <a:latin typeface="Times New Roman" panose="02020603050405020304" pitchFamily="18" charset="0"/>
                          <a:cs typeface="Times New Roman" panose="02020603050405020304" pitchFamily="18" charset="0"/>
                        </a:rPr>
                        <a:t>NOAA-20 (JPSS-1)</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NOAA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Active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~824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3,040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Daily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7154542"/>
                  </a:ext>
                </a:extLst>
              </a:tr>
              <a:tr h="640080">
                <a:tc>
                  <a:txBody>
                    <a:bodyPr/>
                    <a:lstStyle/>
                    <a:p>
                      <a:pPr>
                        <a:buNone/>
                      </a:pPr>
                      <a:r>
                        <a:rPr lang="en-IN" sz="1800" b="1">
                          <a:latin typeface="Times New Roman" panose="02020603050405020304" pitchFamily="18" charset="0"/>
                          <a:cs typeface="Times New Roman" panose="02020603050405020304" pitchFamily="18" charset="0"/>
                        </a:rPr>
                        <a:t>JPSS-2 (NOAA-21)</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NOAA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Active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~824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3,040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Daily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6074585"/>
                  </a:ext>
                </a:extLst>
              </a:tr>
            </a:tbl>
          </a:graphicData>
        </a:graphic>
      </p:graphicFrame>
    </p:spTree>
    <p:extLst>
      <p:ext uri="{BB962C8B-B14F-4D97-AF65-F5344CB8AC3E}">
        <p14:creationId xmlns:p14="http://schemas.microsoft.com/office/powerpoint/2010/main" val="40741012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35FC3-363B-52D5-6411-502BA6A27BF2}"/>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EDFF873A-999D-095C-9C49-27B04505E081}"/>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5" name="Title 4">
            <a:extLst>
              <a:ext uri="{FF2B5EF4-FFF2-40B4-BE49-F238E27FC236}">
                <a16:creationId xmlns:a16="http://schemas.microsoft.com/office/drawing/2014/main" id="{2CD282E0-A096-7C78-FE5E-97EF2DE7718D}"/>
              </a:ext>
            </a:extLst>
          </p:cNvPr>
          <p:cNvSpPr>
            <a:spLocks noGrp="1"/>
          </p:cNvSpPr>
          <p:nvPr>
            <p:ph type="ctrTitle"/>
          </p:nvPr>
        </p:nvSpPr>
        <p:spPr>
          <a:xfrm>
            <a:off x="461555" y="1328749"/>
            <a:ext cx="10363200" cy="5146764"/>
          </a:xfrm>
        </p:spPr>
        <p:txBody>
          <a:bodyPr/>
          <a:lstStyle/>
          <a:p>
            <a:pPr algn="l"/>
            <a:r>
              <a:rPr lang="en-IN" sz="2000" b="1" dirty="0">
                <a:latin typeface="Times New Roman" panose="02020603050405020304" pitchFamily="18" charset="0"/>
                <a:cs typeface="Times New Roman" panose="02020603050405020304" pitchFamily="18" charset="0"/>
              </a:rPr>
              <a:t>Key Features:</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Combines </a:t>
            </a:r>
            <a:r>
              <a:rPr lang="en-IN" sz="2000" b="1" dirty="0">
                <a:latin typeface="Times New Roman" panose="02020603050405020304" pitchFamily="18" charset="0"/>
                <a:cs typeface="Times New Roman" panose="02020603050405020304" pitchFamily="18" charset="0"/>
              </a:rPr>
              <a:t>high radiometric sensitivity</a:t>
            </a:r>
            <a:r>
              <a:rPr lang="en-IN" sz="2000" dirty="0">
                <a:latin typeface="Times New Roman" panose="02020603050405020304" pitchFamily="18" charset="0"/>
                <a:cs typeface="Times New Roman" panose="02020603050405020304" pitchFamily="18" charset="0"/>
              </a:rPr>
              <a:t> with a wide swath for consistent daily global coverage.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Day/Night Band (DNB)</a:t>
            </a:r>
            <a:r>
              <a:rPr lang="en-IN" sz="2000" dirty="0">
                <a:latin typeface="Times New Roman" panose="02020603050405020304" pitchFamily="18" charset="0"/>
                <a:cs typeface="Times New Roman" panose="02020603050405020304" pitchFamily="18" charset="0"/>
              </a:rPr>
              <a:t> detects low-light emissions (e.g., city lights, aurora, wildfires, gas flares).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Enhanced </a:t>
            </a:r>
            <a:r>
              <a:rPr lang="en-IN" sz="2000" b="1" dirty="0">
                <a:latin typeface="Times New Roman" panose="02020603050405020304" pitchFamily="18" charset="0"/>
                <a:cs typeface="Times New Roman" panose="02020603050405020304" pitchFamily="18" charset="0"/>
              </a:rPr>
              <a:t>cloud, aerosol, and ocean </a:t>
            </a:r>
            <a:r>
              <a:rPr lang="en-IN" sz="2000" b="1" dirty="0" err="1">
                <a:latin typeface="Times New Roman" panose="02020603050405020304" pitchFamily="18" charset="0"/>
                <a:cs typeface="Times New Roman" panose="02020603050405020304" pitchFamily="18" charset="0"/>
              </a:rPr>
              <a:t>color</a:t>
            </a:r>
            <a:r>
              <a:rPr lang="en-IN" sz="2000" b="1" dirty="0">
                <a:latin typeface="Times New Roman" panose="02020603050405020304" pitchFamily="18" charset="0"/>
                <a:cs typeface="Times New Roman" panose="02020603050405020304" pitchFamily="18" charset="0"/>
              </a:rPr>
              <a:t> detection</a:t>
            </a:r>
            <a:r>
              <a:rPr lang="en-IN" sz="2000" dirty="0">
                <a:latin typeface="Times New Roman" panose="02020603050405020304" pitchFamily="18" charset="0"/>
                <a:cs typeface="Times New Roman" panose="02020603050405020304" pitchFamily="18" charset="0"/>
              </a:rPr>
              <a:t> capability.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Provides continuity with MODIS and AVHRR for long-term environmental data records.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Applications:</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Land:</a:t>
            </a:r>
            <a:r>
              <a:rPr lang="en-IN" sz="2000" dirty="0">
                <a:latin typeface="Times New Roman" panose="02020603050405020304" pitchFamily="18" charset="0"/>
                <a:cs typeface="Times New Roman" panose="02020603050405020304" pitchFamily="18" charset="0"/>
              </a:rPr>
              <a:t> Vegetation indices (NDVI, EVI), urban heat mapping, land surface temperature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Ocean:</a:t>
            </a:r>
            <a:r>
              <a:rPr lang="en-IN" sz="2000" dirty="0">
                <a:latin typeface="Times New Roman" panose="02020603050405020304" pitchFamily="18" charset="0"/>
                <a:cs typeface="Times New Roman" panose="02020603050405020304" pitchFamily="18" charset="0"/>
              </a:rPr>
              <a:t> Chlorophyll concentration, sediment, and turbidity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Atmosphere:</a:t>
            </a:r>
            <a:r>
              <a:rPr lang="en-IN" sz="2000" dirty="0">
                <a:latin typeface="Times New Roman" panose="02020603050405020304" pitchFamily="18" charset="0"/>
                <a:cs typeface="Times New Roman" panose="02020603050405020304" pitchFamily="18" charset="0"/>
              </a:rPr>
              <a:t> Cloud detection, aerosol optical depth, volcanic ash tracking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Cryosphere:</a:t>
            </a:r>
            <a:r>
              <a:rPr lang="en-IN" sz="2000" dirty="0">
                <a:latin typeface="Times New Roman" panose="02020603050405020304" pitchFamily="18" charset="0"/>
                <a:cs typeface="Times New Roman" panose="02020603050405020304" pitchFamily="18" charset="0"/>
              </a:rPr>
              <a:t> Snow/ice monitoring, sea ice concentration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Disaster Monitoring:</a:t>
            </a:r>
            <a:r>
              <a:rPr lang="en-IN" sz="2000" dirty="0">
                <a:latin typeface="Times New Roman" panose="02020603050405020304" pitchFamily="18" charset="0"/>
                <a:cs typeface="Times New Roman" panose="02020603050405020304" pitchFamily="18" charset="0"/>
              </a:rPr>
              <a:t> Fire hotspots, flood mapping, dust storms, and nighttime event</a:t>
            </a:r>
            <a:r>
              <a:rPr lang="en-IN" sz="2200" dirty="0">
                <a:latin typeface="Times New Roman" panose="02020603050405020304" pitchFamily="18" charset="0"/>
                <a:cs typeface="Times New Roman" panose="02020603050405020304" pitchFamily="18" charset="0"/>
              </a:rPr>
              <a:t>s</a:t>
            </a:r>
            <a:br>
              <a:rPr lang="en-IN"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
        <p:nvSpPr>
          <p:cNvPr id="6" name="Title 27">
            <a:extLst>
              <a:ext uri="{FF2B5EF4-FFF2-40B4-BE49-F238E27FC236}">
                <a16:creationId xmlns:a16="http://schemas.microsoft.com/office/drawing/2014/main" id="{552D18E4-F978-844A-2912-CD43D512F6A4}"/>
              </a:ext>
            </a:extLst>
          </p:cNvPr>
          <p:cNvSpPr txBox="1">
            <a:spLocks/>
          </p:cNvSpPr>
          <p:nvPr/>
        </p:nvSpPr>
        <p:spPr>
          <a:xfrm>
            <a:off x="947728" y="125604"/>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prstClr val="black"/>
                </a:solidFill>
                <a:effectLst/>
                <a:uLnTx/>
                <a:uFillTx/>
                <a:latin typeface="Calibri" panose="020F0502020204030204"/>
                <a:ea typeface="+mn-ea"/>
                <a:cs typeface="+mn-cs"/>
              </a:rPr>
              <a:t>Visible Infrared Imaging Radiometer Suite (VIIRS)</a:t>
            </a:r>
            <a:endParaRPr kumimoji="0" lang="en-IN" sz="36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6623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DF44-DF71-CEEB-24C3-FF88EA62AA3A}"/>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F4D44359-E81B-68D3-3E55-3CB6FCD44E9A}"/>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5E857B1E-4CA8-9825-B010-D078C1928093}"/>
              </a:ext>
            </a:extLst>
          </p:cNvPr>
          <p:cNvSpPr txBox="1">
            <a:spLocks/>
          </p:cNvSpPr>
          <p:nvPr/>
        </p:nvSpPr>
        <p:spPr>
          <a:xfrm>
            <a:off x="879232" y="0"/>
            <a:ext cx="11173431"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US" sz="2700" b="1" dirty="0"/>
              <a:t>Advanced Visible and Near Infrared Radiometer Type-2 (AVNIR-2)</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9B268F33-5552-CA84-FA65-B48D92255716}"/>
              </a:ext>
            </a:extLst>
          </p:cNvPr>
          <p:cNvSpPr>
            <a:spLocks noGrp="1"/>
          </p:cNvSpPr>
          <p:nvPr>
            <p:ph type="ctrTitle"/>
          </p:nvPr>
        </p:nvSpPr>
        <p:spPr>
          <a:xfrm>
            <a:off x="542837" y="3006021"/>
            <a:ext cx="6592749" cy="3512626"/>
          </a:xfrm>
        </p:spPr>
        <p:txBody>
          <a:bodyPr/>
          <a:lstStyle/>
          <a:p>
            <a:pPr algn="l">
              <a:lnSpc>
                <a:spcPct val="150000"/>
              </a:lnSpc>
            </a:pPr>
            <a:r>
              <a:rPr lang="en-IN" sz="1700" b="1" dirty="0">
                <a:latin typeface="Times New Roman" panose="02020603050405020304" pitchFamily="18" charset="0"/>
                <a:cs typeface="Times New Roman" panose="02020603050405020304" pitchFamily="18" charset="0"/>
              </a:rPr>
              <a:t>Sensor Type:</a:t>
            </a:r>
            <a:r>
              <a:rPr lang="en-IN" sz="1700" dirty="0">
                <a:latin typeface="Times New Roman" panose="02020603050405020304" pitchFamily="18" charset="0"/>
                <a:cs typeface="Times New Roman" panose="02020603050405020304" pitchFamily="18" charset="0"/>
              </a:rPr>
              <a:t> Passive Optical (Visible to Near-Infrared)</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Platform:</a:t>
            </a:r>
            <a:r>
              <a:rPr lang="en-IN" sz="1700" dirty="0">
                <a:latin typeface="Times New Roman" panose="02020603050405020304" pitchFamily="18" charset="0"/>
                <a:cs typeface="Times New Roman" panose="02020603050405020304" pitchFamily="18" charset="0"/>
              </a:rPr>
              <a:t> ALOS (Advanced Land Observing Satellite)</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Agency:</a:t>
            </a:r>
            <a:r>
              <a:rPr lang="en-IN" sz="1700" dirty="0">
                <a:latin typeface="Times New Roman" panose="02020603050405020304" pitchFamily="18" charset="0"/>
                <a:cs typeface="Times New Roman" panose="02020603050405020304" pitchFamily="18" charset="0"/>
              </a:rPr>
              <a:t> JAXA – Japan Aerospace Exploration Agency</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Orbit:</a:t>
            </a:r>
            <a:r>
              <a:rPr lang="en-IN" sz="1700" dirty="0">
                <a:latin typeface="Times New Roman" panose="02020603050405020304" pitchFamily="18" charset="0"/>
                <a:cs typeface="Times New Roman" panose="02020603050405020304" pitchFamily="18" charset="0"/>
              </a:rPr>
              <a:t> Sun-synchronous, near-polar orbit</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Mission Duration:</a:t>
            </a:r>
            <a:r>
              <a:rPr lang="en-IN" sz="1700" dirty="0">
                <a:latin typeface="Times New Roman" panose="02020603050405020304" pitchFamily="18" charset="0"/>
                <a:cs typeface="Times New Roman" panose="02020603050405020304" pitchFamily="18" charset="0"/>
              </a:rPr>
              <a:t> 2006 – 2011</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Altitude:</a:t>
            </a:r>
            <a:r>
              <a:rPr lang="en-IN" sz="1700" dirty="0">
                <a:latin typeface="Times New Roman" panose="02020603050405020304" pitchFamily="18" charset="0"/>
                <a:cs typeface="Times New Roman" panose="02020603050405020304" pitchFamily="18" charset="0"/>
              </a:rPr>
              <a:t> ~692 km</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Swath Width:</a:t>
            </a:r>
            <a:r>
              <a:rPr lang="en-IN" sz="1700" dirty="0">
                <a:latin typeface="Times New Roman" panose="02020603050405020304" pitchFamily="18" charset="0"/>
                <a:cs typeface="Times New Roman" panose="02020603050405020304" pitchFamily="18" charset="0"/>
              </a:rPr>
              <a:t> 70 km</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Spatial Resolution:</a:t>
            </a:r>
            <a:r>
              <a:rPr lang="en-IN" sz="1700" dirty="0">
                <a:latin typeface="Times New Roman" panose="02020603050405020304" pitchFamily="18" charset="0"/>
                <a:cs typeface="Times New Roman" panose="02020603050405020304" pitchFamily="18" charset="0"/>
              </a:rPr>
              <a:t> 10 m (across all bands)</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Viewing Angle:</a:t>
            </a:r>
            <a:r>
              <a:rPr lang="en-IN" sz="1700" dirty="0">
                <a:latin typeface="Times New Roman" panose="02020603050405020304" pitchFamily="18" charset="0"/>
                <a:cs typeface="Times New Roman" panose="02020603050405020304" pitchFamily="18" charset="0"/>
              </a:rPr>
              <a:t> ±30° (pointable off-nadir capability)</a:t>
            </a:r>
          </a:p>
        </p:txBody>
      </p:sp>
      <p:sp>
        <p:nvSpPr>
          <p:cNvPr id="6" name="TextBox 5">
            <a:extLst>
              <a:ext uri="{FF2B5EF4-FFF2-40B4-BE49-F238E27FC236}">
                <a16:creationId xmlns:a16="http://schemas.microsoft.com/office/drawing/2014/main" id="{27895972-3C3E-431B-3B77-D3718EB73A42}"/>
              </a:ext>
            </a:extLst>
          </p:cNvPr>
          <p:cNvSpPr txBox="1"/>
          <p:nvPr/>
        </p:nvSpPr>
        <p:spPr>
          <a:xfrm>
            <a:off x="345358" y="971968"/>
            <a:ext cx="10996561" cy="1846659"/>
          </a:xfrm>
          <a:prstGeom prst="rect">
            <a:avLst/>
          </a:prstGeom>
          <a:noFill/>
        </p:spPr>
        <p:txBody>
          <a:bodyPr wrap="square" rtlCol="0">
            <a:spAutoFit/>
          </a:bodyPr>
          <a:lstStyle/>
          <a:p>
            <a:r>
              <a:rPr lang="en-US" sz="1900" b="1" u="sng" dirty="0">
                <a:latin typeface="Times New Roman" panose="02020603050405020304" pitchFamily="18" charset="0"/>
                <a:cs typeface="Times New Roman" panose="02020603050405020304" pitchFamily="18" charset="0"/>
              </a:rPr>
              <a:t>AVNIR-2</a:t>
            </a:r>
            <a:br>
              <a:rPr lang="en-US" sz="1900" dirty="0">
                <a:latin typeface="Times New Roman" panose="02020603050405020304" pitchFamily="18" charset="0"/>
                <a:cs typeface="Times New Roman" panose="02020603050405020304" pitchFamily="18" charset="0"/>
              </a:rPr>
            </a:br>
            <a:r>
              <a:rPr lang="en-US" sz="1900" dirty="0" err="1">
                <a:latin typeface="Times New Roman" panose="02020603050405020304" pitchFamily="18" charset="0"/>
                <a:cs typeface="Times New Roman" panose="02020603050405020304" pitchFamily="18" charset="0"/>
              </a:rPr>
              <a:t>AVNIR-2</a:t>
            </a:r>
            <a:r>
              <a:rPr lang="en-US" sz="1900" dirty="0">
                <a:latin typeface="Times New Roman" panose="02020603050405020304" pitchFamily="18" charset="0"/>
                <a:cs typeface="Times New Roman" panose="02020603050405020304" pitchFamily="18" charset="0"/>
              </a:rPr>
              <a:t> is a </a:t>
            </a:r>
            <a:r>
              <a:rPr lang="en-US" sz="1900" b="1" dirty="0">
                <a:latin typeface="Times New Roman" panose="02020603050405020304" pitchFamily="18" charset="0"/>
                <a:cs typeface="Times New Roman" panose="02020603050405020304" pitchFamily="18" charset="0"/>
              </a:rPr>
              <a:t>push-broom multispectral imager</a:t>
            </a:r>
            <a:r>
              <a:rPr lang="en-US" sz="1900" dirty="0">
                <a:latin typeface="Times New Roman" panose="02020603050405020304" pitchFamily="18" charset="0"/>
                <a:cs typeface="Times New Roman" panose="02020603050405020304" pitchFamily="18" charset="0"/>
              </a:rPr>
              <a:t> designed to capture detailed land surface data in visible and near-infrared wavelengths.</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It succeeded AVNIR (on ADEOS) and was mounted on </a:t>
            </a:r>
            <a:r>
              <a:rPr lang="en-US" sz="1900" b="1" dirty="0">
                <a:latin typeface="Times New Roman" panose="02020603050405020304" pitchFamily="18" charset="0"/>
                <a:cs typeface="Times New Roman" panose="02020603050405020304" pitchFamily="18" charset="0"/>
              </a:rPr>
              <a:t>ALOS (Daichi)</a:t>
            </a:r>
            <a:r>
              <a:rPr lang="en-US" sz="1900" dirty="0">
                <a:latin typeface="Times New Roman" panose="02020603050405020304" pitchFamily="18" charset="0"/>
                <a:cs typeface="Times New Roman" panose="02020603050405020304" pitchFamily="18" charset="0"/>
              </a:rPr>
              <a:t>.</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The instrument provides high-precision optical data for land cover, coastal mapping, and disaster assessment, complementing ALOS’s radar and PRISM instruments.</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17826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D51575F-862C-CC9F-DD27-D47DB1C9B445}"/>
              </a:ext>
            </a:extLst>
          </p:cNvPr>
          <p:cNvSpPr>
            <a:spLocks noGrp="1"/>
          </p:cNvSpPr>
          <p:nvPr>
            <p:ph type="subTitle" idx="1"/>
          </p:nvPr>
        </p:nvSpPr>
        <p:spPr>
          <a:xfrm>
            <a:off x="686625" y="1746592"/>
            <a:ext cx="5576355" cy="2920113"/>
          </a:xfrm>
        </p:spPr>
        <p:txBody>
          <a:bodyPr/>
          <a:lstStyle/>
          <a:p>
            <a:pPr algn="l"/>
            <a:endParaRPr lang="en-IN" sz="1700" b="1" dirty="0"/>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Operates in 4 bands: Blue, Green, Red, and Near Infrared.</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Developed by Japan’s JAXA for precise land monitoring and disaster mapping.</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Spatial resolution: 10 meters.</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Often used with ALOS’s PALSAR radar data for combined optical–radar analysis.</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Useful for detecting changes in land use, vegetation, and urban expansion.</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Interesting fact: ALOS is nicknamed “Daichi,” which means “Earth” in Japanese.</a:t>
            </a:r>
          </a:p>
        </p:txBody>
      </p:sp>
      <p:sp>
        <p:nvSpPr>
          <p:cNvPr id="4" name="Title 1">
            <a:extLst>
              <a:ext uri="{FF2B5EF4-FFF2-40B4-BE49-F238E27FC236}">
                <a16:creationId xmlns:a16="http://schemas.microsoft.com/office/drawing/2014/main" id="{D6E058BE-ABB4-BEE1-97B8-3EC814CC5FBD}"/>
              </a:ext>
            </a:extLst>
          </p:cNvPr>
          <p:cNvSpPr>
            <a:spLocks noGrp="1"/>
          </p:cNvSpPr>
          <p:nvPr>
            <p:ph type="ctrTitle"/>
          </p:nvPr>
        </p:nvSpPr>
        <p:spPr>
          <a:xfrm>
            <a:off x="235216" y="926942"/>
            <a:ext cx="3239586" cy="819650"/>
          </a:xfrm>
        </p:spPr>
        <p:txBody>
          <a:bodyPr/>
          <a:lstStyle/>
          <a:p>
            <a:r>
              <a:rPr lang="en-US" sz="3800" u="sng" dirty="0">
                <a:latin typeface="Times New Roman" panose="02020603050405020304" pitchFamily="18" charset="0"/>
                <a:cs typeface="Times New Roman" panose="02020603050405020304" pitchFamily="18" charset="0"/>
              </a:rPr>
              <a:t>Key facts</a:t>
            </a:r>
            <a:endParaRPr lang="en-IN" sz="3800" u="sng" dirty="0">
              <a:latin typeface="Times New Roman" panose="02020603050405020304" pitchFamily="18" charset="0"/>
              <a:cs typeface="Times New Roman" panose="02020603050405020304" pitchFamily="18" charset="0"/>
            </a:endParaRPr>
          </a:p>
        </p:txBody>
      </p:sp>
      <p:sp>
        <p:nvSpPr>
          <p:cNvPr id="5" name="Title 27">
            <a:extLst>
              <a:ext uri="{FF2B5EF4-FFF2-40B4-BE49-F238E27FC236}">
                <a16:creationId xmlns:a16="http://schemas.microsoft.com/office/drawing/2014/main" id="{F33C3949-3E24-490C-BA3F-BDA59DAC0EC5}"/>
              </a:ext>
            </a:extLst>
          </p:cNvPr>
          <p:cNvSpPr txBox="1">
            <a:spLocks/>
          </p:cNvSpPr>
          <p:nvPr/>
        </p:nvSpPr>
        <p:spPr>
          <a:xfrm>
            <a:off x="879232" y="0"/>
            <a:ext cx="11173431"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US" sz="2700" b="1"/>
              <a:t>Advanced Visible and Near Infrared Radiometer Type-2 (AVNIR-2)</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949B5655-3680-C9A4-F1B3-1F2FCCBF1DE9}"/>
              </a:ext>
            </a:extLst>
          </p:cNvPr>
          <p:cNvPicPr>
            <a:picLocks noChangeAspect="1"/>
          </p:cNvPicPr>
          <p:nvPr/>
        </p:nvPicPr>
        <p:blipFill>
          <a:blip r:embed="rId3"/>
          <a:stretch>
            <a:fillRect/>
          </a:stretch>
        </p:blipFill>
        <p:spPr>
          <a:xfrm>
            <a:off x="6465947" y="1550464"/>
            <a:ext cx="5039428" cy="4752364"/>
          </a:xfrm>
          <a:prstGeom prst="rect">
            <a:avLst/>
          </a:prstGeom>
        </p:spPr>
      </p:pic>
    </p:spTree>
    <p:extLst>
      <p:ext uri="{BB962C8B-B14F-4D97-AF65-F5344CB8AC3E}">
        <p14:creationId xmlns:p14="http://schemas.microsoft.com/office/powerpoint/2010/main" val="35047134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9BE63-D2A0-6505-21FD-BDB1641D7C87}"/>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C64C9AFD-1DD0-9272-C5D0-10FEC7C1CBA5}"/>
              </a:ext>
            </a:extLst>
          </p:cNvPr>
          <p:cNvSpPr txBox="1">
            <a:spLocks/>
          </p:cNvSpPr>
          <p:nvPr/>
        </p:nvSpPr>
        <p:spPr>
          <a:xfrm>
            <a:off x="558718"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337CBC79-AC68-2130-6207-358DB9A88188}"/>
              </a:ext>
            </a:extLst>
          </p:cNvPr>
          <p:cNvSpPr>
            <a:spLocks noGrp="1"/>
          </p:cNvSpPr>
          <p:nvPr>
            <p:ph type="ctrTitle"/>
          </p:nvPr>
        </p:nvSpPr>
        <p:spPr>
          <a:xfrm>
            <a:off x="1262746" y="1820091"/>
            <a:ext cx="9144000" cy="4511162"/>
          </a:xfrm>
        </p:spPr>
        <p:txBody>
          <a:bodyPr/>
          <a:lstStyle/>
          <a:p>
            <a:pPr algn="l"/>
            <a:r>
              <a:rPr lang="en-IN" sz="2000" b="1" u="sng" dirty="0">
                <a:latin typeface="Times New Roman" panose="02020603050405020304" pitchFamily="18" charset="0"/>
                <a:cs typeface="Times New Roman" panose="02020603050405020304" pitchFamily="18" charset="0"/>
              </a:rPr>
              <a:t>Key Features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High radiometric accuracy and geometric precision for cartographic applications.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Forward and backward tilt capability (±44°) allowing repeated observations of the same target for stereo imaging.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Data synergy with ALOS’s PRISM (panchromatic stereo mapper) and PALSAR (L-band radar) for integrated land analysis.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Enhanced sensitivity to vegetation, coastal waters, and urban areas.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u="sng" dirty="0">
                <a:latin typeface="Times New Roman" panose="02020603050405020304" pitchFamily="18" charset="0"/>
                <a:cs typeface="Times New Roman" panose="02020603050405020304" pitchFamily="18" charset="0"/>
              </a:rPr>
              <a:t>Applications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Land cover and land-use classification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Vegetation monitoring and agriculture assessment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Coastal and inland water resource studies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Urban and regional mapping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Disaster observation (floods, landslides, earthquakes)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Integration with digital elevation model (DEM) generation</a:t>
            </a:r>
          </a:p>
        </p:txBody>
      </p:sp>
      <p:sp>
        <p:nvSpPr>
          <p:cNvPr id="2" name="Title 27">
            <a:extLst>
              <a:ext uri="{FF2B5EF4-FFF2-40B4-BE49-F238E27FC236}">
                <a16:creationId xmlns:a16="http://schemas.microsoft.com/office/drawing/2014/main" id="{A5A4C508-0528-4FA9-B3FA-2A84FDFBD2D3}"/>
              </a:ext>
            </a:extLst>
          </p:cNvPr>
          <p:cNvSpPr txBox="1">
            <a:spLocks/>
          </p:cNvSpPr>
          <p:nvPr/>
        </p:nvSpPr>
        <p:spPr>
          <a:xfrm>
            <a:off x="879232" y="-8709"/>
            <a:ext cx="1096442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US" sz="2700" b="1" dirty="0"/>
              <a:t>Advanced Visible and Near Infrared Radiometer Type-2 (AVNIR-2)</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64879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0A74B-9670-690B-4256-0771A021B91D}"/>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EC7B779A-7B76-EC9A-F06F-904E4E643F85}"/>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4DC2764E-AAF3-6A6B-1BFF-BC9A07C06085}"/>
              </a:ext>
            </a:extLst>
          </p:cNvPr>
          <p:cNvSpPr txBox="1">
            <a:spLocks/>
          </p:cNvSpPr>
          <p:nvPr/>
        </p:nvSpPr>
        <p:spPr>
          <a:xfrm>
            <a:off x="879232" y="0"/>
            <a:ext cx="11121179"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US" sz="2800" b="1" dirty="0"/>
              <a:t>Linear Imaging and Self-Scanning Sensor (LISS) – IRS Series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A8B11349-6C81-1474-6C81-6905832E289A}"/>
              </a:ext>
            </a:extLst>
          </p:cNvPr>
          <p:cNvSpPr>
            <a:spLocks noGrp="1"/>
          </p:cNvSpPr>
          <p:nvPr>
            <p:ph type="ctrTitle"/>
          </p:nvPr>
        </p:nvSpPr>
        <p:spPr>
          <a:xfrm>
            <a:off x="879232" y="2668215"/>
            <a:ext cx="7251334" cy="3997600"/>
          </a:xfrm>
        </p:spPr>
        <p:txBody>
          <a:bodyPr/>
          <a:lstStyle/>
          <a:p>
            <a:pPr algn="l">
              <a:lnSpc>
                <a:spcPct val="150000"/>
              </a:lnSpc>
            </a:pPr>
            <a:r>
              <a:rPr lang="en-IN" sz="1700" b="1" dirty="0">
                <a:latin typeface="Times New Roman" panose="02020603050405020304" pitchFamily="18" charset="0"/>
                <a:cs typeface="Times New Roman" panose="02020603050405020304" pitchFamily="18" charset="0"/>
              </a:rPr>
              <a:t>Sensor Type:</a:t>
            </a:r>
            <a:r>
              <a:rPr lang="en-IN" sz="1700" dirty="0">
                <a:latin typeface="Times New Roman" panose="02020603050405020304" pitchFamily="18" charset="0"/>
                <a:cs typeface="Times New Roman" panose="02020603050405020304" pitchFamily="18" charset="0"/>
              </a:rPr>
              <a:t> Passive Optical (Visible, Near Infrared, and Shortwave Infrared)</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Platform:</a:t>
            </a:r>
            <a:r>
              <a:rPr lang="en-IN" sz="1700" dirty="0">
                <a:latin typeface="Times New Roman" panose="02020603050405020304" pitchFamily="18" charset="0"/>
                <a:cs typeface="Times New Roman" panose="02020603050405020304" pitchFamily="18" charset="0"/>
              </a:rPr>
              <a:t> IRS Satellite Series (IRS-1A, IRS-1B, IRS-1C, IRS-1D, Resourcesat-1/2)</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Agency:</a:t>
            </a:r>
            <a:r>
              <a:rPr lang="en-IN" sz="1700" dirty="0">
                <a:latin typeface="Times New Roman" panose="02020603050405020304" pitchFamily="18" charset="0"/>
                <a:cs typeface="Times New Roman" panose="02020603050405020304" pitchFamily="18" charset="0"/>
              </a:rPr>
              <a:t> ISRO – Indian Space Research Organisation</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Orbit:</a:t>
            </a:r>
            <a:r>
              <a:rPr lang="en-IN" sz="1700" dirty="0">
                <a:latin typeface="Times New Roman" panose="02020603050405020304" pitchFamily="18" charset="0"/>
                <a:cs typeface="Times New Roman" panose="02020603050405020304" pitchFamily="18" charset="0"/>
              </a:rPr>
              <a:t> Sun-synchronous, near-polar orbit</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Altitude:</a:t>
            </a:r>
            <a:r>
              <a:rPr lang="en-IN" sz="1700" dirty="0">
                <a:latin typeface="Times New Roman" panose="02020603050405020304" pitchFamily="18" charset="0"/>
                <a:cs typeface="Times New Roman" panose="02020603050405020304" pitchFamily="18" charset="0"/>
              </a:rPr>
              <a:t> ~817 km (IRS-1A/1B)</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Spatial Resolution:</a:t>
            </a:r>
            <a:r>
              <a:rPr lang="en-IN" sz="1700" dirty="0">
                <a:latin typeface="Times New Roman" panose="02020603050405020304" pitchFamily="18" charset="0"/>
                <a:cs typeface="Times New Roman" panose="02020603050405020304" pitchFamily="18" charset="0"/>
              </a:rPr>
              <a:t> 5.8 m – 72.5 m (varies with version)</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Swath Width:</a:t>
            </a:r>
            <a:r>
              <a:rPr lang="en-IN" sz="1700" dirty="0">
                <a:latin typeface="Times New Roman" panose="02020603050405020304" pitchFamily="18" charset="0"/>
                <a:cs typeface="Times New Roman" panose="02020603050405020304" pitchFamily="18" charset="0"/>
              </a:rPr>
              <a:t> 23 km – 740 km</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Mission Timeline:</a:t>
            </a:r>
            <a:r>
              <a:rPr lang="en-IN" sz="1700" dirty="0">
                <a:latin typeface="Times New Roman" panose="02020603050405020304" pitchFamily="18" charset="0"/>
                <a:cs typeface="Times New Roman" panose="02020603050405020304" pitchFamily="18" charset="0"/>
              </a:rPr>
              <a:t> 1988 – Present (continuously upgraded series)</a:t>
            </a:r>
          </a:p>
        </p:txBody>
      </p:sp>
      <p:sp>
        <p:nvSpPr>
          <p:cNvPr id="6" name="TextBox 5">
            <a:extLst>
              <a:ext uri="{FF2B5EF4-FFF2-40B4-BE49-F238E27FC236}">
                <a16:creationId xmlns:a16="http://schemas.microsoft.com/office/drawing/2014/main" id="{504CFFEF-9904-3032-EEA0-E6207F9C0EC6}"/>
              </a:ext>
            </a:extLst>
          </p:cNvPr>
          <p:cNvSpPr txBox="1"/>
          <p:nvPr/>
        </p:nvSpPr>
        <p:spPr>
          <a:xfrm>
            <a:off x="850081" y="1079173"/>
            <a:ext cx="9829520" cy="1923604"/>
          </a:xfrm>
          <a:prstGeom prst="rect">
            <a:avLst/>
          </a:prstGeom>
          <a:noFill/>
        </p:spPr>
        <p:txBody>
          <a:bodyPr wrap="square" rtlCol="0">
            <a:spAutoFit/>
          </a:bodyPr>
          <a:lstStyle/>
          <a:p>
            <a:r>
              <a:rPr lang="en-US" sz="1700" b="1" u="sng" dirty="0">
                <a:latin typeface="Times New Roman" panose="02020603050405020304" pitchFamily="18" charset="0"/>
                <a:cs typeface="Times New Roman" panose="02020603050405020304" pitchFamily="18" charset="0"/>
              </a:rPr>
              <a:t>LISS</a:t>
            </a:r>
            <a:br>
              <a:rPr lang="en-US" sz="1700" dirty="0">
                <a:latin typeface="Times New Roman" panose="02020603050405020304" pitchFamily="18" charset="0"/>
                <a:cs typeface="Times New Roman" panose="02020603050405020304" pitchFamily="18" charset="0"/>
              </a:rPr>
            </a:br>
            <a:r>
              <a:rPr lang="en-IN" sz="1700" dirty="0">
                <a:latin typeface="Times New Roman" panose="02020603050405020304" pitchFamily="18" charset="0"/>
                <a:cs typeface="Times New Roman" panose="02020603050405020304" pitchFamily="18" charset="0"/>
              </a:rPr>
              <a:t>The LISS (Linear Imaging Self-Scanning) series represents India’s pioneering effort in multispectral Earth observation.</a:t>
            </a:r>
            <a:br>
              <a:rPr lang="en-IN" sz="1700" dirty="0">
                <a:latin typeface="Times New Roman" panose="02020603050405020304" pitchFamily="18" charset="0"/>
                <a:cs typeface="Times New Roman" panose="02020603050405020304" pitchFamily="18" charset="0"/>
              </a:rPr>
            </a:br>
            <a:r>
              <a:rPr lang="en-IN" sz="1700" dirty="0">
                <a:latin typeface="Times New Roman" panose="02020603050405020304" pitchFamily="18" charset="0"/>
                <a:cs typeface="Times New Roman" panose="02020603050405020304" pitchFamily="18" charset="0"/>
              </a:rPr>
              <a:t>Each generation (LISS-I, LISS-II, LISS-III, LISS-IV) improved in terms of spatial, radiometric, and spectral resolution.</a:t>
            </a:r>
            <a:br>
              <a:rPr lang="en-IN" sz="1700" dirty="0">
                <a:latin typeface="Times New Roman" panose="02020603050405020304" pitchFamily="18" charset="0"/>
                <a:cs typeface="Times New Roman" panose="02020603050405020304" pitchFamily="18" charset="0"/>
              </a:rPr>
            </a:br>
            <a:r>
              <a:rPr lang="en-IN" sz="1700" dirty="0">
                <a:latin typeface="Times New Roman" panose="02020603050405020304" pitchFamily="18" charset="0"/>
                <a:cs typeface="Times New Roman" panose="02020603050405020304" pitchFamily="18" charset="0"/>
              </a:rPr>
              <a:t>LISS sensors capture high-quality multispectral imagery across visible, near-infrared (NIR), and shortwave infrared (SWIR) bands.</a:t>
            </a:r>
          </a:p>
        </p:txBody>
      </p:sp>
    </p:spTree>
    <p:extLst>
      <p:ext uri="{BB962C8B-B14F-4D97-AF65-F5344CB8AC3E}">
        <p14:creationId xmlns:p14="http://schemas.microsoft.com/office/powerpoint/2010/main" val="40520060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AE3B8B4-9D61-71E0-5148-23B96D863396}"/>
              </a:ext>
            </a:extLst>
          </p:cNvPr>
          <p:cNvSpPr>
            <a:spLocks noGrp="1"/>
          </p:cNvSpPr>
          <p:nvPr>
            <p:ph type="subTitle" idx="1"/>
          </p:nvPr>
        </p:nvSpPr>
        <p:spPr>
          <a:xfrm>
            <a:off x="879232" y="1922542"/>
            <a:ext cx="9144000" cy="1655758"/>
          </a:xfrm>
        </p:spPr>
        <p:txBody>
          <a:bodyPr/>
          <a:lstStyle/>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Developed by ISRO (India), a key instrument in India’s Earth observation program.</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Uses push-broom scanning technology.</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Multiple versions: LISS-I, II, III, and IV, each improving resolution and spectral range.</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Spatial resolution ranges from 23.5m (LISS-III) to 5.8m (LISS-IV).</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Commonly used for agriculture monitoring, forest mapping, and rural development.</a:t>
            </a:r>
          </a:p>
          <a:p>
            <a:pPr marL="285750" indent="-285750" algn="l">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Interesting fact: LISS-IV provides three-band multispectral imagery with high geometric accuracy, ideal for urban mapping.</a:t>
            </a:r>
          </a:p>
          <a:p>
            <a:pPr marL="285750" indent="-285750" algn="l">
              <a:buFont typeface="Wingdings" panose="05000000000000000000" pitchFamily="2" charset="2"/>
              <a:buChar char="q"/>
            </a:pPr>
            <a:endParaRPr lang="en-IN" sz="1700" dirty="0"/>
          </a:p>
        </p:txBody>
      </p:sp>
      <p:sp>
        <p:nvSpPr>
          <p:cNvPr id="4" name="Title 1">
            <a:extLst>
              <a:ext uri="{FF2B5EF4-FFF2-40B4-BE49-F238E27FC236}">
                <a16:creationId xmlns:a16="http://schemas.microsoft.com/office/drawing/2014/main" id="{F39721B9-B4E1-6026-33EA-3DDCF0D6E2D0}"/>
              </a:ext>
            </a:extLst>
          </p:cNvPr>
          <p:cNvSpPr>
            <a:spLocks noGrp="1"/>
          </p:cNvSpPr>
          <p:nvPr>
            <p:ph type="ctrTitle"/>
          </p:nvPr>
        </p:nvSpPr>
        <p:spPr>
          <a:xfrm>
            <a:off x="1048297" y="909000"/>
            <a:ext cx="3239586" cy="819650"/>
          </a:xfrm>
        </p:spPr>
        <p:txBody>
          <a:bodyPr/>
          <a:lstStyle/>
          <a:p>
            <a:r>
              <a:rPr lang="en-US" sz="4000" u="sng" dirty="0">
                <a:latin typeface="Times New Roman" panose="02020603050405020304" pitchFamily="18" charset="0"/>
                <a:cs typeface="Times New Roman" panose="02020603050405020304" pitchFamily="18" charset="0"/>
              </a:rPr>
              <a:t>Key facts</a:t>
            </a:r>
            <a:endParaRPr lang="en-IN" sz="4000" u="sng" dirty="0">
              <a:latin typeface="Times New Roman" panose="02020603050405020304" pitchFamily="18" charset="0"/>
              <a:cs typeface="Times New Roman" panose="02020603050405020304" pitchFamily="18" charset="0"/>
            </a:endParaRPr>
          </a:p>
        </p:txBody>
      </p:sp>
      <p:sp>
        <p:nvSpPr>
          <p:cNvPr id="5" name="Title 27">
            <a:extLst>
              <a:ext uri="{FF2B5EF4-FFF2-40B4-BE49-F238E27FC236}">
                <a16:creationId xmlns:a16="http://schemas.microsoft.com/office/drawing/2014/main" id="{B4A3A892-8B51-50A0-D403-9939A9A15937}"/>
              </a:ext>
            </a:extLst>
          </p:cNvPr>
          <p:cNvSpPr txBox="1">
            <a:spLocks/>
          </p:cNvSpPr>
          <p:nvPr/>
        </p:nvSpPr>
        <p:spPr>
          <a:xfrm>
            <a:off x="879232" y="0"/>
            <a:ext cx="11121179"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US" sz="2800" b="1" dirty="0"/>
              <a:t>Linear Imaging and Self-Scanning Sensor (LISS) – IRS Series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054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283F2-9301-8630-C737-EBA5B4C033C7}"/>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07901367-7037-C47C-7B67-FD38196193CC}"/>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2" name="Title 27">
            <a:extLst>
              <a:ext uri="{FF2B5EF4-FFF2-40B4-BE49-F238E27FC236}">
                <a16:creationId xmlns:a16="http://schemas.microsoft.com/office/drawing/2014/main" id="{78FD9ED9-B548-E0D7-DD85-60A2FDD1BFDE}"/>
              </a:ext>
            </a:extLst>
          </p:cNvPr>
          <p:cNvSpPr txBox="1">
            <a:spLocks/>
          </p:cNvSpPr>
          <p:nvPr/>
        </p:nvSpPr>
        <p:spPr>
          <a:xfrm>
            <a:off x="542390" y="0"/>
            <a:ext cx="10770378"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US" sz="2800" b="1" dirty="0"/>
              <a:t>Linear Imaging and Self-Scanning Sensor (LISS) – IRS Series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E7418FA6-7415-4A55-D728-16216A2D0B72}"/>
              </a:ext>
            </a:extLst>
          </p:cNvPr>
          <p:cNvGraphicFramePr>
            <a:graphicFrameLocks noGrp="1"/>
          </p:cNvGraphicFramePr>
          <p:nvPr>
            <p:extLst>
              <p:ext uri="{D42A27DB-BD31-4B8C-83A1-F6EECF244321}">
                <p14:modId xmlns:p14="http://schemas.microsoft.com/office/powerpoint/2010/main" val="4293713993"/>
              </p:ext>
            </p:extLst>
          </p:nvPr>
        </p:nvGraphicFramePr>
        <p:xfrm>
          <a:off x="369119" y="2240280"/>
          <a:ext cx="10972800" cy="3810000"/>
        </p:xfrm>
        <a:graphic>
          <a:graphicData uri="http://schemas.openxmlformats.org/drawingml/2006/table">
            <a:tbl>
              <a:tblPr/>
              <a:tblGrid>
                <a:gridCol w="2194560">
                  <a:extLst>
                    <a:ext uri="{9D8B030D-6E8A-4147-A177-3AD203B41FA5}">
                      <a16:colId xmlns:a16="http://schemas.microsoft.com/office/drawing/2014/main" val="2510906543"/>
                    </a:ext>
                  </a:extLst>
                </a:gridCol>
                <a:gridCol w="2194560">
                  <a:extLst>
                    <a:ext uri="{9D8B030D-6E8A-4147-A177-3AD203B41FA5}">
                      <a16:colId xmlns:a16="http://schemas.microsoft.com/office/drawing/2014/main" val="2716134438"/>
                    </a:ext>
                  </a:extLst>
                </a:gridCol>
                <a:gridCol w="2194560">
                  <a:extLst>
                    <a:ext uri="{9D8B030D-6E8A-4147-A177-3AD203B41FA5}">
                      <a16:colId xmlns:a16="http://schemas.microsoft.com/office/drawing/2014/main" val="2508507454"/>
                    </a:ext>
                  </a:extLst>
                </a:gridCol>
                <a:gridCol w="2194560">
                  <a:extLst>
                    <a:ext uri="{9D8B030D-6E8A-4147-A177-3AD203B41FA5}">
                      <a16:colId xmlns:a16="http://schemas.microsoft.com/office/drawing/2014/main" val="2232975811"/>
                    </a:ext>
                  </a:extLst>
                </a:gridCol>
                <a:gridCol w="2194560">
                  <a:extLst>
                    <a:ext uri="{9D8B030D-6E8A-4147-A177-3AD203B41FA5}">
                      <a16:colId xmlns:a16="http://schemas.microsoft.com/office/drawing/2014/main" val="1416372752"/>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 Series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Satellite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Resolution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Swath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Spectral Bands (µm)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8496168"/>
                  </a:ext>
                </a:extLst>
              </a:tr>
              <a:tr h="0">
                <a:tc>
                  <a:txBody>
                    <a:bodyPr/>
                    <a:lstStyle/>
                    <a:p>
                      <a:pPr>
                        <a:buNone/>
                      </a:pPr>
                      <a:r>
                        <a:rPr lang="en-IN" sz="2000" b="1" dirty="0">
                          <a:latin typeface="Times New Roman" panose="02020603050405020304" pitchFamily="18" charset="0"/>
                          <a:cs typeface="Times New Roman" panose="02020603050405020304" pitchFamily="18" charset="0"/>
                        </a:rPr>
                        <a:t>LISS-I</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IRS-1A/1B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72.5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nl-NL" sz="2000">
                          <a:latin typeface="Times New Roman" panose="02020603050405020304" pitchFamily="18" charset="0"/>
                          <a:cs typeface="Times New Roman" panose="02020603050405020304" pitchFamily="18" charset="0"/>
                        </a:rPr>
                        <a:t>0.45–0.86 (4 bands: B, G, R, NIR)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3152539"/>
                  </a:ext>
                </a:extLst>
              </a:tr>
              <a:tr h="0">
                <a:tc>
                  <a:txBody>
                    <a:bodyPr/>
                    <a:lstStyle/>
                    <a:p>
                      <a:pPr>
                        <a:buNone/>
                      </a:pPr>
                      <a:r>
                        <a:rPr lang="en-IN" sz="2000" b="1">
                          <a:latin typeface="Times New Roman" panose="02020603050405020304" pitchFamily="18" charset="0"/>
                          <a:cs typeface="Times New Roman" panose="02020603050405020304" pitchFamily="18" charset="0"/>
                        </a:rPr>
                        <a:t>LISS-II</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IRS-1A/1B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36.25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0.45–0.86 (4 bands)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9835574"/>
                  </a:ext>
                </a:extLst>
              </a:tr>
              <a:tr h="0">
                <a:tc>
                  <a:txBody>
                    <a:bodyPr/>
                    <a:lstStyle/>
                    <a:p>
                      <a:pPr>
                        <a:buNone/>
                      </a:pPr>
                      <a:r>
                        <a:rPr lang="en-IN" sz="2000" b="1">
                          <a:latin typeface="Times New Roman" panose="02020603050405020304" pitchFamily="18" charset="0"/>
                          <a:cs typeface="Times New Roman" panose="02020603050405020304" pitchFamily="18" charset="0"/>
                        </a:rPr>
                        <a:t>LISS-III</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IRS-1C/1D / </a:t>
                      </a:r>
                      <a:r>
                        <a:rPr lang="en-IN" sz="2000" dirty="0" err="1">
                          <a:latin typeface="Times New Roman" panose="02020603050405020304" pitchFamily="18" charset="0"/>
                          <a:cs typeface="Times New Roman" panose="02020603050405020304" pitchFamily="18" charset="0"/>
                        </a:rPr>
                        <a:t>Resourcesat</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23.5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2000">
                          <a:latin typeface="Times New Roman" panose="02020603050405020304" pitchFamily="18" charset="0"/>
                          <a:cs typeface="Times New Roman" panose="02020603050405020304" pitchFamily="18" charset="0"/>
                        </a:rPr>
                        <a:t>0.52–1.70 (G, R, NIR, SWIR)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560732"/>
                  </a:ext>
                </a:extLst>
              </a:tr>
              <a:tr h="0">
                <a:tc>
                  <a:txBody>
                    <a:bodyPr/>
                    <a:lstStyle/>
                    <a:p>
                      <a:pPr>
                        <a:buNone/>
                      </a:pPr>
                      <a:r>
                        <a:rPr lang="en-IN" sz="2000" b="1">
                          <a:latin typeface="Times New Roman" panose="02020603050405020304" pitchFamily="18" charset="0"/>
                          <a:cs typeface="Times New Roman" panose="02020603050405020304" pitchFamily="18" charset="0"/>
                        </a:rPr>
                        <a:t>LISS-IV</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Resourcesat-1/2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0.52–0.86 (G, R, NIR)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3729005"/>
                  </a:ext>
                </a:extLst>
              </a:tr>
            </a:tbl>
          </a:graphicData>
        </a:graphic>
      </p:graphicFrame>
      <p:sp>
        <p:nvSpPr>
          <p:cNvPr id="7" name="TextBox 6">
            <a:extLst>
              <a:ext uri="{FF2B5EF4-FFF2-40B4-BE49-F238E27FC236}">
                <a16:creationId xmlns:a16="http://schemas.microsoft.com/office/drawing/2014/main" id="{0432A5B0-312D-B934-1E26-C69E4A0032A6}"/>
              </a:ext>
            </a:extLst>
          </p:cNvPr>
          <p:cNvSpPr txBox="1"/>
          <p:nvPr/>
        </p:nvSpPr>
        <p:spPr>
          <a:xfrm>
            <a:off x="369119" y="1262353"/>
            <a:ext cx="4589417" cy="461665"/>
          </a:xfrm>
          <a:prstGeom prst="rect">
            <a:avLst/>
          </a:prstGeom>
          <a:noFill/>
        </p:spPr>
        <p:txBody>
          <a:bodyPr wrap="square" rtlCol="0">
            <a:spAutoFit/>
          </a:bodyPr>
          <a:lstStyle/>
          <a:p>
            <a:r>
              <a:rPr lang="en-IN" sz="2400" b="1" u="sng" dirty="0">
                <a:latin typeface="Times New Roman" panose="02020603050405020304" pitchFamily="18" charset="0"/>
                <a:cs typeface="Times New Roman" panose="02020603050405020304" pitchFamily="18" charset="0"/>
              </a:rPr>
              <a:t>Types of LISS Sensors</a:t>
            </a:r>
          </a:p>
        </p:txBody>
      </p:sp>
    </p:spTree>
    <p:extLst>
      <p:ext uri="{BB962C8B-B14F-4D97-AF65-F5344CB8AC3E}">
        <p14:creationId xmlns:p14="http://schemas.microsoft.com/office/powerpoint/2010/main" val="3360286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C0059-1ABD-3118-24EF-ED5C3D45C13D}"/>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E472C0EC-65AE-A117-F1F3-6D359CB40A4E}"/>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9A41EC2C-B595-6D2D-2532-BF15E97B5FAA}"/>
              </a:ext>
            </a:extLst>
          </p:cNvPr>
          <p:cNvSpPr>
            <a:spLocks noGrp="1"/>
          </p:cNvSpPr>
          <p:nvPr>
            <p:ph type="ctrTitle"/>
          </p:nvPr>
        </p:nvSpPr>
        <p:spPr>
          <a:xfrm>
            <a:off x="542389" y="1976846"/>
            <a:ext cx="9144000" cy="4354407"/>
          </a:xfrm>
        </p:spPr>
        <p:txBody>
          <a:bodyPr/>
          <a:lstStyle/>
          <a:p>
            <a:pPr algn="l"/>
            <a:r>
              <a:rPr lang="en-IN" sz="2000" b="1" u="sng" dirty="0">
                <a:latin typeface="Times New Roman" panose="02020603050405020304" pitchFamily="18" charset="0"/>
                <a:cs typeface="Times New Roman" panose="02020603050405020304" pitchFamily="18" charset="0"/>
              </a:rPr>
              <a:t>Features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-Push-broom scanner providing wide-area multispectral coverage.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-Designed for resource management, crop monitoring, and environmental studies.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-Progressive enhancement from LISS-I to LISS-IV improved radiometric accuracy and ground detail.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-Integrated with PAN cameras for panchromatic and multispectral fusion (e.g., IRS-1C, 1D).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Operates alongside </a:t>
            </a:r>
            <a:r>
              <a:rPr lang="en-IN" sz="2000" dirty="0" err="1">
                <a:latin typeface="Times New Roman" panose="02020603050405020304" pitchFamily="18" charset="0"/>
                <a:cs typeface="Times New Roman" panose="02020603050405020304" pitchFamily="18" charset="0"/>
              </a:rPr>
              <a:t>AWiFS</a:t>
            </a:r>
            <a:r>
              <a:rPr lang="en-IN" sz="2000" dirty="0">
                <a:latin typeface="Times New Roman" panose="02020603050405020304" pitchFamily="18" charset="0"/>
                <a:cs typeface="Times New Roman" panose="02020603050405020304" pitchFamily="18" charset="0"/>
              </a:rPr>
              <a:t> for large-area imaging.</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u="sng" dirty="0">
                <a:latin typeface="Times New Roman" panose="02020603050405020304" pitchFamily="18" charset="0"/>
                <a:cs typeface="Times New Roman" panose="02020603050405020304" pitchFamily="18" charset="0"/>
              </a:rPr>
              <a:t>Applications</a:t>
            </a:r>
            <a:br>
              <a:rPr lang="en-IN" sz="2000" b="1" u="sng"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1) Agriculture: Crop type mapping, irrigation planning, yield assessment.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2) Forestry: Canopy density and deforestation monitoring.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3) Water Resources: Reservoir and wetland mapping.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4) Urban Studies: Land use/land cover classification.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5) Disaster Management: Drought, flood, and forest fire monitoring.</a:t>
            </a:r>
          </a:p>
        </p:txBody>
      </p:sp>
      <p:sp>
        <p:nvSpPr>
          <p:cNvPr id="2" name="Title 27">
            <a:extLst>
              <a:ext uri="{FF2B5EF4-FFF2-40B4-BE49-F238E27FC236}">
                <a16:creationId xmlns:a16="http://schemas.microsoft.com/office/drawing/2014/main" id="{EC1BD3B4-F65D-B347-F887-DA6747FBEBA3}"/>
              </a:ext>
            </a:extLst>
          </p:cNvPr>
          <p:cNvSpPr txBox="1">
            <a:spLocks/>
          </p:cNvSpPr>
          <p:nvPr/>
        </p:nvSpPr>
        <p:spPr>
          <a:xfrm>
            <a:off x="513238" y="0"/>
            <a:ext cx="10799529"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US" sz="2800" b="1" dirty="0"/>
              <a:t>Linear Imaging and Self-Scanning Sensor (LISS) – IRS Series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6133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4AFE-6F31-F736-4E10-8387D4099922}"/>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F4BDE64E-D93C-D7F5-FC65-73BE6FA3ECE8}"/>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9E048419-A26E-AC87-90F4-CD9032DECCBF}"/>
              </a:ext>
            </a:extLst>
          </p:cNvPr>
          <p:cNvSpPr>
            <a:spLocks noGrp="1"/>
          </p:cNvSpPr>
          <p:nvPr>
            <p:ph type="ctrTitle"/>
          </p:nvPr>
        </p:nvSpPr>
        <p:spPr>
          <a:xfrm>
            <a:off x="687980" y="1158241"/>
            <a:ext cx="9144000" cy="1670593"/>
          </a:xfrm>
        </p:spPr>
        <p:txBody>
          <a:bodyPr/>
          <a:lstStyle/>
          <a:p>
            <a:pPr algn="l"/>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Charge-Coupled Device (CCD) Camera</a:t>
            </a:r>
            <a:r>
              <a:rPr lang="en-US" sz="2000" dirty="0">
                <a:latin typeface="Times New Roman" panose="02020603050405020304" pitchFamily="18" charset="0"/>
                <a:cs typeface="Times New Roman" panose="02020603050405020304" pitchFamily="18" charset="0"/>
              </a:rPr>
              <a:t> is the primary multispectral imaging system aboard the CBERS satellites.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provides moderate-resolution imagery across visible to near-infrared bands, supporting environmental, agricultural, and land-use applications.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Developed jointly by Brazil and China, the CCD sensor made the </a:t>
            </a:r>
            <a:r>
              <a:rPr lang="en-US" sz="2000" b="1" dirty="0">
                <a:latin typeface="Times New Roman" panose="02020603050405020304" pitchFamily="18" charset="0"/>
                <a:cs typeface="Times New Roman" panose="02020603050405020304" pitchFamily="18" charset="0"/>
              </a:rPr>
              <a:t>CBERS program</a:t>
            </a:r>
            <a:r>
              <a:rPr lang="en-US" sz="2000" dirty="0">
                <a:latin typeface="Times New Roman" panose="02020603050405020304" pitchFamily="18" charset="0"/>
                <a:cs typeface="Times New Roman" panose="02020603050405020304" pitchFamily="18" charset="0"/>
              </a:rPr>
              <a:t> one of the earliest cooperative Earth observation missions.</a:t>
            </a:r>
          </a:p>
        </p:txBody>
      </p:sp>
      <p:sp>
        <p:nvSpPr>
          <p:cNvPr id="2" name="Title 27">
            <a:extLst>
              <a:ext uri="{FF2B5EF4-FFF2-40B4-BE49-F238E27FC236}">
                <a16:creationId xmlns:a16="http://schemas.microsoft.com/office/drawing/2014/main" id="{D5336B5A-D452-3ED9-A5EA-ED042043A249}"/>
              </a:ext>
            </a:extLst>
          </p:cNvPr>
          <p:cNvSpPr txBox="1">
            <a:spLocks/>
          </p:cNvSpPr>
          <p:nvPr/>
        </p:nvSpPr>
        <p:spPr>
          <a:xfrm>
            <a:off x="879232" y="9427"/>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IN" sz="2800" b="1" dirty="0"/>
              <a:t>CCD Camera – CBERS Series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BE0DFF3-9C79-6603-9399-EC2DEBA4B8F2}"/>
              </a:ext>
            </a:extLst>
          </p:cNvPr>
          <p:cNvSpPr txBox="1"/>
          <p:nvPr/>
        </p:nvSpPr>
        <p:spPr>
          <a:xfrm>
            <a:off x="850081" y="3114436"/>
            <a:ext cx="9283671" cy="286232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Sensor Type:</a:t>
            </a:r>
            <a:r>
              <a:rPr lang="en-IN" sz="2000" dirty="0">
                <a:latin typeface="Times New Roman" panose="02020603050405020304" pitchFamily="18" charset="0"/>
                <a:cs typeface="Times New Roman" panose="02020603050405020304" pitchFamily="18" charset="0"/>
              </a:rPr>
              <a:t> Passive Optical (Visible, Near Infrared, Panchromatic)</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Platform:</a:t>
            </a:r>
            <a:r>
              <a:rPr lang="en-IN" sz="2000" dirty="0">
                <a:latin typeface="Times New Roman" panose="02020603050405020304" pitchFamily="18" charset="0"/>
                <a:cs typeface="Times New Roman" panose="02020603050405020304" pitchFamily="18" charset="0"/>
              </a:rPr>
              <a:t> CBERS Satellite Series</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Agencies:</a:t>
            </a:r>
            <a:r>
              <a:rPr lang="en-IN" sz="2000" dirty="0">
                <a:latin typeface="Times New Roman" panose="02020603050405020304" pitchFamily="18" charset="0"/>
                <a:cs typeface="Times New Roman" panose="02020603050405020304" pitchFamily="18" charset="0"/>
              </a:rPr>
              <a:t> INPE (Brazil) &amp; CNSA (China)</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Orbit:</a:t>
            </a:r>
            <a:r>
              <a:rPr lang="en-IN" sz="2000" dirty="0">
                <a:latin typeface="Times New Roman" panose="02020603050405020304" pitchFamily="18" charset="0"/>
                <a:cs typeface="Times New Roman" panose="02020603050405020304" pitchFamily="18" charset="0"/>
              </a:rPr>
              <a:t> Sun-synchronous, near-polar orbit</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Altitude:</a:t>
            </a:r>
            <a:r>
              <a:rPr lang="en-IN" sz="2000" dirty="0">
                <a:latin typeface="Times New Roman" panose="02020603050405020304" pitchFamily="18" charset="0"/>
                <a:cs typeface="Times New Roman" panose="02020603050405020304" pitchFamily="18" charset="0"/>
              </a:rPr>
              <a:t> ~778 km</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Swath Width:</a:t>
            </a:r>
            <a:r>
              <a:rPr lang="en-IN" sz="2000" dirty="0">
                <a:latin typeface="Times New Roman" panose="02020603050405020304" pitchFamily="18" charset="0"/>
                <a:cs typeface="Times New Roman" panose="02020603050405020304" pitchFamily="18" charset="0"/>
              </a:rPr>
              <a:t> 113 km</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Spatial Resolution:</a:t>
            </a:r>
            <a:r>
              <a:rPr lang="en-IN" sz="2000" dirty="0">
                <a:latin typeface="Times New Roman" panose="02020603050405020304" pitchFamily="18" charset="0"/>
                <a:cs typeface="Times New Roman" panose="02020603050405020304" pitchFamily="18" charset="0"/>
              </a:rPr>
              <a:t> 20 m (Multispectral), 5 m (Panchromatic)</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Mission Timeline:</a:t>
            </a:r>
            <a:r>
              <a:rPr lang="en-IN" sz="2000" dirty="0">
                <a:latin typeface="Times New Roman" panose="02020603050405020304" pitchFamily="18" charset="0"/>
                <a:cs typeface="Times New Roman" panose="02020603050405020304" pitchFamily="18" charset="0"/>
              </a:rPr>
              <a:t> CBERS-1 (1999–2003), CBERS-2 (2003–2007), CBERS-2B (2007–2010), CBERS-4 (2014–Present)</a:t>
            </a:r>
          </a:p>
        </p:txBody>
      </p:sp>
    </p:spTree>
    <p:extLst>
      <p:ext uri="{BB962C8B-B14F-4D97-AF65-F5344CB8AC3E}">
        <p14:creationId xmlns:p14="http://schemas.microsoft.com/office/powerpoint/2010/main" val="12387236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068BBC-79A7-1CBF-45E3-DDEFD65F8DAC}"/>
              </a:ext>
            </a:extLst>
          </p:cNvPr>
          <p:cNvSpPr>
            <a:spLocks noGrp="1"/>
          </p:cNvSpPr>
          <p:nvPr>
            <p:ph type="ctrTitle"/>
          </p:nvPr>
        </p:nvSpPr>
        <p:spPr>
          <a:xfrm>
            <a:off x="0" y="1131030"/>
            <a:ext cx="3239586" cy="819650"/>
          </a:xfrm>
        </p:spPr>
        <p:txBody>
          <a:bodyPr/>
          <a:lstStyle/>
          <a:p>
            <a:r>
              <a:rPr lang="en-US" sz="3800" u="sng" dirty="0">
                <a:latin typeface="Times New Roman" panose="02020603050405020304" pitchFamily="18" charset="0"/>
                <a:cs typeface="Times New Roman" panose="02020603050405020304" pitchFamily="18" charset="0"/>
              </a:rPr>
              <a:t>Key facts</a:t>
            </a:r>
            <a:endParaRPr lang="en-IN" sz="3800" u="sng"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8C5785EB-01B5-C600-EB6A-925874246EE0}"/>
              </a:ext>
            </a:extLst>
          </p:cNvPr>
          <p:cNvSpPr>
            <a:spLocks noGrp="1" noChangeArrowheads="1"/>
          </p:cNvSpPr>
          <p:nvPr>
            <p:ph type="subTitle" idx="1"/>
          </p:nvPr>
        </p:nvSpPr>
        <p:spPr bwMode="auto">
          <a:xfrm>
            <a:off x="342900" y="2358611"/>
            <a:ext cx="1067888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Joint collaboration between China and Brazil.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CCD (Charge-Coupled Device) camera captures high-resolution multispectral imagery.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Covers 4 bands: Blue, Green, Red, and Near Infrared.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Spatial resolution: approximately 20 meters.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environmental monitoring, deforestation studies, and land classification.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Interesting fact: CBERS data is open-access, supporting global and regional research efforts.</a:t>
            </a:r>
          </a:p>
        </p:txBody>
      </p:sp>
      <p:sp>
        <p:nvSpPr>
          <p:cNvPr id="6" name="Title 27">
            <a:extLst>
              <a:ext uri="{FF2B5EF4-FFF2-40B4-BE49-F238E27FC236}">
                <a16:creationId xmlns:a16="http://schemas.microsoft.com/office/drawing/2014/main" id="{01386A07-51D4-1AD1-27EA-0B9722F5D9BE}"/>
              </a:ext>
            </a:extLst>
          </p:cNvPr>
          <p:cNvSpPr txBox="1">
            <a:spLocks/>
          </p:cNvSpPr>
          <p:nvPr/>
        </p:nvSpPr>
        <p:spPr>
          <a:xfrm>
            <a:off x="879232" y="7991"/>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IN" sz="2800" b="1" dirty="0"/>
              <a:t>CCD Camera – CBERS Series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8925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B959CDE-2CA6-021C-C51F-FEA6E8F8D965}"/>
              </a:ext>
            </a:extLst>
          </p:cNvPr>
          <p:cNvSpPr>
            <a:spLocks noGrp="1"/>
          </p:cNvSpPr>
          <p:nvPr>
            <p:ph type="subTitle" idx="1"/>
          </p:nvPr>
        </p:nvSpPr>
        <p:spPr>
          <a:xfrm>
            <a:off x="242755" y="917666"/>
            <a:ext cx="9144000" cy="5022668"/>
          </a:xfrm>
        </p:spPr>
        <p:txBody>
          <a:bodyPr/>
          <a:lstStyle/>
          <a:p>
            <a:pPr algn="l"/>
            <a:r>
              <a:rPr lang="en-IN" sz="2000" b="1" u="sng" dirty="0">
                <a:latin typeface="Times New Roman" panose="02020603050405020304" pitchFamily="18" charset="0"/>
                <a:cs typeface="Times New Roman" panose="02020603050405020304" pitchFamily="18" charset="0"/>
              </a:rPr>
              <a:t>Features</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Moderate-resolution imaging for regional environmental studies.</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Panchromatic band enables data fusion with multispectral imagery.</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Designed for land resource inventory, water management, and agriculture.</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Operational on multiple CBERS missions ensuring data continuity.</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CBERS-4 version includes improved radiometric calibration and larger dynamic range.</a:t>
            </a:r>
          </a:p>
          <a:p>
            <a:pPr algn="l"/>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algn="l"/>
            <a:r>
              <a:rPr lang="en-IN" sz="2000" b="1" u="sng" dirty="0">
                <a:latin typeface="Times New Roman" panose="02020603050405020304" pitchFamily="18" charset="0"/>
                <a:cs typeface="Times New Roman" panose="02020603050405020304" pitchFamily="18" charset="0"/>
              </a:rPr>
              <a:t>Applications</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Agriculture: Crop type mapping, productivity monitoring.</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Environment: Land degradation and vegetation change analysis.</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Water Resources: Lake and reservoir sedimentation studies.</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Urban Mapping: Land use/land cover classification, urban expansion.</a:t>
            </a:r>
          </a:p>
          <a:p>
            <a:pPr marL="285750" indent="-285750" algn="l">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Disaster Management: Floodplain monitoring, deforestation tracking.</a:t>
            </a:r>
          </a:p>
        </p:txBody>
      </p:sp>
      <p:sp>
        <p:nvSpPr>
          <p:cNvPr id="4" name="Title 27">
            <a:extLst>
              <a:ext uri="{FF2B5EF4-FFF2-40B4-BE49-F238E27FC236}">
                <a16:creationId xmlns:a16="http://schemas.microsoft.com/office/drawing/2014/main" id="{5E62BF7D-C0B9-D6C3-47D1-F6C0628DDDC5}"/>
              </a:ext>
            </a:extLst>
          </p:cNvPr>
          <p:cNvSpPr txBox="1">
            <a:spLocks/>
          </p:cNvSpPr>
          <p:nvPr/>
        </p:nvSpPr>
        <p:spPr>
          <a:xfrm>
            <a:off x="879232" y="17418"/>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lang="en-IN" sz="2800" b="1" dirty="0"/>
              <a:t>CCD Camera – CBERS Series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57124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3AC5E-C4F4-7EC8-F5B3-7B3CFD24C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442FE-4DF7-3AD9-F11D-B276CFBB348C}"/>
              </a:ext>
            </a:extLst>
          </p:cNvPr>
          <p:cNvSpPr>
            <a:spLocks noGrp="1"/>
          </p:cNvSpPr>
          <p:nvPr>
            <p:ph type="ctrTitle"/>
          </p:nvPr>
        </p:nvSpPr>
        <p:spPr>
          <a:xfrm>
            <a:off x="436520" y="616859"/>
            <a:ext cx="9144000" cy="2387598"/>
          </a:xfrm>
        </p:spPr>
        <p:txBody>
          <a:bodyPr/>
          <a:lstStyle/>
          <a:p>
            <a:pPr algn="l"/>
            <a:r>
              <a:rPr lang="en-US" sz="1900" dirty="0">
                <a:latin typeface="Times New Roman" panose="02020603050405020304" pitchFamily="18" charset="0"/>
                <a:cs typeface="Times New Roman" panose="02020603050405020304" pitchFamily="18" charset="0"/>
              </a:rPr>
              <a:t>The Arirang Electro-Optical Imaging Subsystem (AEISS) is a high-resolution multispectral and panchromatic imaging system developed by KARI for the KOMPSAT satellite program.</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It provides fine-resolution Earth observation data for national mapping, disaster monitoring, and environmental applications.</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Each generation of AEISS enhanced spatial, radiometric, and spectral precision to support both civil and governmental missions.</a:t>
            </a:r>
            <a:endParaRPr lang="en-IN" sz="19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A262290-D31D-5F5A-E060-7B0DC3292462}"/>
              </a:ext>
            </a:extLst>
          </p:cNvPr>
          <p:cNvSpPr>
            <a:spLocks noGrp="1"/>
          </p:cNvSpPr>
          <p:nvPr>
            <p:ph type="subTitle" idx="1"/>
          </p:nvPr>
        </p:nvSpPr>
        <p:spPr>
          <a:xfrm>
            <a:off x="0" y="3193826"/>
            <a:ext cx="11695611" cy="2877136"/>
          </a:xfrm>
        </p:spPr>
        <p:txBody>
          <a:bodyPr/>
          <a:lstStyle/>
          <a:p>
            <a:pPr algn="l"/>
            <a:r>
              <a:rPr lang="en-IN" sz="1900" b="1" dirty="0">
                <a:latin typeface="Times New Roman" panose="02020603050405020304" pitchFamily="18" charset="0"/>
                <a:cs typeface="Times New Roman" panose="02020603050405020304" pitchFamily="18" charset="0"/>
              </a:rPr>
              <a:t>Sensor Type:</a:t>
            </a:r>
            <a:r>
              <a:rPr lang="en-IN" sz="1900" dirty="0">
                <a:latin typeface="Times New Roman" panose="02020603050405020304" pitchFamily="18" charset="0"/>
                <a:cs typeface="Times New Roman" panose="02020603050405020304" pitchFamily="18" charset="0"/>
              </a:rPr>
              <a:t> Passive Optical (Visible to Near-Infrared)</a:t>
            </a:r>
            <a:br>
              <a:rPr lang="en-IN" sz="1900" dirty="0">
                <a:latin typeface="Times New Roman" panose="02020603050405020304" pitchFamily="18" charset="0"/>
                <a:cs typeface="Times New Roman" panose="02020603050405020304" pitchFamily="18" charset="0"/>
              </a:rPr>
            </a:br>
            <a:r>
              <a:rPr lang="en-IN" sz="1900" b="1" dirty="0">
                <a:latin typeface="Times New Roman" panose="02020603050405020304" pitchFamily="18" charset="0"/>
                <a:cs typeface="Times New Roman" panose="02020603050405020304" pitchFamily="18" charset="0"/>
              </a:rPr>
              <a:t>Platform:</a:t>
            </a:r>
            <a:r>
              <a:rPr lang="en-IN" sz="1900" dirty="0">
                <a:latin typeface="Times New Roman" panose="02020603050405020304" pitchFamily="18" charset="0"/>
                <a:cs typeface="Times New Roman" panose="02020603050405020304" pitchFamily="18" charset="0"/>
              </a:rPr>
              <a:t> KOMPSAT (Korean Multi-Purpose Satellite) Series – KOMPSAT-2, KOMPSAT-3, KOMPSAT-3A</a:t>
            </a:r>
            <a:br>
              <a:rPr lang="en-IN" sz="1900" dirty="0">
                <a:latin typeface="Times New Roman" panose="02020603050405020304" pitchFamily="18" charset="0"/>
                <a:cs typeface="Times New Roman" panose="02020603050405020304" pitchFamily="18" charset="0"/>
              </a:rPr>
            </a:br>
            <a:r>
              <a:rPr lang="en-IN" sz="1900" b="1" dirty="0">
                <a:latin typeface="Times New Roman" panose="02020603050405020304" pitchFamily="18" charset="0"/>
                <a:cs typeface="Times New Roman" panose="02020603050405020304" pitchFamily="18" charset="0"/>
              </a:rPr>
              <a:t>Agency:</a:t>
            </a:r>
            <a:r>
              <a:rPr lang="en-IN" sz="1900" dirty="0">
                <a:latin typeface="Times New Roman" panose="02020603050405020304" pitchFamily="18" charset="0"/>
                <a:cs typeface="Times New Roman" panose="02020603050405020304" pitchFamily="18" charset="0"/>
              </a:rPr>
              <a:t> KARI – Korea Aerospace Research Institute</a:t>
            </a:r>
            <a:br>
              <a:rPr lang="en-IN" sz="1900" dirty="0">
                <a:latin typeface="Times New Roman" panose="02020603050405020304" pitchFamily="18" charset="0"/>
                <a:cs typeface="Times New Roman" panose="02020603050405020304" pitchFamily="18" charset="0"/>
              </a:rPr>
            </a:br>
            <a:r>
              <a:rPr lang="en-IN" sz="1900" b="1" dirty="0">
                <a:latin typeface="Times New Roman" panose="02020603050405020304" pitchFamily="18" charset="0"/>
                <a:cs typeface="Times New Roman" panose="02020603050405020304" pitchFamily="18" charset="0"/>
              </a:rPr>
              <a:t>Orbit:</a:t>
            </a:r>
            <a:r>
              <a:rPr lang="en-IN" sz="1900" dirty="0">
                <a:latin typeface="Times New Roman" panose="02020603050405020304" pitchFamily="18" charset="0"/>
                <a:cs typeface="Times New Roman" panose="02020603050405020304" pitchFamily="18" charset="0"/>
              </a:rPr>
              <a:t> Sun-synchronous, near-polar orbit</a:t>
            </a:r>
            <a:br>
              <a:rPr lang="en-IN" sz="1900" dirty="0">
                <a:latin typeface="Times New Roman" panose="02020603050405020304" pitchFamily="18" charset="0"/>
                <a:cs typeface="Times New Roman" panose="02020603050405020304" pitchFamily="18" charset="0"/>
              </a:rPr>
            </a:br>
            <a:r>
              <a:rPr lang="en-IN" sz="1900" b="1" dirty="0">
                <a:latin typeface="Times New Roman" panose="02020603050405020304" pitchFamily="18" charset="0"/>
                <a:cs typeface="Times New Roman" panose="02020603050405020304" pitchFamily="18" charset="0"/>
              </a:rPr>
              <a:t>Altitude:</a:t>
            </a:r>
            <a:r>
              <a:rPr lang="en-IN" sz="1900" dirty="0">
                <a:latin typeface="Times New Roman" panose="02020603050405020304" pitchFamily="18" charset="0"/>
                <a:cs typeface="Times New Roman" panose="02020603050405020304" pitchFamily="18" charset="0"/>
              </a:rPr>
              <a:t> ~685 km (KOMPSAT-2), ~685–690 km (KOMPSAT-3/3A)</a:t>
            </a:r>
            <a:br>
              <a:rPr lang="en-IN" sz="1900" dirty="0">
                <a:latin typeface="Times New Roman" panose="02020603050405020304" pitchFamily="18" charset="0"/>
                <a:cs typeface="Times New Roman" panose="02020603050405020304" pitchFamily="18" charset="0"/>
              </a:rPr>
            </a:br>
            <a:r>
              <a:rPr lang="en-IN" sz="1900" b="1" dirty="0">
                <a:latin typeface="Times New Roman" panose="02020603050405020304" pitchFamily="18" charset="0"/>
                <a:cs typeface="Times New Roman" panose="02020603050405020304" pitchFamily="18" charset="0"/>
              </a:rPr>
              <a:t>Swath Width:</a:t>
            </a:r>
            <a:r>
              <a:rPr lang="en-IN" sz="1900" dirty="0">
                <a:latin typeface="Times New Roman" panose="02020603050405020304" pitchFamily="18" charset="0"/>
                <a:cs typeface="Times New Roman" panose="02020603050405020304" pitchFamily="18" charset="0"/>
              </a:rPr>
              <a:t> 14–15 km</a:t>
            </a:r>
            <a:br>
              <a:rPr lang="en-IN" sz="1900" dirty="0">
                <a:latin typeface="Times New Roman" panose="02020603050405020304" pitchFamily="18" charset="0"/>
                <a:cs typeface="Times New Roman" panose="02020603050405020304" pitchFamily="18" charset="0"/>
              </a:rPr>
            </a:br>
            <a:r>
              <a:rPr lang="en-IN" sz="1900" b="1" dirty="0">
                <a:latin typeface="Times New Roman" panose="02020603050405020304" pitchFamily="18" charset="0"/>
                <a:cs typeface="Times New Roman" panose="02020603050405020304" pitchFamily="18" charset="0"/>
              </a:rPr>
              <a:t>Spatial Resolution:</a:t>
            </a:r>
            <a:r>
              <a:rPr lang="en-IN" sz="1900" dirty="0">
                <a:latin typeface="Times New Roman" panose="02020603050405020304" pitchFamily="18" charset="0"/>
                <a:cs typeface="Times New Roman" panose="02020603050405020304" pitchFamily="18" charset="0"/>
              </a:rPr>
              <a:t> 1.0 m (Panchromatic), 4.0 m (Multispectral)</a:t>
            </a:r>
            <a:br>
              <a:rPr lang="en-IN" sz="1900" dirty="0">
                <a:latin typeface="Times New Roman" panose="02020603050405020304" pitchFamily="18" charset="0"/>
                <a:cs typeface="Times New Roman" panose="02020603050405020304" pitchFamily="18" charset="0"/>
              </a:rPr>
            </a:br>
            <a:r>
              <a:rPr lang="en-IN" sz="1900" b="1" dirty="0">
                <a:latin typeface="Times New Roman" panose="02020603050405020304" pitchFamily="18" charset="0"/>
                <a:cs typeface="Times New Roman" panose="02020603050405020304" pitchFamily="18" charset="0"/>
              </a:rPr>
              <a:t>Mission Timeline:</a:t>
            </a:r>
            <a:r>
              <a:rPr lang="en-IN" sz="1900" dirty="0">
                <a:latin typeface="Times New Roman" panose="02020603050405020304" pitchFamily="18" charset="0"/>
                <a:cs typeface="Times New Roman" panose="02020603050405020304" pitchFamily="18" charset="0"/>
              </a:rPr>
              <a:t> KOMPSAT-2 (2006–2020), KOMPSAT-3 (2012–Present), KOMPSAT-3A (2015–Present)</a:t>
            </a:r>
          </a:p>
        </p:txBody>
      </p:sp>
      <p:sp>
        <p:nvSpPr>
          <p:cNvPr id="6" name="Title 27">
            <a:extLst>
              <a:ext uri="{FF2B5EF4-FFF2-40B4-BE49-F238E27FC236}">
                <a16:creationId xmlns:a16="http://schemas.microsoft.com/office/drawing/2014/main" id="{ABDF991B-BCA1-39CC-71B3-30A5CE224786}"/>
              </a:ext>
            </a:extLst>
          </p:cNvPr>
          <p:cNvSpPr txBox="1">
            <a:spLocks/>
          </p:cNvSpPr>
          <p:nvPr/>
        </p:nvSpPr>
        <p:spPr>
          <a:xfrm>
            <a:off x="879232" y="17418"/>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kumimoji="0" lang="en-US" sz="2800" b="1" i="0" u="none" strike="noStrike" kern="1200" cap="none" spc="0" normalizeH="0" baseline="0" noProof="0" dirty="0">
                <a:ln>
                  <a:noFill/>
                </a:ln>
                <a:solidFill>
                  <a:srgbClr val="002060"/>
                </a:solidFill>
                <a:effectLst/>
                <a:uLnTx/>
                <a:uFillTx/>
                <a:latin typeface="Calibri" panose="020F0502020204030204"/>
                <a:ea typeface="+mn-ea"/>
                <a:cs typeface="+mn-cs"/>
              </a:rPr>
              <a:t>A</a:t>
            </a:r>
            <a:r>
              <a:rPr lang="pt-BR" sz="2800" b="1" dirty="0"/>
              <a:t>rirang Electro-Optical Imaging Subsystem (AEISS)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1412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7AC9A29-0B55-B8E8-DA1F-D4C092D0CCE3}"/>
              </a:ext>
            </a:extLst>
          </p:cNvPr>
          <p:cNvSpPr>
            <a:spLocks noGrp="1"/>
          </p:cNvSpPr>
          <p:nvPr>
            <p:ph type="subTitle" idx="1"/>
          </p:nvPr>
        </p:nvSpPr>
        <p:spPr>
          <a:xfrm>
            <a:off x="1097283" y="2601121"/>
            <a:ext cx="9144000" cy="1655758"/>
          </a:xfrm>
        </p:spPr>
        <p:txBody>
          <a:bodyPr/>
          <a:lstStyle/>
          <a:p>
            <a:pPr marL="285750" indent="-28575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Developed by South Korea’s KARI (Korea Aerospace Research Institute).</a:t>
            </a:r>
          </a:p>
          <a:p>
            <a:pPr marL="285750" indent="-28575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Provides high spatial resolution: 0.5m (panchromatic) and 2m (multispectral).</a:t>
            </a:r>
          </a:p>
          <a:p>
            <a:pPr marL="285750" indent="-28575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Designed for urban planning, defense, and disaster management.</a:t>
            </a:r>
          </a:p>
          <a:p>
            <a:pPr marL="285750" indent="-28575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Uses optical push-broom imaging technology.</a:t>
            </a:r>
          </a:p>
          <a:p>
            <a:pPr marL="285750" indent="-285750" algn="l">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Interesting fact: AEISS can capture color images sharp enough to identify individual vehicles from orbit.</a:t>
            </a:r>
          </a:p>
          <a:p>
            <a:pPr marL="285750" indent="-285750" algn="l">
              <a:buFont typeface="Wingdings" panose="05000000000000000000" pitchFamily="2" charset="2"/>
              <a:buChar char="q"/>
            </a:pPr>
            <a:endParaRPr lang="en-IN" sz="1700" dirty="0"/>
          </a:p>
        </p:txBody>
      </p:sp>
      <p:sp>
        <p:nvSpPr>
          <p:cNvPr id="4" name="Title 1">
            <a:extLst>
              <a:ext uri="{FF2B5EF4-FFF2-40B4-BE49-F238E27FC236}">
                <a16:creationId xmlns:a16="http://schemas.microsoft.com/office/drawing/2014/main" id="{8ACCB4F0-435A-848E-8483-0C220AA3F007}"/>
              </a:ext>
            </a:extLst>
          </p:cNvPr>
          <p:cNvSpPr>
            <a:spLocks noGrp="1"/>
          </p:cNvSpPr>
          <p:nvPr>
            <p:ph type="ctrTitle"/>
          </p:nvPr>
        </p:nvSpPr>
        <p:spPr>
          <a:xfrm>
            <a:off x="1097283" y="1235572"/>
            <a:ext cx="3239586" cy="819650"/>
          </a:xfrm>
        </p:spPr>
        <p:txBody>
          <a:bodyPr/>
          <a:lstStyle/>
          <a:p>
            <a:r>
              <a:rPr lang="en-US" sz="4200" u="sng" dirty="0">
                <a:latin typeface="Times New Roman" panose="02020603050405020304" pitchFamily="18" charset="0"/>
                <a:cs typeface="Times New Roman" panose="02020603050405020304" pitchFamily="18" charset="0"/>
              </a:rPr>
              <a:t>Key facts</a:t>
            </a:r>
            <a:endParaRPr lang="en-IN" sz="4200" u="sng" dirty="0">
              <a:latin typeface="Times New Roman" panose="02020603050405020304" pitchFamily="18" charset="0"/>
              <a:cs typeface="Times New Roman" panose="02020603050405020304" pitchFamily="18" charset="0"/>
            </a:endParaRPr>
          </a:p>
        </p:txBody>
      </p:sp>
      <p:sp>
        <p:nvSpPr>
          <p:cNvPr id="6" name="Title 27">
            <a:extLst>
              <a:ext uri="{FF2B5EF4-FFF2-40B4-BE49-F238E27FC236}">
                <a16:creationId xmlns:a16="http://schemas.microsoft.com/office/drawing/2014/main" id="{780FF1F9-1247-6501-1C88-FD4276CA54B2}"/>
              </a:ext>
            </a:extLst>
          </p:cNvPr>
          <p:cNvSpPr txBox="1">
            <a:spLocks/>
          </p:cNvSpPr>
          <p:nvPr/>
        </p:nvSpPr>
        <p:spPr>
          <a:xfrm>
            <a:off x="879232" y="17418"/>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kumimoji="0" lang="en-US" sz="2800" b="1" i="0" u="none" strike="noStrike" kern="1200" cap="none" spc="0" normalizeH="0" baseline="0" noProof="0" dirty="0">
                <a:ln>
                  <a:noFill/>
                </a:ln>
                <a:solidFill>
                  <a:srgbClr val="002060"/>
                </a:solidFill>
                <a:effectLst/>
                <a:uLnTx/>
                <a:uFillTx/>
                <a:latin typeface="Calibri" panose="020F0502020204030204"/>
                <a:ea typeface="+mn-ea"/>
                <a:cs typeface="+mn-cs"/>
              </a:rPr>
              <a:t>A</a:t>
            </a:r>
            <a:r>
              <a:rPr lang="pt-BR" sz="2800" b="1" dirty="0"/>
              <a:t>rirang Electro-Optical Imaging Subsystem (AEISS)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04093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35FE4-DFC5-6F73-5CB6-83C0DBF7027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860F6C7-2942-BCF5-D952-7D70E157E2D9}"/>
              </a:ext>
            </a:extLst>
          </p:cNvPr>
          <p:cNvSpPr>
            <a:spLocks noGrp="1"/>
          </p:cNvSpPr>
          <p:nvPr>
            <p:ph type="subTitle" idx="1"/>
          </p:nvPr>
        </p:nvSpPr>
        <p:spPr>
          <a:xfrm>
            <a:off x="339633" y="1436915"/>
            <a:ext cx="10780124" cy="5129348"/>
          </a:xfrm>
        </p:spPr>
        <p:txBody>
          <a:bodyPr/>
          <a:lstStyle/>
          <a:p>
            <a:pPr algn="l"/>
            <a:r>
              <a:rPr lang="en-US" sz="1900" b="1" u="sng" dirty="0">
                <a:latin typeface="Times New Roman" panose="02020603050405020304" pitchFamily="18" charset="0"/>
                <a:cs typeface="Times New Roman" panose="02020603050405020304" pitchFamily="18" charset="0"/>
              </a:rPr>
              <a:t>Features</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High spatial resolution suitable for urban and precision mapping.</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Capable of stereoscopic imaging for 3D terrain model generation.</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Enhanced onboard image calibration and noise reduction technology.</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Radiometric linearity ensures accurate reflectance data for quantitative analysis.</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Used for both civil mapping and defense reconnaissance operations.</a:t>
            </a:r>
          </a:p>
          <a:p>
            <a:pPr algn="l"/>
            <a:br>
              <a:rPr lang="en-US" sz="1900" dirty="0">
                <a:latin typeface="Times New Roman" panose="02020603050405020304" pitchFamily="18" charset="0"/>
                <a:cs typeface="Times New Roman" panose="02020603050405020304" pitchFamily="18" charset="0"/>
              </a:rPr>
            </a:br>
            <a:endParaRPr lang="en-US" sz="1900" dirty="0">
              <a:latin typeface="Times New Roman" panose="02020603050405020304" pitchFamily="18" charset="0"/>
              <a:cs typeface="Times New Roman" panose="02020603050405020304" pitchFamily="18" charset="0"/>
            </a:endParaRPr>
          </a:p>
          <a:p>
            <a:pPr algn="l"/>
            <a:r>
              <a:rPr lang="en-US" sz="1900" b="1" u="sng" dirty="0">
                <a:latin typeface="Times New Roman" panose="02020603050405020304" pitchFamily="18" charset="0"/>
                <a:cs typeface="Times New Roman" panose="02020603050405020304" pitchFamily="18" charset="0"/>
              </a:rPr>
              <a:t>Applications</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Urban Mapping: Infrastructure planning, change detection, city growth analysis.</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Agriculture: Crop health monitoring and yield estimation.</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Forestry: Biomass and canopy structure assessment.</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Disaster Management: Flood, earthquake, and landslide mapping.</a:t>
            </a:r>
          </a:p>
          <a:p>
            <a:pPr marL="285750" indent="-285750" algn="l">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National Security: Border monitoring and reconnaissance imaging.</a:t>
            </a:r>
          </a:p>
          <a:p>
            <a:pPr algn="l"/>
            <a:endParaRPr lang="en-IN" sz="1700" dirty="0"/>
          </a:p>
        </p:txBody>
      </p:sp>
      <p:sp>
        <p:nvSpPr>
          <p:cNvPr id="4" name="Title 27">
            <a:extLst>
              <a:ext uri="{FF2B5EF4-FFF2-40B4-BE49-F238E27FC236}">
                <a16:creationId xmlns:a16="http://schemas.microsoft.com/office/drawing/2014/main" id="{909B33FD-61D6-24F3-6170-5B4CCB0C9196}"/>
              </a:ext>
            </a:extLst>
          </p:cNvPr>
          <p:cNvSpPr txBox="1">
            <a:spLocks/>
          </p:cNvSpPr>
          <p:nvPr/>
        </p:nvSpPr>
        <p:spPr>
          <a:xfrm>
            <a:off x="879232" y="17418"/>
            <a:ext cx="10433535" cy="715108"/>
          </a:xfrm>
          <a:prstGeom prst="rect">
            <a:avLst/>
          </a:prstGeom>
          <a:noFill/>
          <a:ln>
            <a:noFill/>
          </a:ln>
        </p:spPr>
        <p:txBody>
          <a:bodyPr vert="horz" wrap="square" lIns="91440" tIns="45720" rIns="91440" bIns="45720" anchor="b" anchorCtr="1" compatLnSpc="1">
            <a:noAutofit/>
          </a:bodyPr>
          <a:lstStyle>
            <a:lvl1pPr marL="0" marR="0" lvl="0" indent="0" algn="ctr" defTabSz="914400" rtl="0" eaLnBrk="1" fontAlgn="auto" latinLnBrk="0" hangingPunct="1">
              <a:lnSpc>
                <a:spcPct val="100000"/>
              </a:lnSpc>
              <a:spcBef>
                <a:spcPts val="0"/>
              </a:spcBef>
              <a:spcAft>
                <a:spcPts val="0"/>
              </a:spcAft>
              <a:buNone/>
              <a:tabLst/>
              <a:defRPr lang="en-US" sz="6000" b="0" i="0" u="none" strike="noStrike" kern="1200" cap="none" spc="0" baseline="0">
                <a:solidFill>
                  <a:srgbClr val="000000"/>
                </a:solidFill>
                <a:uFillTx/>
                <a:latin typeface="Arial" pitchFamily="34"/>
                <a:ea typeface="+mj-ea"/>
                <a:cs typeface="Arial" pitchFamily="34"/>
              </a:defRPr>
            </a:lvl1pPr>
          </a:lstStyle>
          <a:p>
            <a:pPr lvl="0" algn="l">
              <a:defRPr/>
            </a:pPr>
            <a:r>
              <a:rPr kumimoji="0" lang="en-US" sz="2800" b="1" i="0" u="none" strike="noStrike" kern="1200" cap="none" spc="0" normalizeH="0" baseline="0" noProof="0" dirty="0">
                <a:ln>
                  <a:noFill/>
                </a:ln>
                <a:solidFill>
                  <a:srgbClr val="002060"/>
                </a:solidFill>
                <a:effectLst/>
                <a:uLnTx/>
                <a:uFillTx/>
                <a:latin typeface="Calibri" panose="020F0502020204030204"/>
                <a:ea typeface="+mn-ea"/>
                <a:cs typeface="+mn-cs"/>
              </a:rPr>
              <a:t>A</a:t>
            </a:r>
            <a:r>
              <a:rPr lang="pt-BR" sz="2800" b="1" dirty="0"/>
              <a:t>rirang Electro-Optical Imaging Subsystem (AEISS)</a:t>
            </a:r>
            <a:endParaRPr kumimoji="0" lang="en-IN" sz="27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63132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DD506-A325-6D1E-C15F-650C29A585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CEDBA5-0072-7B52-8B99-30DDD5C8865E}"/>
              </a:ext>
            </a:extLst>
          </p:cNvPr>
          <p:cNvSpPr txBox="1"/>
          <p:nvPr/>
        </p:nvSpPr>
        <p:spPr>
          <a:xfrm>
            <a:off x="615314" y="173950"/>
            <a:ext cx="2740914" cy="369332"/>
          </a:xfrm>
          <a:prstGeom prst="rect">
            <a:avLst/>
          </a:prstGeom>
          <a:noFill/>
        </p:spPr>
        <p:txBody>
          <a:bodyPr wrap="square">
            <a:spAutoFit/>
          </a:bodyPr>
          <a:lstStyle/>
          <a:p>
            <a:r>
              <a:rPr lang="en-GB" b="1" dirty="0" err="1">
                <a:latin typeface="Times New Roman" panose="02020603050405020304" pitchFamily="18" charset="0"/>
                <a:cs typeface="Times New Roman" panose="02020603050405020304" pitchFamily="18" charset="0"/>
              </a:rPr>
              <a:t>PlanetScope</a:t>
            </a:r>
            <a:r>
              <a:rPr lang="en-GB" b="1" dirty="0">
                <a:latin typeface="Times New Roman" panose="02020603050405020304" pitchFamily="18" charset="0"/>
                <a:cs typeface="Times New Roman" panose="02020603050405020304" pitchFamily="18" charset="0"/>
              </a:rPr>
              <a:t> camera</a:t>
            </a:r>
          </a:p>
        </p:txBody>
      </p:sp>
      <p:graphicFrame>
        <p:nvGraphicFramePr>
          <p:cNvPr id="7" name="Table 6">
            <a:extLst>
              <a:ext uri="{FF2B5EF4-FFF2-40B4-BE49-F238E27FC236}">
                <a16:creationId xmlns:a16="http://schemas.microsoft.com/office/drawing/2014/main" id="{3D762584-A742-62BC-8567-E71FD8764F76}"/>
              </a:ext>
            </a:extLst>
          </p:cNvPr>
          <p:cNvGraphicFramePr>
            <a:graphicFrameLocks noGrp="1"/>
          </p:cNvGraphicFramePr>
          <p:nvPr/>
        </p:nvGraphicFramePr>
        <p:xfrm>
          <a:off x="688465" y="697910"/>
          <a:ext cx="10961373" cy="2407099"/>
        </p:xfrm>
        <a:graphic>
          <a:graphicData uri="http://schemas.openxmlformats.org/drawingml/2006/table">
            <a:tbl>
              <a:tblPr firstRow="1" bandRow="1">
                <a:tableStyleId>{5C22544A-7EE6-4342-B048-85BDC9FD1C3A}</a:tableStyleId>
              </a:tblPr>
              <a:tblGrid>
                <a:gridCol w="1915112">
                  <a:extLst>
                    <a:ext uri="{9D8B030D-6E8A-4147-A177-3AD203B41FA5}">
                      <a16:colId xmlns:a16="http://schemas.microsoft.com/office/drawing/2014/main" val="3954906567"/>
                    </a:ext>
                  </a:extLst>
                </a:gridCol>
                <a:gridCol w="1992102">
                  <a:extLst>
                    <a:ext uri="{9D8B030D-6E8A-4147-A177-3AD203B41FA5}">
                      <a16:colId xmlns:a16="http://schemas.microsoft.com/office/drawing/2014/main" val="1248303511"/>
                    </a:ext>
                  </a:extLst>
                </a:gridCol>
                <a:gridCol w="1068229">
                  <a:extLst>
                    <a:ext uri="{9D8B030D-6E8A-4147-A177-3AD203B41FA5}">
                      <a16:colId xmlns:a16="http://schemas.microsoft.com/office/drawing/2014/main" val="892788067"/>
                    </a:ext>
                  </a:extLst>
                </a:gridCol>
                <a:gridCol w="1000863">
                  <a:extLst>
                    <a:ext uri="{9D8B030D-6E8A-4147-A177-3AD203B41FA5}">
                      <a16:colId xmlns:a16="http://schemas.microsoft.com/office/drawing/2014/main" val="1938854511"/>
                    </a:ext>
                  </a:extLst>
                </a:gridCol>
                <a:gridCol w="981616">
                  <a:extLst>
                    <a:ext uri="{9D8B030D-6E8A-4147-A177-3AD203B41FA5}">
                      <a16:colId xmlns:a16="http://schemas.microsoft.com/office/drawing/2014/main" val="3189432525"/>
                    </a:ext>
                  </a:extLst>
                </a:gridCol>
                <a:gridCol w="1020110">
                  <a:extLst>
                    <a:ext uri="{9D8B030D-6E8A-4147-A177-3AD203B41FA5}">
                      <a16:colId xmlns:a16="http://schemas.microsoft.com/office/drawing/2014/main" val="2434127255"/>
                    </a:ext>
                  </a:extLst>
                </a:gridCol>
                <a:gridCol w="1279950">
                  <a:extLst>
                    <a:ext uri="{9D8B030D-6E8A-4147-A177-3AD203B41FA5}">
                      <a16:colId xmlns:a16="http://schemas.microsoft.com/office/drawing/2014/main" val="280925765"/>
                    </a:ext>
                  </a:extLst>
                </a:gridCol>
                <a:gridCol w="1703391">
                  <a:extLst>
                    <a:ext uri="{9D8B030D-6E8A-4147-A177-3AD203B41FA5}">
                      <a16:colId xmlns:a16="http://schemas.microsoft.com/office/drawing/2014/main" val="2862320926"/>
                    </a:ext>
                  </a:extLst>
                </a:gridCol>
              </a:tblGrid>
              <a:tr h="443289">
                <a:tc rowSpan="2">
                  <a:txBody>
                    <a:bodyPr/>
                    <a:lstStyle/>
                    <a:p>
                      <a:pPr algn="ctr"/>
                      <a:r>
                        <a:rPr lang="en-GB" sz="1400" dirty="0">
                          <a:latin typeface="Times New Roman" panose="02020603050405020304" pitchFamily="18" charset="0"/>
                          <a:cs typeface="Times New Roman" panose="02020603050405020304" pitchFamily="18" charset="0"/>
                        </a:rPr>
                        <a:t>Sensor Name</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Vehicle</a:t>
                      </a:r>
                      <a:endParaRPr lang="en-IN" sz="1400" dirty="0">
                        <a:latin typeface="Times New Roman" panose="02020603050405020304" pitchFamily="18" charset="0"/>
                        <a:cs typeface="Times New Roman" panose="02020603050405020304" pitchFamily="18" charset="0"/>
                      </a:endParaRPr>
                    </a:p>
                  </a:txBody>
                  <a:tcPr anchor="ctr"/>
                </a:tc>
                <a:tc gridSpan="4">
                  <a:txBody>
                    <a:bodyPr/>
                    <a:lstStyle/>
                    <a:p>
                      <a:pPr algn="ctr"/>
                      <a:r>
                        <a:rPr lang="en-GB" sz="1400" dirty="0">
                          <a:latin typeface="Times New Roman" panose="02020603050405020304" pitchFamily="18" charset="0"/>
                          <a:cs typeface="Times New Roman" panose="02020603050405020304" pitchFamily="18" charset="0"/>
                        </a:rPr>
                        <a:t>Resolution</a:t>
                      </a:r>
                      <a:endParaRPr lang="en-IN" sz="1400" dirty="0">
                        <a:latin typeface="Times New Roman" panose="02020603050405020304" pitchFamily="18" charset="0"/>
                        <a:cs typeface="Times New Roman" panose="02020603050405020304" pitchFamily="18" charset="0"/>
                      </a:endParaRPr>
                    </a:p>
                  </a:txBody>
                  <a:tcPr anchor="ctr"/>
                </a:tc>
                <a:tc hMerge="1">
                  <a:txBody>
                    <a:bodyPr/>
                    <a:lstStyle/>
                    <a:p>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rowSpan="2">
                  <a:txBody>
                    <a:bodyPr/>
                    <a:lstStyle/>
                    <a:p>
                      <a:pPr algn="ctr"/>
                      <a:r>
                        <a:rPr lang="en-GB" sz="1400" dirty="0">
                          <a:latin typeface="Times New Roman" panose="02020603050405020304" pitchFamily="18" charset="0"/>
                          <a:cs typeface="Times New Roman" panose="02020603050405020304" pitchFamily="18" charset="0"/>
                        </a:rPr>
                        <a:t>Wavelength (µm)</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Swath width (km)</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3547769"/>
                  </a:ext>
                </a:extLst>
              </a:tr>
              <a:tr h="345805">
                <a:tc vMerge="1">
                  <a:txBody>
                    <a:bodyPr/>
                    <a:lstStyle/>
                    <a:p>
                      <a:endParaRPr lang="en-IN"/>
                    </a:p>
                  </a:txBody>
                  <a:tcPr/>
                </a:tc>
                <a:tc vMerge="1">
                  <a:txBody>
                    <a:bodyPr/>
                    <a:lstStyle/>
                    <a:p>
                      <a:endParaRPr lang="en-IN"/>
                    </a:p>
                  </a:txBody>
                  <a:tcPr/>
                </a:tc>
                <a:tc>
                  <a:txBody>
                    <a:bodyPr/>
                    <a:lstStyle/>
                    <a:p>
                      <a:pPr algn="ctr"/>
                      <a:r>
                        <a:rPr lang="en-GB" sz="1200" dirty="0">
                          <a:latin typeface="Times New Roman" panose="02020603050405020304" pitchFamily="18" charset="0"/>
                          <a:cs typeface="Times New Roman" panose="02020603050405020304" pitchFamily="18" charset="0"/>
                        </a:rPr>
                        <a:t>Spatial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Spectral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Temporal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Radiometric</a:t>
                      </a:r>
                      <a:endParaRPr lang="en-IN" sz="1200" dirty="0">
                        <a:latin typeface="Times New Roman" panose="02020603050405020304" pitchFamily="18" charset="0"/>
                        <a:cs typeface="Times New Roman" panose="02020603050405020304" pitchFamily="18" charset="0"/>
                      </a:endParaRPr>
                    </a:p>
                  </a:txBody>
                  <a:tcPr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58789725"/>
                  </a:ext>
                </a:extLst>
              </a:tr>
              <a:tr h="539335">
                <a:tc rowSpan="3">
                  <a:txBody>
                    <a:bodyPr/>
                    <a:lstStyle/>
                    <a:p>
                      <a:pPr algn="ctr"/>
                      <a:r>
                        <a:rPr lang="en-IN" sz="1400" b="1" dirty="0" err="1">
                          <a:latin typeface="Times New Roman" panose="02020603050405020304" pitchFamily="18" charset="0"/>
                          <a:cs typeface="Times New Roman" panose="02020603050405020304" pitchFamily="18" charset="0"/>
                        </a:rPr>
                        <a:t>PlanetScope</a:t>
                      </a:r>
                      <a:r>
                        <a:rPr lang="en-IN" sz="1400" b="1" dirty="0">
                          <a:latin typeface="Times New Roman" panose="02020603050405020304" pitchFamily="18" charset="0"/>
                          <a:cs typeface="Times New Roman" panose="02020603050405020304" pitchFamily="18" charset="0"/>
                        </a:rPr>
                        <a:t> Camera</a:t>
                      </a:r>
                    </a:p>
                    <a:p>
                      <a:pPr algn="ctr"/>
                      <a:r>
                        <a:rPr lang="en-IN" sz="1400" b="0" dirty="0">
                          <a:latin typeface="Times New Roman" panose="02020603050405020304" pitchFamily="18" charset="0"/>
                          <a:cs typeface="Times New Roman" panose="02020603050405020304" pitchFamily="18" charset="0"/>
                        </a:rPr>
                        <a:t>(USA)</a:t>
                      </a:r>
                    </a:p>
                  </a:txBody>
                  <a:tcPr anchor="ctr"/>
                </a:tc>
                <a:tc>
                  <a:txBody>
                    <a:bodyPr/>
                    <a:lstStyle/>
                    <a:p>
                      <a:r>
                        <a:rPr lang="en-GB" sz="1400" dirty="0">
                          <a:latin typeface="Times New Roman" panose="02020603050405020304" pitchFamily="18" charset="0"/>
                          <a:cs typeface="Times New Roman" panose="02020603050405020304" pitchFamily="18" charset="0"/>
                        </a:rPr>
                        <a:t>PS2 (DOVE-C)</a:t>
                      </a:r>
                    </a:p>
                    <a:p>
                      <a:r>
                        <a:rPr lang="en-GB" sz="1400" dirty="0">
                          <a:latin typeface="Times New Roman" panose="02020603050405020304" pitchFamily="18" charset="0"/>
                          <a:cs typeface="Times New Roman" panose="02020603050405020304" pitchFamily="18" charset="0"/>
                        </a:rPr>
                        <a:t>(2014-2022)</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3.0-4.1 m</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4 Bands</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1 Day</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12 Bits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0.455-0.860</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25-32</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42782451"/>
                  </a:ext>
                </a:extLst>
              </a:tr>
              <a:tr h="539335">
                <a:tc vMerge="1">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latin typeface="Times New Roman" panose="02020603050405020304" pitchFamily="18" charset="0"/>
                          <a:cs typeface="Times New Roman" panose="02020603050405020304" pitchFamily="18" charset="0"/>
                        </a:rPr>
                        <a:t>PS2.SD (DOVE-R)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(2019-2022)</a:t>
                      </a: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tc>
                <a:tc vMerge="1">
                  <a:txBody>
                    <a:bodyPr/>
                    <a:lstStyle/>
                    <a:p>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0.464-0.888</a:t>
                      </a: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73178283"/>
                  </a:ext>
                </a:extLst>
              </a:tr>
              <a:tr h="539335">
                <a:tc vMerge="1">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latin typeface="Times New Roman" panose="02020603050405020304" pitchFamily="18" charset="0"/>
                          <a:cs typeface="Times New Roman" panose="02020603050405020304" pitchFamily="18" charset="0"/>
                        </a:rPr>
                        <a:t>PSB.SD (</a:t>
                      </a:r>
                      <a:r>
                        <a:rPr lang="en-GB" sz="1400" dirty="0" err="1">
                          <a:latin typeface="Times New Roman" panose="02020603050405020304" pitchFamily="18" charset="0"/>
                          <a:cs typeface="Times New Roman" panose="02020603050405020304" pitchFamily="18" charset="0"/>
                        </a:rPr>
                        <a:t>SuperDOVE</a:t>
                      </a:r>
                      <a:r>
                        <a:rPr lang="en-GB"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(2020-Present)</a:t>
                      </a:r>
                    </a:p>
                  </a:txBody>
                  <a:tcPr anchor="ctr"/>
                </a:tc>
                <a:tc>
                  <a:txBody>
                    <a:bodyPr/>
                    <a:lstStyle/>
                    <a:p>
                      <a:pPr algn="ctr"/>
                      <a:r>
                        <a:rPr lang="en-GB" sz="1400" dirty="0">
                          <a:latin typeface="Times New Roman" panose="02020603050405020304" pitchFamily="18" charset="0"/>
                          <a:cs typeface="Times New Roman" panose="02020603050405020304" pitchFamily="18" charset="0"/>
                        </a:rPr>
                        <a:t>3.7-4.2 m</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latin typeface="Times New Roman" panose="02020603050405020304" pitchFamily="18" charset="0"/>
                          <a:cs typeface="Times New Roman" panose="02020603050405020304" pitchFamily="18" charset="0"/>
                        </a:rPr>
                        <a:t>8 Bands</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0.431-0.885</a:t>
                      </a: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7956067"/>
                  </a:ext>
                </a:extLst>
              </a:tr>
            </a:tbl>
          </a:graphicData>
        </a:graphic>
      </p:graphicFrame>
      <p:graphicFrame>
        <p:nvGraphicFramePr>
          <p:cNvPr id="2" name="Table 1">
            <a:extLst>
              <a:ext uri="{FF2B5EF4-FFF2-40B4-BE49-F238E27FC236}">
                <a16:creationId xmlns:a16="http://schemas.microsoft.com/office/drawing/2014/main" id="{4E446C0E-AC51-7861-4B77-1684F3B1C031}"/>
              </a:ext>
            </a:extLst>
          </p:cNvPr>
          <p:cNvGraphicFramePr>
            <a:graphicFrameLocks noGrp="1"/>
          </p:cNvGraphicFramePr>
          <p:nvPr/>
        </p:nvGraphicFramePr>
        <p:xfrm>
          <a:off x="688466" y="3931920"/>
          <a:ext cx="10961371" cy="2649812"/>
        </p:xfrm>
        <a:graphic>
          <a:graphicData uri="http://schemas.openxmlformats.org/drawingml/2006/table">
            <a:tbl>
              <a:tblPr firstRow="1" bandRow="1">
                <a:tableStyleId>{5C22544A-7EE6-4342-B048-85BDC9FD1C3A}</a:tableStyleId>
              </a:tblPr>
              <a:tblGrid>
                <a:gridCol w="1620589">
                  <a:extLst>
                    <a:ext uri="{9D8B030D-6E8A-4147-A177-3AD203B41FA5}">
                      <a16:colId xmlns:a16="http://schemas.microsoft.com/office/drawing/2014/main" val="3954906567"/>
                    </a:ext>
                  </a:extLst>
                </a:gridCol>
                <a:gridCol w="1685738">
                  <a:extLst>
                    <a:ext uri="{9D8B030D-6E8A-4147-A177-3AD203B41FA5}">
                      <a16:colId xmlns:a16="http://schemas.microsoft.com/office/drawing/2014/main" val="1248303511"/>
                    </a:ext>
                  </a:extLst>
                </a:gridCol>
                <a:gridCol w="1370781">
                  <a:extLst>
                    <a:ext uri="{9D8B030D-6E8A-4147-A177-3AD203B41FA5}">
                      <a16:colId xmlns:a16="http://schemas.microsoft.com/office/drawing/2014/main" val="873345505"/>
                    </a:ext>
                  </a:extLst>
                </a:gridCol>
                <a:gridCol w="991239">
                  <a:extLst>
                    <a:ext uri="{9D8B030D-6E8A-4147-A177-3AD203B41FA5}">
                      <a16:colId xmlns:a16="http://schemas.microsoft.com/office/drawing/2014/main" val="892788067"/>
                    </a:ext>
                  </a:extLst>
                </a:gridCol>
                <a:gridCol w="904626">
                  <a:extLst>
                    <a:ext uri="{9D8B030D-6E8A-4147-A177-3AD203B41FA5}">
                      <a16:colId xmlns:a16="http://schemas.microsoft.com/office/drawing/2014/main" val="1938854511"/>
                    </a:ext>
                  </a:extLst>
                </a:gridCol>
                <a:gridCol w="943121">
                  <a:extLst>
                    <a:ext uri="{9D8B030D-6E8A-4147-A177-3AD203B41FA5}">
                      <a16:colId xmlns:a16="http://schemas.microsoft.com/office/drawing/2014/main" val="3189432525"/>
                    </a:ext>
                  </a:extLst>
                </a:gridCol>
                <a:gridCol w="1029734">
                  <a:extLst>
                    <a:ext uri="{9D8B030D-6E8A-4147-A177-3AD203B41FA5}">
                      <a16:colId xmlns:a16="http://schemas.microsoft.com/office/drawing/2014/main" val="2434127255"/>
                    </a:ext>
                  </a:extLst>
                </a:gridCol>
                <a:gridCol w="974115">
                  <a:extLst>
                    <a:ext uri="{9D8B030D-6E8A-4147-A177-3AD203B41FA5}">
                      <a16:colId xmlns:a16="http://schemas.microsoft.com/office/drawing/2014/main" val="280925765"/>
                    </a:ext>
                  </a:extLst>
                </a:gridCol>
                <a:gridCol w="1441428">
                  <a:extLst>
                    <a:ext uri="{9D8B030D-6E8A-4147-A177-3AD203B41FA5}">
                      <a16:colId xmlns:a16="http://schemas.microsoft.com/office/drawing/2014/main" val="2862320926"/>
                    </a:ext>
                  </a:extLst>
                </a:gridCol>
              </a:tblGrid>
              <a:tr h="477882">
                <a:tc rowSpan="2">
                  <a:txBody>
                    <a:bodyPr/>
                    <a:lstStyle/>
                    <a:p>
                      <a:pPr algn="ctr"/>
                      <a:r>
                        <a:rPr lang="en-GB" sz="1400" dirty="0">
                          <a:latin typeface="Times New Roman" panose="02020603050405020304" pitchFamily="18" charset="0"/>
                          <a:cs typeface="Times New Roman" panose="02020603050405020304" pitchFamily="18" charset="0"/>
                        </a:rPr>
                        <a:t>Sensor Name</a:t>
                      </a:r>
                      <a:endParaRPr lang="en-IN" sz="1400" dirty="0">
                        <a:latin typeface="Times New Roman" panose="02020603050405020304" pitchFamily="18" charset="0"/>
                        <a:cs typeface="Times New Roman" panose="02020603050405020304" pitchFamily="18" charset="0"/>
                      </a:endParaRPr>
                    </a:p>
                  </a:txBody>
                  <a:tcPr anchor="ctr"/>
                </a:tc>
                <a:tc rowSpan="2" gridSpan="2">
                  <a:txBody>
                    <a:bodyPr/>
                    <a:lstStyle/>
                    <a:p>
                      <a:pPr algn="ctr"/>
                      <a:r>
                        <a:rPr lang="en-GB" sz="1400" dirty="0">
                          <a:latin typeface="Times New Roman" panose="02020603050405020304" pitchFamily="18" charset="0"/>
                          <a:cs typeface="Times New Roman" panose="02020603050405020304" pitchFamily="18" charset="0"/>
                        </a:rPr>
                        <a:t>Vehicle</a:t>
                      </a:r>
                      <a:endParaRPr lang="en-IN" sz="1400" dirty="0">
                        <a:latin typeface="Times New Roman" panose="02020603050405020304" pitchFamily="18" charset="0"/>
                        <a:cs typeface="Times New Roman" panose="02020603050405020304" pitchFamily="18" charset="0"/>
                      </a:endParaRPr>
                    </a:p>
                  </a:txBody>
                  <a:tcPr anchor="ctr"/>
                </a:tc>
                <a:tc rowSpan="2"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gridSpan="4">
                  <a:txBody>
                    <a:bodyPr/>
                    <a:lstStyle/>
                    <a:p>
                      <a:pPr algn="ctr"/>
                      <a:r>
                        <a:rPr lang="en-GB" sz="1400" dirty="0">
                          <a:latin typeface="Times New Roman" panose="02020603050405020304" pitchFamily="18" charset="0"/>
                          <a:cs typeface="Times New Roman" panose="02020603050405020304" pitchFamily="18" charset="0"/>
                        </a:rPr>
                        <a:t>Resolution</a:t>
                      </a:r>
                      <a:endParaRPr lang="en-IN" sz="1400" dirty="0">
                        <a:latin typeface="Times New Roman" panose="02020603050405020304" pitchFamily="18" charset="0"/>
                        <a:cs typeface="Times New Roman" panose="02020603050405020304" pitchFamily="18" charset="0"/>
                      </a:endParaRPr>
                    </a:p>
                  </a:txBody>
                  <a:tcPr anchor="ctr"/>
                </a:tc>
                <a:tc hMerge="1">
                  <a:txBody>
                    <a:bodyPr/>
                    <a:lstStyle/>
                    <a:p>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rowSpan="2">
                  <a:txBody>
                    <a:bodyPr/>
                    <a:lstStyle/>
                    <a:p>
                      <a:pPr algn="ctr"/>
                      <a:r>
                        <a:rPr lang="en-GB" sz="1400" dirty="0">
                          <a:latin typeface="Times New Roman" panose="02020603050405020304" pitchFamily="18" charset="0"/>
                          <a:cs typeface="Times New Roman" panose="02020603050405020304" pitchFamily="18" charset="0"/>
                        </a:rPr>
                        <a:t>Wavelength (µm)</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Swath width (km)</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3547769"/>
                  </a:ext>
                </a:extLst>
              </a:tr>
              <a:tr h="252756">
                <a:tc vMerge="1">
                  <a:txBody>
                    <a:bodyPr/>
                    <a:lstStyle/>
                    <a:p>
                      <a:endParaRPr lang="en-IN"/>
                    </a:p>
                  </a:txBody>
                  <a:tcPr/>
                </a:tc>
                <a:tc gridSpan="2" vMerge="1">
                  <a:txBody>
                    <a:bodyPr/>
                    <a:lstStyle/>
                    <a:p>
                      <a:endParaRPr lang="en-IN"/>
                    </a:p>
                  </a:txBody>
                  <a:tcPr/>
                </a:tc>
                <a:tc hMerge="1" vMerge="1">
                  <a:txBody>
                    <a:bodyPr/>
                    <a:lstStyle/>
                    <a:p>
                      <a:endParaRPr lang="en-IN"/>
                    </a:p>
                  </a:txBody>
                  <a:tcPr/>
                </a:tc>
                <a:tc>
                  <a:txBody>
                    <a:bodyPr/>
                    <a:lstStyle/>
                    <a:p>
                      <a:pPr algn="ctr"/>
                      <a:r>
                        <a:rPr lang="en-GB" sz="1200" dirty="0">
                          <a:latin typeface="Times New Roman" panose="02020603050405020304" pitchFamily="18" charset="0"/>
                          <a:cs typeface="Times New Roman" panose="02020603050405020304" pitchFamily="18" charset="0"/>
                        </a:rPr>
                        <a:t>Spatial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Spectral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Temporal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Radiometric</a:t>
                      </a:r>
                      <a:endParaRPr lang="en-IN" sz="1200" dirty="0">
                        <a:latin typeface="Times New Roman" panose="02020603050405020304" pitchFamily="18" charset="0"/>
                        <a:cs typeface="Times New Roman" panose="02020603050405020304" pitchFamily="18" charset="0"/>
                      </a:endParaRPr>
                    </a:p>
                  </a:txBody>
                  <a:tcPr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58789725"/>
                  </a:ext>
                </a:extLst>
              </a:tr>
              <a:tr h="658093">
                <a:tc rowSpan="3">
                  <a:txBody>
                    <a:bodyPr/>
                    <a:lstStyle/>
                    <a:p>
                      <a:pPr algn="ctr"/>
                      <a:r>
                        <a:rPr lang="en-IN" sz="1400" b="1" dirty="0" err="1">
                          <a:latin typeface="Times New Roman" panose="02020603050405020304" pitchFamily="18" charset="0"/>
                          <a:cs typeface="Times New Roman" panose="02020603050405020304" pitchFamily="18" charset="0"/>
                        </a:rPr>
                        <a:t>SkySat</a:t>
                      </a:r>
                      <a:r>
                        <a:rPr lang="en-IN" sz="1400" b="1" dirty="0">
                          <a:latin typeface="Times New Roman" panose="02020603050405020304" pitchFamily="18" charset="0"/>
                          <a:cs typeface="Times New Roman" panose="02020603050405020304" pitchFamily="18" charset="0"/>
                        </a:rPr>
                        <a:t> Camera</a:t>
                      </a:r>
                    </a:p>
                    <a:p>
                      <a:pPr algn="ctr"/>
                      <a:r>
                        <a:rPr lang="en-IN" sz="1400" b="0" dirty="0">
                          <a:latin typeface="Times New Roman" panose="02020603050405020304" pitchFamily="18" charset="0"/>
                          <a:cs typeface="Times New Roman" panose="02020603050405020304" pitchFamily="18" charset="0"/>
                        </a:rPr>
                        <a:t>(USA)</a:t>
                      </a:r>
                    </a:p>
                  </a:txBody>
                  <a:tcPr anchor="ctr"/>
                </a:tc>
                <a:tc rowSpan="3">
                  <a:txBody>
                    <a:bodyPr/>
                    <a:lstStyle/>
                    <a:p>
                      <a:pPr algn="ctr">
                        <a:lnSpc>
                          <a:spcPct val="100000"/>
                        </a:lnSpc>
                      </a:pPr>
                      <a:r>
                        <a:rPr lang="en-GB" sz="1400" b="1" dirty="0" err="1">
                          <a:latin typeface="Times New Roman" panose="02020603050405020304" pitchFamily="18" charset="0"/>
                          <a:cs typeface="Times New Roman" panose="02020603050405020304" pitchFamily="18" charset="0"/>
                        </a:rPr>
                        <a:t>SkySat</a:t>
                      </a:r>
                      <a:r>
                        <a:rPr lang="en-GB" sz="1400" b="1" dirty="0">
                          <a:latin typeface="Times New Roman" panose="02020603050405020304" pitchFamily="18" charset="0"/>
                          <a:cs typeface="Times New Roman" panose="02020603050405020304" pitchFamily="18" charset="0"/>
                        </a:rPr>
                        <a:t> </a:t>
                      </a:r>
                      <a:r>
                        <a:rPr lang="en-GB" sz="1400" b="1" dirty="0" err="1">
                          <a:latin typeface="Times New Roman" panose="02020603050405020304" pitchFamily="18" charset="0"/>
                          <a:cs typeface="Times New Roman" panose="02020603050405020304" pitchFamily="18" charset="0"/>
                        </a:rPr>
                        <a:t>Contellation</a:t>
                      </a:r>
                      <a:endParaRPr lang="en-GB" sz="1400" b="1" dirty="0">
                        <a:latin typeface="Times New Roman" panose="02020603050405020304" pitchFamily="18" charset="0"/>
                        <a:cs typeface="Times New Roman" panose="02020603050405020304" pitchFamily="18" charset="0"/>
                      </a:endParaRPr>
                    </a:p>
                    <a:p>
                      <a:pPr algn="ctr">
                        <a:lnSpc>
                          <a:spcPct val="100000"/>
                        </a:lnSpc>
                      </a:pPr>
                      <a:endParaRPr lang="en-GB" sz="1400" b="1" dirty="0">
                        <a:latin typeface="Times New Roman" panose="02020603050405020304" pitchFamily="18" charset="0"/>
                        <a:cs typeface="Times New Roman" panose="02020603050405020304" pitchFamily="18" charset="0"/>
                      </a:endParaRPr>
                    </a:p>
                    <a:p>
                      <a:pPr algn="ctr">
                        <a:lnSpc>
                          <a:spcPct val="100000"/>
                        </a:lnSpc>
                      </a:pPr>
                      <a:r>
                        <a:rPr lang="en-GB" sz="1400" dirty="0">
                          <a:latin typeface="Times New Roman" panose="02020603050405020304" pitchFamily="18" charset="0"/>
                          <a:cs typeface="Times New Roman" panose="02020603050405020304" pitchFamily="18" charset="0"/>
                        </a:rPr>
                        <a:t>(2013-Present)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latin typeface="Times New Roman" panose="02020603050405020304" pitchFamily="18" charset="0"/>
                          <a:cs typeface="Times New Roman" panose="02020603050405020304" pitchFamily="18" charset="0"/>
                        </a:rPr>
                        <a:t>(21 Satellites)</a:t>
                      </a:r>
                    </a:p>
                    <a:p>
                      <a:pPr algn="ctr">
                        <a:lnSpc>
                          <a:spcPct val="100000"/>
                        </a:lnSpc>
                      </a:pPr>
                      <a:r>
                        <a:rPr lang="en-GB" sz="1400" dirty="0">
                          <a:latin typeface="Times New Roman" panose="02020603050405020304" pitchFamily="18" charset="0"/>
                          <a:cs typeface="Times New Roman" panose="02020603050405020304" pitchFamily="18" charset="0"/>
                        </a:rPr>
                        <a:t>No. of Sensors: 03</a:t>
                      </a:r>
                    </a:p>
                  </a:txBody>
                  <a:tcPr anchor="ctr"/>
                </a:tc>
                <a:tc>
                  <a:txBody>
                    <a:bodyPr/>
                    <a:lstStyle/>
                    <a:p>
                      <a:pPr algn="ctr">
                        <a:lnSpc>
                          <a:spcPct val="150000"/>
                        </a:lnSpc>
                      </a:pPr>
                      <a:r>
                        <a:rPr lang="en-GB" sz="1400" dirty="0" err="1">
                          <a:latin typeface="Times New Roman" panose="02020603050405020304" pitchFamily="18" charset="0"/>
                          <a:cs typeface="Times New Roman" panose="02020603050405020304" pitchFamily="18" charset="0"/>
                        </a:rPr>
                        <a:t>SkySat</a:t>
                      </a:r>
                      <a:r>
                        <a:rPr lang="en-GB" sz="1400" dirty="0">
                          <a:latin typeface="Times New Roman" panose="02020603050405020304" pitchFamily="18" charset="0"/>
                          <a:cs typeface="Times New Roman" panose="02020603050405020304" pitchFamily="18" charset="0"/>
                        </a:rPr>
                        <a:t> 1-2</a:t>
                      </a:r>
                    </a:p>
                  </a:txBody>
                  <a:tcPr anchor="ctr"/>
                </a:tc>
                <a:tc>
                  <a:txBody>
                    <a:bodyPr/>
                    <a:lstStyle/>
                    <a:p>
                      <a:pPr algn="ctr"/>
                      <a:r>
                        <a:rPr lang="en-GB" sz="1200" dirty="0">
                          <a:latin typeface="Times New Roman" panose="02020603050405020304" pitchFamily="18" charset="0"/>
                          <a:cs typeface="Times New Roman" panose="02020603050405020304" pitchFamily="18" charset="0"/>
                        </a:rPr>
                        <a:t>Pan; 0.86m</a:t>
                      </a:r>
                    </a:p>
                    <a:p>
                      <a:pPr algn="ctr"/>
                      <a:r>
                        <a:rPr lang="en-GB" sz="1200" dirty="0">
                          <a:latin typeface="Times New Roman" panose="02020603050405020304" pitchFamily="18" charset="0"/>
                          <a:cs typeface="Times New Roman" panose="02020603050405020304" pitchFamily="18" charset="0"/>
                        </a:rPr>
                        <a:t>MS; 1m</a:t>
                      </a: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5 Bands</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4-5 Days</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16 Bits</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0.45-0.9</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8</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42782451"/>
                  </a:ext>
                </a:extLst>
              </a:tr>
              <a:tr h="645392">
                <a:tc vMerge="1">
                  <a:txBody>
                    <a:bodyPr/>
                    <a:lstStyle/>
                    <a:p>
                      <a:endParaRPr lang="en-IN"/>
                    </a:p>
                  </a:txBody>
                  <a:tcPr/>
                </a:tc>
                <a:tc vMerge="1">
                  <a:txBody>
                    <a:bodyPr/>
                    <a:lstStyle/>
                    <a:p>
                      <a:endParaRPr lang="en-IN"/>
                    </a:p>
                  </a:txBody>
                  <a:tcPr/>
                </a:tc>
                <a:tc>
                  <a:txBody>
                    <a:bodyPr/>
                    <a:lstStyle/>
                    <a:p>
                      <a:pPr algn="ctr">
                        <a:lnSpc>
                          <a:spcPct val="150000"/>
                        </a:lnSpc>
                      </a:pPr>
                      <a:r>
                        <a:rPr lang="en-GB" sz="1400" dirty="0" err="1">
                          <a:latin typeface="Times New Roman" panose="02020603050405020304" pitchFamily="18" charset="0"/>
                          <a:cs typeface="Times New Roman" panose="02020603050405020304" pitchFamily="18" charset="0"/>
                        </a:rPr>
                        <a:t>SkySat</a:t>
                      </a:r>
                      <a:r>
                        <a:rPr lang="en-GB" sz="1400" dirty="0">
                          <a:latin typeface="Times New Roman" panose="02020603050405020304" pitchFamily="18" charset="0"/>
                          <a:cs typeface="Times New Roman" panose="02020603050405020304" pitchFamily="18" charset="0"/>
                        </a:rPr>
                        <a:t> 3-15</a:t>
                      </a:r>
                    </a:p>
                  </a:txBody>
                  <a:tcPr anchor="ctr"/>
                </a:tc>
                <a:tc>
                  <a:txBody>
                    <a:bodyPr/>
                    <a:lstStyle/>
                    <a:p>
                      <a:pPr algn="ctr"/>
                      <a:r>
                        <a:rPr lang="en-GB" sz="1200" dirty="0">
                          <a:latin typeface="Times New Roman" panose="02020603050405020304" pitchFamily="18" charset="0"/>
                          <a:cs typeface="Times New Roman" panose="02020603050405020304" pitchFamily="18" charset="0"/>
                        </a:rPr>
                        <a:t>Pan; 0.65m</a:t>
                      </a:r>
                    </a:p>
                    <a:p>
                      <a:pPr algn="ctr"/>
                      <a:r>
                        <a:rPr lang="en-GB" sz="1200" dirty="0">
                          <a:latin typeface="Times New Roman" panose="02020603050405020304" pitchFamily="18" charset="0"/>
                          <a:cs typeface="Times New Roman" panose="02020603050405020304" pitchFamily="18" charset="0"/>
                        </a:rPr>
                        <a:t>MS; 0.81m</a:t>
                      </a: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5.9</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6157234"/>
                  </a:ext>
                </a:extLst>
              </a:tr>
              <a:tr h="594125">
                <a:tc vMerge="1">
                  <a:txBody>
                    <a:bodyPr/>
                    <a:lstStyle/>
                    <a:p>
                      <a:endParaRPr lang="en-IN"/>
                    </a:p>
                  </a:txBody>
                  <a:tcPr/>
                </a:tc>
                <a:tc vMerge="1">
                  <a:txBody>
                    <a:bodyPr/>
                    <a:lstStyle/>
                    <a:p>
                      <a:endParaRPr lang="en-IN"/>
                    </a:p>
                  </a:txBody>
                  <a:tcPr/>
                </a:tc>
                <a:tc>
                  <a:txBody>
                    <a:bodyPr/>
                    <a:lstStyle/>
                    <a:p>
                      <a:pPr algn="ctr">
                        <a:lnSpc>
                          <a:spcPct val="150000"/>
                        </a:lnSpc>
                      </a:pPr>
                      <a:r>
                        <a:rPr lang="en-GB" sz="1400" dirty="0" err="1">
                          <a:latin typeface="Times New Roman" panose="02020603050405020304" pitchFamily="18" charset="0"/>
                          <a:cs typeface="Times New Roman" panose="02020603050405020304" pitchFamily="18" charset="0"/>
                        </a:rPr>
                        <a:t>SkySat</a:t>
                      </a:r>
                      <a:r>
                        <a:rPr lang="en-GB" sz="1400" dirty="0">
                          <a:latin typeface="Times New Roman" panose="02020603050405020304" pitchFamily="18" charset="0"/>
                          <a:cs typeface="Times New Roman" panose="02020603050405020304" pitchFamily="18" charset="0"/>
                        </a:rPr>
                        <a:t> 16-21</a:t>
                      </a:r>
                    </a:p>
                  </a:txBody>
                  <a:tcPr anchor="ctr"/>
                </a:tc>
                <a:tc>
                  <a:txBody>
                    <a:bodyPr/>
                    <a:lstStyle/>
                    <a:p>
                      <a:pPr algn="ctr"/>
                      <a:r>
                        <a:rPr lang="en-GB" sz="1200" dirty="0">
                          <a:latin typeface="Times New Roman" panose="02020603050405020304" pitchFamily="18" charset="0"/>
                          <a:cs typeface="Times New Roman" panose="02020603050405020304" pitchFamily="18" charset="0"/>
                        </a:rPr>
                        <a:t>Pan; 0.57m</a:t>
                      </a:r>
                    </a:p>
                    <a:p>
                      <a:pPr algn="ctr"/>
                      <a:r>
                        <a:rPr lang="en-GB" sz="1200" dirty="0">
                          <a:latin typeface="Times New Roman" panose="02020603050405020304" pitchFamily="18" charset="0"/>
                          <a:cs typeface="Times New Roman" panose="02020603050405020304" pitchFamily="18" charset="0"/>
                        </a:rPr>
                        <a:t>MS; 0.75m</a:t>
                      </a: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vMerge="1">
                  <a:txBody>
                    <a:bodyPr/>
                    <a:lstStyle/>
                    <a:p>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5.5</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64189268"/>
                  </a:ext>
                </a:extLst>
              </a:tr>
            </a:tbl>
          </a:graphicData>
        </a:graphic>
      </p:graphicFrame>
      <p:sp>
        <p:nvSpPr>
          <p:cNvPr id="4" name="TextBox 3">
            <a:extLst>
              <a:ext uri="{FF2B5EF4-FFF2-40B4-BE49-F238E27FC236}">
                <a16:creationId xmlns:a16="http://schemas.microsoft.com/office/drawing/2014/main" id="{4503E989-899F-F1A6-8C3F-A0306A024F9B}"/>
              </a:ext>
            </a:extLst>
          </p:cNvPr>
          <p:cNvSpPr txBox="1"/>
          <p:nvPr/>
        </p:nvSpPr>
        <p:spPr>
          <a:xfrm>
            <a:off x="688466" y="3411092"/>
            <a:ext cx="2366010" cy="369332"/>
          </a:xfrm>
          <a:prstGeom prst="rect">
            <a:avLst/>
          </a:prstGeom>
          <a:noFill/>
        </p:spPr>
        <p:txBody>
          <a:bodyPr wrap="square">
            <a:spAutoFit/>
          </a:bodyPr>
          <a:lstStyle/>
          <a:p>
            <a:r>
              <a:rPr lang="en-GB" b="1" dirty="0" err="1">
                <a:latin typeface="Times New Roman" panose="02020603050405020304" pitchFamily="18" charset="0"/>
                <a:cs typeface="Times New Roman" panose="02020603050405020304" pitchFamily="18" charset="0"/>
              </a:rPr>
              <a:t>SkySat</a:t>
            </a:r>
            <a:r>
              <a:rPr lang="en-GB" b="1" dirty="0">
                <a:latin typeface="Times New Roman" panose="02020603050405020304" pitchFamily="18" charset="0"/>
                <a:cs typeface="Times New Roman" panose="02020603050405020304" pitchFamily="18" charset="0"/>
              </a:rPr>
              <a:t> Camera</a:t>
            </a:r>
          </a:p>
        </p:txBody>
      </p:sp>
    </p:spTree>
    <p:extLst>
      <p:ext uri="{BB962C8B-B14F-4D97-AF65-F5344CB8AC3E}">
        <p14:creationId xmlns:p14="http://schemas.microsoft.com/office/powerpoint/2010/main" val="8268201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44EA2-A4FC-07C5-F9C6-ADBB429D4728}"/>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DF19E8C-BAB0-3EAE-25B8-4841A0498231}"/>
              </a:ext>
            </a:extLst>
          </p:cNvPr>
          <p:cNvGraphicFramePr>
            <a:graphicFrameLocks noGrp="1"/>
          </p:cNvGraphicFramePr>
          <p:nvPr/>
        </p:nvGraphicFramePr>
        <p:xfrm>
          <a:off x="557784" y="838538"/>
          <a:ext cx="10415016" cy="1733974"/>
        </p:xfrm>
        <a:graphic>
          <a:graphicData uri="http://schemas.openxmlformats.org/drawingml/2006/table">
            <a:tbl>
              <a:tblPr firstRow="1" bandRow="1">
                <a:tableStyleId>{5C22544A-7EE6-4342-B048-85BDC9FD1C3A}</a:tableStyleId>
              </a:tblPr>
              <a:tblGrid>
                <a:gridCol w="1819656">
                  <a:extLst>
                    <a:ext uri="{9D8B030D-6E8A-4147-A177-3AD203B41FA5}">
                      <a16:colId xmlns:a16="http://schemas.microsoft.com/office/drawing/2014/main" val="3954906567"/>
                    </a:ext>
                  </a:extLst>
                </a:gridCol>
                <a:gridCol w="1892808">
                  <a:extLst>
                    <a:ext uri="{9D8B030D-6E8A-4147-A177-3AD203B41FA5}">
                      <a16:colId xmlns:a16="http://schemas.microsoft.com/office/drawing/2014/main" val="1248303511"/>
                    </a:ext>
                  </a:extLst>
                </a:gridCol>
                <a:gridCol w="1014984">
                  <a:extLst>
                    <a:ext uri="{9D8B030D-6E8A-4147-A177-3AD203B41FA5}">
                      <a16:colId xmlns:a16="http://schemas.microsoft.com/office/drawing/2014/main" val="892788067"/>
                    </a:ext>
                  </a:extLst>
                </a:gridCol>
                <a:gridCol w="950976">
                  <a:extLst>
                    <a:ext uri="{9D8B030D-6E8A-4147-A177-3AD203B41FA5}">
                      <a16:colId xmlns:a16="http://schemas.microsoft.com/office/drawing/2014/main" val="1938854511"/>
                    </a:ext>
                  </a:extLst>
                </a:gridCol>
                <a:gridCol w="932688">
                  <a:extLst>
                    <a:ext uri="{9D8B030D-6E8A-4147-A177-3AD203B41FA5}">
                      <a16:colId xmlns:a16="http://schemas.microsoft.com/office/drawing/2014/main" val="3189432525"/>
                    </a:ext>
                  </a:extLst>
                </a:gridCol>
                <a:gridCol w="969264">
                  <a:extLst>
                    <a:ext uri="{9D8B030D-6E8A-4147-A177-3AD203B41FA5}">
                      <a16:colId xmlns:a16="http://schemas.microsoft.com/office/drawing/2014/main" val="2434127255"/>
                    </a:ext>
                  </a:extLst>
                </a:gridCol>
                <a:gridCol w="1216152">
                  <a:extLst>
                    <a:ext uri="{9D8B030D-6E8A-4147-A177-3AD203B41FA5}">
                      <a16:colId xmlns:a16="http://schemas.microsoft.com/office/drawing/2014/main" val="280925765"/>
                    </a:ext>
                  </a:extLst>
                </a:gridCol>
                <a:gridCol w="1618488">
                  <a:extLst>
                    <a:ext uri="{9D8B030D-6E8A-4147-A177-3AD203B41FA5}">
                      <a16:colId xmlns:a16="http://schemas.microsoft.com/office/drawing/2014/main" val="2862320926"/>
                    </a:ext>
                  </a:extLst>
                </a:gridCol>
              </a:tblGrid>
              <a:tr h="443289">
                <a:tc rowSpan="2">
                  <a:txBody>
                    <a:bodyPr/>
                    <a:lstStyle/>
                    <a:p>
                      <a:pPr algn="ctr"/>
                      <a:r>
                        <a:rPr lang="en-GB" sz="1400" dirty="0">
                          <a:latin typeface="Times New Roman" panose="02020603050405020304" pitchFamily="18" charset="0"/>
                          <a:cs typeface="Times New Roman" panose="02020603050405020304" pitchFamily="18" charset="0"/>
                        </a:rPr>
                        <a:t>Sensor Name</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Vehicle</a:t>
                      </a:r>
                      <a:endParaRPr lang="en-IN" sz="1400" dirty="0">
                        <a:latin typeface="Times New Roman" panose="02020603050405020304" pitchFamily="18" charset="0"/>
                        <a:cs typeface="Times New Roman" panose="02020603050405020304" pitchFamily="18" charset="0"/>
                      </a:endParaRPr>
                    </a:p>
                  </a:txBody>
                  <a:tcPr anchor="ctr"/>
                </a:tc>
                <a:tc gridSpan="4">
                  <a:txBody>
                    <a:bodyPr/>
                    <a:lstStyle/>
                    <a:p>
                      <a:pPr algn="ctr"/>
                      <a:r>
                        <a:rPr lang="en-GB" sz="1400" dirty="0">
                          <a:latin typeface="Times New Roman" panose="02020603050405020304" pitchFamily="18" charset="0"/>
                          <a:cs typeface="Times New Roman" panose="02020603050405020304" pitchFamily="18" charset="0"/>
                        </a:rPr>
                        <a:t>Resolution</a:t>
                      </a:r>
                      <a:endParaRPr lang="en-IN" sz="1400" dirty="0">
                        <a:latin typeface="Times New Roman" panose="02020603050405020304" pitchFamily="18" charset="0"/>
                        <a:cs typeface="Times New Roman" panose="02020603050405020304" pitchFamily="18" charset="0"/>
                      </a:endParaRPr>
                    </a:p>
                  </a:txBody>
                  <a:tcPr anchor="ctr"/>
                </a:tc>
                <a:tc hMerge="1">
                  <a:txBody>
                    <a:bodyPr/>
                    <a:lstStyle/>
                    <a:p>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rowSpan="2">
                  <a:txBody>
                    <a:bodyPr/>
                    <a:lstStyle/>
                    <a:p>
                      <a:pPr algn="ctr"/>
                      <a:r>
                        <a:rPr lang="en-GB" sz="1400" dirty="0">
                          <a:latin typeface="Times New Roman" panose="02020603050405020304" pitchFamily="18" charset="0"/>
                          <a:cs typeface="Times New Roman" panose="02020603050405020304" pitchFamily="18" charset="0"/>
                        </a:rPr>
                        <a:t>Wavelength (µm)</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Swath width (km)</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3547769"/>
                  </a:ext>
                </a:extLst>
              </a:tr>
              <a:tr h="345805">
                <a:tc vMerge="1">
                  <a:txBody>
                    <a:bodyPr/>
                    <a:lstStyle/>
                    <a:p>
                      <a:endParaRPr lang="en-IN"/>
                    </a:p>
                  </a:txBody>
                  <a:tcPr/>
                </a:tc>
                <a:tc vMerge="1">
                  <a:txBody>
                    <a:bodyPr/>
                    <a:lstStyle/>
                    <a:p>
                      <a:endParaRPr lang="en-IN"/>
                    </a:p>
                  </a:txBody>
                  <a:tcPr/>
                </a:tc>
                <a:tc>
                  <a:txBody>
                    <a:bodyPr/>
                    <a:lstStyle/>
                    <a:p>
                      <a:pPr algn="ctr"/>
                      <a:r>
                        <a:rPr lang="en-GB" sz="1200" dirty="0">
                          <a:latin typeface="Times New Roman" panose="02020603050405020304" pitchFamily="18" charset="0"/>
                          <a:cs typeface="Times New Roman" panose="02020603050405020304" pitchFamily="18" charset="0"/>
                        </a:rPr>
                        <a:t>Spatial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Spectral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Temporal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Radiometric</a:t>
                      </a:r>
                      <a:endParaRPr lang="en-IN" sz="1200" dirty="0">
                        <a:latin typeface="Times New Roman" panose="02020603050405020304" pitchFamily="18" charset="0"/>
                        <a:cs typeface="Times New Roman" panose="02020603050405020304" pitchFamily="18" charset="0"/>
                      </a:endParaRPr>
                    </a:p>
                  </a:txBody>
                  <a:tcPr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58789725"/>
                  </a:ext>
                </a:extLst>
              </a:tr>
              <a:tr h="5393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panose="02020603050405020304" pitchFamily="18" charset="0"/>
                          <a:cs typeface="Times New Roman" panose="02020603050405020304" pitchFamily="18" charset="0"/>
                        </a:rPr>
                        <a:t>Remote Sensing Instrument</a:t>
                      </a:r>
                      <a:endParaRPr lang="en-IN" sz="1400" b="1" dirty="0">
                        <a:latin typeface="Times New Roman" panose="02020603050405020304" pitchFamily="18" charset="0"/>
                        <a:cs typeface="Times New Roman" panose="02020603050405020304" pitchFamily="18" charset="0"/>
                      </a:endParaRPr>
                    </a:p>
                    <a:p>
                      <a:pPr algn="ctr"/>
                      <a:r>
                        <a:rPr lang="en-IN" sz="1400" b="0" dirty="0">
                          <a:latin typeface="Times New Roman" panose="02020603050405020304" pitchFamily="18" charset="0"/>
                          <a:cs typeface="Times New Roman" panose="02020603050405020304" pitchFamily="18" charset="0"/>
                        </a:rPr>
                        <a:t>(Taiwan)</a:t>
                      </a:r>
                      <a:r>
                        <a:rPr lang="en-IN" sz="1400" b="1" dirty="0">
                          <a:latin typeface="Times New Roman" panose="02020603050405020304" pitchFamily="18" charset="0"/>
                          <a:cs typeface="Times New Roman" panose="02020603050405020304" pitchFamily="18" charset="0"/>
                        </a:rPr>
                        <a:t> </a:t>
                      </a:r>
                    </a:p>
                    <a:p>
                      <a:pPr algn="ct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lgn="l"/>
                      <a:r>
                        <a:rPr lang="en-GB" sz="1400" dirty="0">
                          <a:latin typeface="Times New Roman" panose="02020603050405020304" pitchFamily="18" charset="0"/>
                          <a:cs typeface="Times New Roman" panose="02020603050405020304" pitchFamily="18" charset="0"/>
                        </a:rPr>
                        <a:t>FORMOSAT-2</a:t>
                      </a:r>
                    </a:p>
                    <a:p>
                      <a:pPr algn="l"/>
                      <a:r>
                        <a:rPr lang="en-GB" sz="1400" dirty="0">
                          <a:latin typeface="Times New Roman" panose="02020603050405020304" pitchFamily="18" charset="0"/>
                          <a:cs typeface="Times New Roman" panose="02020603050405020304" pitchFamily="18" charset="0"/>
                        </a:rPr>
                        <a:t>(2004-2016)</a:t>
                      </a:r>
                    </a:p>
                    <a:p>
                      <a:pPr algn="l"/>
                      <a:r>
                        <a:rPr lang="en-GB" sz="1400" dirty="0">
                          <a:latin typeface="Times New Roman" panose="02020603050405020304" pitchFamily="18" charset="0"/>
                          <a:cs typeface="Times New Roman" panose="02020603050405020304" pitchFamily="18" charset="0"/>
                        </a:rPr>
                        <a:t>No. of Sensors: 02</a:t>
                      </a:r>
                    </a:p>
                    <a:p>
                      <a:pPr algn="ct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Pan; 2m</a:t>
                      </a:r>
                    </a:p>
                    <a:p>
                      <a:pPr algn="ctr"/>
                      <a:r>
                        <a:rPr lang="en-GB" sz="1400" dirty="0">
                          <a:latin typeface="Times New Roman" panose="02020603050405020304" pitchFamily="18" charset="0"/>
                          <a:cs typeface="Times New Roman" panose="02020603050405020304" pitchFamily="18" charset="0"/>
                        </a:rPr>
                        <a:t>MS; 8m</a:t>
                      </a:r>
                    </a:p>
                  </a:txBody>
                  <a:tcPr anchor="ctr"/>
                </a:tc>
                <a:tc>
                  <a:txBody>
                    <a:bodyPr/>
                    <a:lstStyle/>
                    <a:p>
                      <a:pPr algn="ctr"/>
                      <a:r>
                        <a:rPr lang="en-GB" sz="1400" dirty="0">
                          <a:latin typeface="Times New Roman" panose="02020603050405020304" pitchFamily="18" charset="0"/>
                          <a:cs typeface="Times New Roman" panose="02020603050405020304" pitchFamily="18" charset="0"/>
                        </a:rPr>
                        <a:t>5 Bands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1 Day</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8 Bits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0.45-0.9</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24-62</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42782451"/>
                  </a:ext>
                </a:extLst>
              </a:tr>
            </a:tbl>
          </a:graphicData>
        </a:graphic>
      </p:graphicFrame>
      <p:sp>
        <p:nvSpPr>
          <p:cNvPr id="2" name="TextBox 1">
            <a:extLst>
              <a:ext uri="{FF2B5EF4-FFF2-40B4-BE49-F238E27FC236}">
                <a16:creationId xmlns:a16="http://schemas.microsoft.com/office/drawing/2014/main" id="{BAE393F0-FC1A-6DEB-9EC1-96D1D1F8EA1C}"/>
              </a:ext>
            </a:extLst>
          </p:cNvPr>
          <p:cNvSpPr txBox="1"/>
          <p:nvPr/>
        </p:nvSpPr>
        <p:spPr>
          <a:xfrm>
            <a:off x="450342" y="331184"/>
            <a:ext cx="3609594" cy="369332"/>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Remote Sensing Instrument (RSI)</a:t>
            </a:r>
          </a:p>
        </p:txBody>
      </p:sp>
      <p:graphicFrame>
        <p:nvGraphicFramePr>
          <p:cNvPr id="3" name="Table 2">
            <a:extLst>
              <a:ext uri="{FF2B5EF4-FFF2-40B4-BE49-F238E27FC236}">
                <a16:creationId xmlns:a16="http://schemas.microsoft.com/office/drawing/2014/main" id="{87AE8C28-F917-EF5C-B14A-EDDF4743EB01}"/>
              </a:ext>
            </a:extLst>
          </p:cNvPr>
          <p:cNvGraphicFramePr>
            <a:graphicFrameLocks noGrp="1"/>
          </p:cNvGraphicFramePr>
          <p:nvPr/>
        </p:nvGraphicFramePr>
        <p:xfrm>
          <a:off x="630936" y="3695919"/>
          <a:ext cx="10415016" cy="2830897"/>
        </p:xfrm>
        <a:graphic>
          <a:graphicData uri="http://schemas.openxmlformats.org/drawingml/2006/table">
            <a:tbl>
              <a:tblPr firstRow="1" bandRow="1">
                <a:tableStyleId>{5C22544A-7EE6-4342-B048-85BDC9FD1C3A}</a:tableStyleId>
              </a:tblPr>
              <a:tblGrid>
                <a:gridCol w="1539813">
                  <a:extLst>
                    <a:ext uri="{9D8B030D-6E8A-4147-A177-3AD203B41FA5}">
                      <a16:colId xmlns:a16="http://schemas.microsoft.com/office/drawing/2014/main" val="3954906567"/>
                    </a:ext>
                  </a:extLst>
                </a:gridCol>
                <a:gridCol w="1601715">
                  <a:extLst>
                    <a:ext uri="{9D8B030D-6E8A-4147-A177-3AD203B41FA5}">
                      <a16:colId xmlns:a16="http://schemas.microsoft.com/office/drawing/2014/main" val="1248303511"/>
                    </a:ext>
                  </a:extLst>
                </a:gridCol>
                <a:gridCol w="1601715">
                  <a:extLst>
                    <a:ext uri="{9D8B030D-6E8A-4147-A177-3AD203B41FA5}">
                      <a16:colId xmlns:a16="http://schemas.microsoft.com/office/drawing/2014/main" val="3305700117"/>
                    </a:ext>
                  </a:extLst>
                </a:gridCol>
                <a:gridCol w="858891">
                  <a:extLst>
                    <a:ext uri="{9D8B030D-6E8A-4147-A177-3AD203B41FA5}">
                      <a16:colId xmlns:a16="http://schemas.microsoft.com/office/drawing/2014/main" val="892788067"/>
                    </a:ext>
                  </a:extLst>
                </a:gridCol>
                <a:gridCol w="804726">
                  <a:extLst>
                    <a:ext uri="{9D8B030D-6E8A-4147-A177-3AD203B41FA5}">
                      <a16:colId xmlns:a16="http://schemas.microsoft.com/office/drawing/2014/main" val="1938854511"/>
                    </a:ext>
                  </a:extLst>
                </a:gridCol>
                <a:gridCol w="789251">
                  <a:extLst>
                    <a:ext uri="{9D8B030D-6E8A-4147-A177-3AD203B41FA5}">
                      <a16:colId xmlns:a16="http://schemas.microsoft.com/office/drawing/2014/main" val="3189432525"/>
                    </a:ext>
                  </a:extLst>
                </a:gridCol>
                <a:gridCol w="960337">
                  <a:extLst>
                    <a:ext uri="{9D8B030D-6E8A-4147-A177-3AD203B41FA5}">
                      <a16:colId xmlns:a16="http://schemas.microsoft.com/office/drawing/2014/main" val="2434127255"/>
                    </a:ext>
                  </a:extLst>
                </a:gridCol>
                <a:gridCol w="1106424">
                  <a:extLst>
                    <a:ext uri="{9D8B030D-6E8A-4147-A177-3AD203B41FA5}">
                      <a16:colId xmlns:a16="http://schemas.microsoft.com/office/drawing/2014/main" val="280925765"/>
                    </a:ext>
                  </a:extLst>
                </a:gridCol>
                <a:gridCol w="1152144">
                  <a:extLst>
                    <a:ext uri="{9D8B030D-6E8A-4147-A177-3AD203B41FA5}">
                      <a16:colId xmlns:a16="http://schemas.microsoft.com/office/drawing/2014/main" val="2862320926"/>
                    </a:ext>
                  </a:extLst>
                </a:gridCol>
              </a:tblGrid>
              <a:tr h="338713">
                <a:tc rowSpan="2">
                  <a:txBody>
                    <a:bodyPr/>
                    <a:lstStyle/>
                    <a:p>
                      <a:pPr algn="ctr"/>
                      <a:r>
                        <a:rPr lang="en-GB" sz="1400" dirty="0">
                          <a:latin typeface="Times New Roman" panose="02020603050405020304" pitchFamily="18" charset="0"/>
                          <a:cs typeface="Times New Roman" panose="02020603050405020304" pitchFamily="18" charset="0"/>
                        </a:rPr>
                        <a:t>Sensor Name</a:t>
                      </a:r>
                      <a:endParaRPr lang="en-IN" sz="1400" dirty="0">
                        <a:latin typeface="Times New Roman" panose="02020603050405020304" pitchFamily="18" charset="0"/>
                        <a:cs typeface="Times New Roman" panose="02020603050405020304" pitchFamily="18" charset="0"/>
                      </a:endParaRPr>
                    </a:p>
                  </a:txBody>
                  <a:tcPr anchor="ctr"/>
                </a:tc>
                <a:tc rowSpan="2" gridSpan="2">
                  <a:txBody>
                    <a:bodyPr/>
                    <a:lstStyle/>
                    <a:p>
                      <a:pPr algn="ctr"/>
                      <a:r>
                        <a:rPr lang="en-GB" sz="1400" dirty="0">
                          <a:latin typeface="Times New Roman" panose="02020603050405020304" pitchFamily="18" charset="0"/>
                          <a:cs typeface="Times New Roman" panose="02020603050405020304" pitchFamily="18" charset="0"/>
                        </a:rPr>
                        <a:t>Vehicle</a:t>
                      </a:r>
                      <a:endParaRPr lang="en-IN" sz="1400" dirty="0">
                        <a:latin typeface="Times New Roman" panose="02020603050405020304" pitchFamily="18" charset="0"/>
                        <a:cs typeface="Times New Roman" panose="02020603050405020304" pitchFamily="18" charset="0"/>
                      </a:endParaRPr>
                    </a:p>
                  </a:txBody>
                  <a:tcPr anchor="ctr"/>
                </a:tc>
                <a:tc rowSpan="2" h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gridSpan="4">
                  <a:txBody>
                    <a:bodyPr/>
                    <a:lstStyle/>
                    <a:p>
                      <a:pPr algn="ctr"/>
                      <a:r>
                        <a:rPr lang="en-GB" sz="1400" dirty="0">
                          <a:latin typeface="Times New Roman" panose="02020603050405020304" pitchFamily="18" charset="0"/>
                          <a:cs typeface="Times New Roman" panose="02020603050405020304" pitchFamily="18" charset="0"/>
                        </a:rPr>
                        <a:t>Resolution</a:t>
                      </a:r>
                      <a:endParaRPr lang="en-IN" sz="1400" dirty="0">
                        <a:latin typeface="Times New Roman" panose="02020603050405020304" pitchFamily="18" charset="0"/>
                        <a:cs typeface="Times New Roman" panose="02020603050405020304" pitchFamily="18" charset="0"/>
                      </a:endParaRPr>
                    </a:p>
                  </a:txBody>
                  <a:tcPr anchor="ctr"/>
                </a:tc>
                <a:tc hMerge="1">
                  <a:txBody>
                    <a:bodyPr/>
                    <a:lstStyle/>
                    <a:p>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rowSpan="2">
                  <a:txBody>
                    <a:bodyPr/>
                    <a:lstStyle/>
                    <a:p>
                      <a:pPr algn="ctr"/>
                      <a:r>
                        <a:rPr lang="en-GB" sz="1400" dirty="0">
                          <a:latin typeface="Times New Roman" panose="02020603050405020304" pitchFamily="18" charset="0"/>
                          <a:cs typeface="Times New Roman" panose="02020603050405020304" pitchFamily="18" charset="0"/>
                        </a:rPr>
                        <a:t>Wavelength (µm)</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Swath width (km)</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3547769"/>
                  </a:ext>
                </a:extLst>
              </a:tr>
              <a:tr h="264226">
                <a:tc vMerge="1">
                  <a:txBody>
                    <a:bodyPr/>
                    <a:lstStyle/>
                    <a:p>
                      <a:endParaRPr lang="en-IN"/>
                    </a:p>
                  </a:txBody>
                  <a:tcPr/>
                </a:tc>
                <a:tc gridSpan="2" vMerge="1">
                  <a:txBody>
                    <a:bodyPr/>
                    <a:lstStyle/>
                    <a:p>
                      <a:endParaRPr lang="en-IN"/>
                    </a:p>
                  </a:txBody>
                  <a:tcPr/>
                </a:tc>
                <a:tc hMerge="1" vMerge="1">
                  <a:txBody>
                    <a:bodyPr/>
                    <a:lstStyle/>
                    <a:p>
                      <a:endParaRPr lang="en-IN"/>
                    </a:p>
                  </a:txBody>
                  <a:tcPr/>
                </a:tc>
                <a:tc>
                  <a:txBody>
                    <a:bodyPr/>
                    <a:lstStyle/>
                    <a:p>
                      <a:pPr algn="ctr"/>
                      <a:r>
                        <a:rPr lang="en-GB" sz="1200" dirty="0">
                          <a:latin typeface="Times New Roman" panose="02020603050405020304" pitchFamily="18" charset="0"/>
                          <a:cs typeface="Times New Roman" panose="02020603050405020304" pitchFamily="18" charset="0"/>
                        </a:rPr>
                        <a:t>Spatial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Spectral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Temporal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Radiometric</a:t>
                      </a:r>
                      <a:endParaRPr lang="en-IN" sz="1200" dirty="0">
                        <a:latin typeface="Times New Roman" panose="02020603050405020304" pitchFamily="18" charset="0"/>
                        <a:cs typeface="Times New Roman" panose="02020603050405020304" pitchFamily="18" charset="0"/>
                      </a:endParaRPr>
                    </a:p>
                  </a:txBody>
                  <a:tcPr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58789725"/>
                  </a:ext>
                </a:extLst>
              </a:tr>
              <a:tr h="698645">
                <a:tc rowSpan="3">
                  <a:txBody>
                    <a:bodyPr/>
                    <a:lstStyle/>
                    <a:p>
                      <a:pPr algn="ctr"/>
                      <a:r>
                        <a:rPr lang="en-GB" sz="1400" b="1" dirty="0">
                          <a:latin typeface="Times New Roman" panose="02020603050405020304" pitchFamily="18" charset="0"/>
                          <a:cs typeface="Times New Roman" panose="02020603050405020304" pitchFamily="18" charset="0"/>
                        </a:rPr>
                        <a:t>Vegetation Monitoring Instrument </a:t>
                      </a:r>
                    </a:p>
                    <a:p>
                      <a:pPr algn="ctr"/>
                      <a:r>
                        <a:rPr lang="en-IN" sz="1400" b="0" dirty="0">
                          <a:latin typeface="Times New Roman" panose="02020603050405020304" pitchFamily="18" charset="0"/>
                          <a:cs typeface="Times New Roman" panose="02020603050405020304" pitchFamily="18" charset="0"/>
                        </a:rPr>
                        <a:t>(France &amp; Europe)</a:t>
                      </a:r>
                      <a:r>
                        <a:rPr lang="en-IN" sz="1400" b="1" dirty="0">
                          <a:latin typeface="Times New Roman" panose="02020603050405020304" pitchFamily="18" charset="0"/>
                          <a:cs typeface="Times New Roman" panose="02020603050405020304" pitchFamily="18" charset="0"/>
                        </a:rPr>
                        <a:t> </a:t>
                      </a:r>
                    </a:p>
                    <a:p>
                      <a:pPr algn="ctr"/>
                      <a:endParaRPr lang="en-IN" sz="1400" b="1" dirty="0">
                        <a:latin typeface="Times New Roman" panose="02020603050405020304" pitchFamily="18" charset="0"/>
                        <a:cs typeface="Times New Roman" panose="02020603050405020304" pitchFamily="18" charset="0"/>
                      </a:endParaRPr>
                    </a:p>
                  </a:txBody>
                  <a:tcPr anchor="ctr"/>
                </a:tc>
                <a:tc>
                  <a:txBody>
                    <a:bodyPr/>
                    <a:lstStyle/>
                    <a:p>
                      <a:r>
                        <a:rPr lang="en-GB" sz="1400" dirty="0">
                          <a:latin typeface="Times New Roman" panose="02020603050405020304" pitchFamily="18" charset="0"/>
                          <a:cs typeface="Times New Roman" panose="02020603050405020304" pitchFamily="18" charset="0"/>
                        </a:rPr>
                        <a:t>SPOT-4</a:t>
                      </a:r>
                    </a:p>
                    <a:p>
                      <a:r>
                        <a:rPr lang="en-GB" sz="1400" dirty="0">
                          <a:latin typeface="Times New Roman" panose="02020603050405020304" pitchFamily="18" charset="0"/>
                          <a:cs typeface="Times New Roman" panose="02020603050405020304" pitchFamily="18" charset="0"/>
                        </a:rPr>
                        <a:t>(1998-2013)</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i="0" kern="1200" dirty="0">
                          <a:solidFill>
                            <a:schemeClr val="dk1"/>
                          </a:solidFill>
                          <a:effectLst/>
                          <a:latin typeface="Times New Roman" panose="02020603050405020304" pitchFamily="18" charset="0"/>
                          <a:ea typeface="+mn-ea"/>
                          <a:cs typeface="Times New Roman" panose="02020603050405020304" pitchFamily="18" charset="0"/>
                        </a:rPr>
                        <a:t>04 </a:t>
                      </a:r>
                    </a:p>
                    <a:p>
                      <a:pPr algn="ctr"/>
                      <a:r>
                        <a:rPr lang="en-IN" sz="1400" i="0" kern="1200" dirty="0">
                          <a:solidFill>
                            <a:schemeClr val="dk1"/>
                          </a:solidFill>
                          <a:effectLst/>
                          <a:latin typeface="Times New Roman" panose="02020603050405020304" pitchFamily="18" charset="0"/>
                          <a:ea typeface="+mn-ea"/>
                          <a:cs typeface="Times New Roman" panose="02020603050405020304" pitchFamily="18" charset="0"/>
                        </a:rPr>
                        <a:t>(HRVIR (2), VMI, DORIS)</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1.15 km</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4 Bands</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1 Day</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8-10 Bits</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0.43-1.75</a:t>
                      </a:r>
                      <a:endParaRPr lang="en-IN" sz="1400" dirty="0">
                        <a:latin typeface="Times New Roman" panose="02020603050405020304" pitchFamily="18" charset="0"/>
                        <a:cs typeface="Times New Roman" panose="02020603050405020304" pitchFamily="18" charset="0"/>
                      </a:endParaRPr>
                    </a:p>
                  </a:txBody>
                  <a:tcPr anchor="ctr"/>
                </a:tc>
                <a:tc rowSpan="3">
                  <a:txBody>
                    <a:bodyPr/>
                    <a:lstStyle/>
                    <a:p>
                      <a:pPr algn="ctr"/>
                      <a:r>
                        <a:rPr lang="en-GB" sz="1400" dirty="0">
                          <a:latin typeface="Times New Roman" panose="02020603050405020304" pitchFamily="18" charset="0"/>
                          <a:cs typeface="Times New Roman" panose="02020603050405020304" pitchFamily="18" charset="0"/>
                        </a:rPr>
                        <a:t>2250</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42782451"/>
                  </a:ext>
                </a:extLst>
              </a:tr>
              <a:tr h="698645">
                <a:tc vMerge="1">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r>
                        <a:rPr lang="en-GB" sz="1400" dirty="0">
                          <a:latin typeface="Times New Roman" panose="02020603050405020304" pitchFamily="18" charset="0"/>
                          <a:cs typeface="Times New Roman" panose="02020603050405020304" pitchFamily="18" charset="0"/>
                        </a:rPr>
                        <a:t>SPOT-5</a:t>
                      </a:r>
                    </a:p>
                    <a:p>
                      <a:r>
                        <a:rPr lang="en-GB" sz="1400" dirty="0">
                          <a:latin typeface="Times New Roman" panose="02020603050405020304" pitchFamily="18" charset="0"/>
                          <a:cs typeface="Times New Roman" panose="02020603050405020304" pitchFamily="18" charset="0"/>
                        </a:rPr>
                        <a:t>(2002-2015)</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i="0" kern="1200" dirty="0">
                          <a:solidFill>
                            <a:schemeClr val="dk1"/>
                          </a:solidFill>
                          <a:effectLst/>
                          <a:latin typeface="Times New Roman" panose="02020603050405020304" pitchFamily="18" charset="0"/>
                          <a:ea typeface="+mn-ea"/>
                          <a:cs typeface="Times New Roman" panose="02020603050405020304" pitchFamily="18" charset="0"/>
                        </a:rPr>
                        <a:t>04 </a:t>
                      </a:r>
                    </a:p>
                    <a:p>
                      <a:pPr algn="ctr"/>
                      <a:r>
                        <a:rPr lang="en-IN" sz="1400" i="0" kern="1200" dirty="0">
                          <a:solidFill>
                            <a:schemeClr val="dk1"/>
                          </a:solidFill>
                          <a:effectLst/>
                          <a:latin typeface="Times New Roman" panose="02020603050405020304" pitchFamily="18" charset="0"/>
                          <a:ea typeface="+mn-ea"/>
                          <a:cs typeface="Times New Roman" panose="02020603050405020304" pitchFamily="18" charset="0"/>
                        </a:rPr>
                        <a:t>(HRG (2), HRS, VMI)</a:t>
                      </a: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73178283"/>
                  </a:ext>
                </a:extLst>
              </a:tr>
              <a:tr h="754824">
                <a:tc vMerge="1">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latin typeface="Times New Roman" panose="02020603050405020304" pitchFamily="18" charset="0"/>
                          <a:cs typeface="Times New Roman" panose="02020603050405020304" pitchFamily="18" charset="0"/>
                        </a:rPr>
                        <a:t>PROBA-V</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(2013-2020)</a:t>
                      </a:r>
                    </a:p>
                  </a:txBody>
                  <a:tcPr anchor="ctr"/>
                </a:tc>
                <a:tc>
                  <a:txBody>
                    <a:bodyPr/>
                    <a:lstStyle/>
                    <a:p>
                      <a:pPr algn="ctr"/>
                      <a:r>
                        <a:rPr lang="en-GB" sz="1400" dirty="0">
                          <a:latin typeface="Times New Roman" panose="02020603050405020304" pitchFamily="18" charset="0"/>
                          <a:cs typeface="Times New Roman" panose="02020603050405020304" pitchFamily="18" charset="0"/>
                        </a:rPr>
                        <a:t>01</a:t>
                      </a: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7956067"/>
                  </a:ext>
                </a:extLst>
              </a:tr>
            </a:tbl>
          </a:graphicData>
        </a:graphic>
      </p:graphicFrame>
      <p:sp>
        <p:nvSpPr>
          <p:cNvPr id="4" name="TextBox 3">
            <a:extLst>
              <a:ext uri="{FF2B5EF4-FFF2-40B4-BE49-F238E27FC236}">
                <a16:creationId xmlns:a16="http://schemas.microsoft.com/office/drawing/2014/main" id="{51DBDBB4-11ED-8258-CFC5-5FC44A753E6A}"/>
              </a:ext>
            </a:extLst>
          </p:cNvPr>
          <p:cNvSpPr txBox="1"/>
          <p:nvPr/>
        </p:nvSpPr>
        <p:spPr>
          <a:xfrm>
            <a:off x="514350" y="3162081"/>
            <a:ext cx="4251960" cy="369332"/>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Vegetation Monitoring Instrument (VMI)</a:t>
            </a:r>
          </a:p>
        </p:txBody>
      </p:sp>
    </p:spTree>
    <p:extLst>
      <p:ext uri="{BB962C8B-B14F-4D97-AF65-F5344CB8AC3E}">
        <p14:creationId xmlns:p14="http://schemas.microsoft.com/office/powerpoint/2010/main" val="19091423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6873B-4F53-8AFA-4C7E-DA400A6812B0}"/>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85207FF-9F16-C32D-9315-9C71641695A1}"/>
              </a:ext>
            </a:extLst>
          </p:cNvPr>
          <p:cNvGraphicFramePr>
            <a:graphicFrameLocks noGrp="1"/>
          </p:cNvGraphicFramePr>
          <p:nvPr/>
        </p:nvGraphicFramePr>
        <p:xfrm>
          <a:off x="578358" y="1040028"/>
          <a:ext cx="10725150" cy="1867764"/>
        </p:xfrm>
        <a:graphic>
          <a:graphicData uri="http://schemas.openxmlformats.org/drawingml/2006/table">
            <a:tbl>
              <a:tblPr firstRow="1" bandRow="1">
                <a:tableStyleId>{5C22544A-7EE6-4342-B048-85BDC9FD1C3A}</a:tableStyleId>
              </a:tblPr>
              <a:tblGrid>
                <a:gridCol w="1873841">
                  <a:extLst>
                    <a:ext uri="{9D8B030D-6E8A-4147-A177-3AD203B41FA5}">
                      <a16:colId xmlns:a16="http://schemas.microsoft.com/office/drawing/2014/main" val="3954906567"/>
                    </a:ext>
                  </a:extLst>
                </a:gridCol>
                <a:gridCol w="1949171">
                  <a:extLst>
                    <a:ext uri="{9D8B030D-6E8A-4147-A177-3AD203B41FA5}">
                      <a16:colId xmlns:a16="http://schemas.microsoft.com/office/drawing/2014/main" val="1248303511"/>
                    </a:ext>
                  </a:extLst>
                </a:gridCol>
                <a:gridCol w="1045208">
                  <a:extLst>
                    <a:ext uri="{9D8B030D-6E8A-4147-A177-3AD203B41FA5}">
                      <a16:colId xmlns:a16="http://schemas.microsoft.com/office/drawing/2014/main" val="892788067"/>
                    </a:ext>
                  </a:extLst>
                </a:gridCol>
                <a:gridCol w="979294">
                  <a:extLst>
                    <a:ext uri="{9D8B030D-6E8A-4147-A177-3AD203B41FA5}">
                      <a16:colId xmlns:a16="http://schemas.microsoft.com/office/drawing/2014/main" val="1938854511"/>
                    </a:ext>
                  </a:extLst>
                </a:gridCol>
                <a:gridCol w="960461">
                  <a:extLst>
                    <a:ext uri="{9D8B030D-6E8A-4147-A177-3AD203B41FA5}">
                      <a16:colId xmlns:a16="http://schemas.microsoft.com/office/drawing/2014/main" val="3189432525"/>
                    </a:ext>
                  </a:extLst>
                </a:gridCol>
                <a:gridCol w="998126">
                  <a:extLst>
                    <a:ext uri="{9D8B030D-6E8A-4147-A177-3AD203B41FA5}">
                      <a16:colId xmlns:a16="http://schemas.microsoft.com/office/drawing/2014/main" val="2434127255"/>
                    </a:ext>
                  </a:extLst>
                </a:gridCol>
                <a:gridCol w="1252366">
                  <a:extLst>
                    <a:ext uri="{9D8B030D-6E8A-4147-A177-3AD203B41FA5}">
                      <a16:colId xmlns:a16="http://schemas.microsoft.com/office/drawing/2014/main" val="280925765"/>
                    </a:ext>
                  </a:extLst>
                </a:gridCol>
                <a:gridCol w="1666683">
                  <a:extLst>
                    <a:ext uri="{9D8B030D-6E8A-4147-A177-3AD203B41FA5}">
                      <a16:colId xmlns:a16="http://schemas.microsoft.com/office/drawing/2014/main" val="2862320926"/>
                    </a:ext>
                  </a:extLst>
                </a:gridCol>
              </a:tblGrid>
              <a:tr h="443213">
                <a:tc rowSpan="2">
                  <a:txBody>
                    <a:bodyPr/>
                    <a:lstStyle/>
                    <a:p>
                      <a:pPr algn="ctr"/>
                      <a:r>
                        <a:rPr lang="en-GB" sz="1400" dirty="0">
                          <a:latin typeface="Times New Roman" panose="02020603050405020304" pitchFamily="18" charset="0"/>
                          <a:cs typeface="Times New Roman" panose="02020603050405020304" pitchFamily="18" charset="0"/>
                        </a:rPr>
                        <a:t>Sensor Name</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Vehicle</a:t>
                      </a:r>
                      <a:endParaRPr lang="en-IN" sz="1400" dirty="0">
                        <a:latin typeface="Times New Roman" panose="02020603050405020304" pitchFamily="18" charset="0"/>
                        <a:cs typeface="Times New Roman" panose="02020603050405020304" pitchFamily="18" charset="0"/>
                      </a:endParaRPr>
                    </a:p>
                  </a:txBody>
                  <a:tcPr anchor="ctr"/>
                </a:tc>
                <a:tc gridSpan="4">
                  <a:txBody>
                    <a:bodyPr/>
                    <a:lstStyle/>
                    <a:p>
                      <a:pPr algn="ctr"/>
                      <a:r>
                        <a:rPr lang="en-GB" sz="1400" dirty="0">
                          <a:latin typeface="Times New Roman" panose="02020603050405020304" pitchFamily="18" charset="0"/>
                          <a:cs typeface="Times New Roman" panose="02020603050405020304" pitchFamily="18" charset="0"/>
                        </a:rPr>
                        <a:t>Resolution</a:t>
                      </a:r>
                      <a:endParaRPr lang="en-IN" sz="1400" dirty="0">
                        <a:latin typeface="Times New Roman" panose="02020603050405020304" pitchFamily="18" charset="0"/>
                        <a:cs typeface="Times New Roman" panose="02020603050405020304" pitchFamily="18" charset="0"/>
                      </a:endParaRPr>
                    </a:p>
                  </a:txBody>
                  <a:tcPr anchor="ctr"/>
                </a:tc>
                <a:tc hMerge="1">
                  <a:txBody>
                    <a:bodyPr/>
                    <a:lstStyle/>
                    <a:p>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rowSpan="2">
                  <a:txBody>
                    <a:bodyPr/>
                    <a:lstStyle/>
                    <a:p>
                      <a:pPr algn="ctr"/>
                      <a:r>
                        <a:rPr lang="en-GB" sz="1400" dirty="0">
                          <a:latin typeface="Times New Roman" panose="02020603050405020304" pitchFamily="18" charset="0"/>
                          <a:cs typeface="Times New Roman" panose="02020603050405020304" pitchFamily="18" charset="0"/>
                        </a:rPr>
                        <a:t>Wavelength (µm)</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Swath width (km)</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3547769"/>
                  </a:ext>
                </a:extLst>
              </a:tr>
              <a:tr h="345745">
                <a:tc vMerge="1">
                  <a:txBody>
                    <a:bodyPr/>
                    <a:lstStyle/>
                    <a:p>
                      <a:endParaRPr lang="en-IN"/>
                    </a:p>
                  </a:txBody>
                  <a:tcPr/>
                </a:tc>
                <a:tc vMerge="1">
                  <a:txBody>
                    <a:bodyPr/>
                    <a:lstStyle/>
                    <a:p>
                      <a:endParaRPr lang="en-IN"/>
                    </a:p>
                  </a:txBody>
                  <a:tcPr/>
                </a:tc>
                <a:tc>
                  <a:txBody>
                    <a:bodyPr/>
                    <a:lstStyle/>
                    <a:p>
                      <a:pPr algn="ctr"/>
                      <a:r>
                        <a:rPr lang="en-GB" sz="1200" dirty="0">
                          <a:latin typeface="Times New Roman" panose="02020603050405020304" pitchFamily="18" charset="0"/>
                          <a:cs typeface="Times New Roman" panose="02020603050405020304" pitchFamily="18" charset="0"/>
                        </a:rPr>
                        <a:t>Spatial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Spectral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Temporal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Radiometric</a:t>
                      </a:r>
                      <a:endParaRPr lang="en-IN" sz="1200" dirty="0">
                        <a:latin typeface="Times New Roman" panose="02020603050405020304" pitchFamily="18" charset="0"/>
                        <a:cs typeface="Times New Roman" panose="02020603050405020304" pitchFamily="18" charset="0"/>
                      </a:endParaRPr>
                    </a:p>
                  </a:txBody>
                  <a:tcPr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58789725"/>
                  </a:ext>
                </a:extLst>
              </a:tr>
              <a:tr h="1078806">
                <a:tc>
                  <a:txBody>
                    <a:bodyPr/>
                    <a:lstStyle/>
                    <a:p>
                      <a:pPr algn="ctr"/>
                      <a:r>
                        <a:rPr lang="en-GB" sz="1400" b="1" dirty="0">
                          <a:latin typeface="Times New Roman" panose="02020603050405020304" pitchFamily="18" charset="0"/>
                          <a:cs typeface="Times New Roman" panose="02020603050405020304" pitchFamily="18" charset="0"/>
                        </a:rPr>
                        <a:t>G</a:t>
                      </a:r>
                      <a:r>
                        <a:rPr lang="en-IN" sz="1400" b="1" dirty="0" err="1">
                          <a:latin typeface="Times New Roman" panose="02020603050405020304" pitchFamily="18" charset="0"/>
                          <a:cs typeface="Times New Roman" panose="02020603050405020304" pitchFamily="18" charset="0"/>
                        </a:rPr>
                        <a:t>eoEye</a:t>
                      </a:r>
                      <a:r>
                        <a:rPr lang="en-IN" sz="1400" b="1" dirty="0">
                          <a:latin typeface="Times New Roman" panose="02020603050405020304" pitchFamily="18" charset="0"/>
                          <a:cs typeface="Times New Roman" panose="02020603050405020304" pitchFamily="18" charset="0"/>
                        </a:rPr>
                        <a:t> Imaging System</a:t>
                      </a:r>
                    </a:p>
                    <a:p>
                      <a:pPr algn="ctr"/>
                      <a:r>
                        <a:rPr lang="en-IN" sz="1400" b="0" dirty="0">
                          <a:latin typeface="Times New Roman" panose="02020603050405020304" pitchFamily="18" charset="0"/>
                          <a:cs typeface="Times New Roman" panose="02020603050405020304" pitchFamily="18" charset="0"/>
                        </a:rPr>
                        <a:t>(USA)</a:t>
                      </a:r>
                      <a:r>
                        <a:rPr lang="en-IN" sz="1400" b="1" dirty="0">
                          <a:latin typeface="Times New Roman" panose="02020603050405020304" pitchFamily="18" charset="0"/>
                          <a:cs typeface="Times New Roman" panose="02020603050405020304" pitchFamily="18" charset="0"/>
                        </a:rPr>
                        <a:t> </a:t>
                      </a:r>
                    </a:p>
                    <a:p>
                      <a:pPr algn="ct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GeoEye-1</a:t>
                      </a:r>
                    </a:p>
                    <a:p>
                      <a:pPr algn="ctr"/>
                      <a:r>
                        <a:rPr lang="en-GB" sz="1400" dirty="0">
                          <a:latin typeface="Times New Roman" panose="02020603050405020304" pitchFamily="18" charset="0"/>
                          <a:cs typeface="Times New Roman" panose="02020603050405020304" pitchFamily="18" charset="0"/>
                        </a:rPr>
                        <a:t>(2008-Present)</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Pan; 0.41m</a:t>
                      </a:r>
                    </a:p>
                    <a:p>
                      <a:pPr algn="ctr"/>
                      <a:r>
                        <a:rPr lang="en-GB" sz="1400" dirty="0">
                          <a:latin typeface="Times New Roman" panose="02020603050405020304" pitchFamily="18" charset="0"/>
                          <a:cs typeface="Times New Roman" panose="02020603050405020304" pitchFamily="18" charset="0"/>
                        </a:rPr>
                        <a:t>MS; 1.64m</a:t>
                      </a:r>
                    </a:p>
                  </a:txBody>
                  <a:tcPr anchor="ctr"/>
                </a:tc>
                <a:tc>
                  <a:txBody>
                    <a:bodyPr/>
                    <a:lstStyle/>
                    <a:p>
                      <a:pPr algn="ctr"/>
                      <a:r>
                        <a:rPr lang="en-GB" sz="1400" dirty="0">
                          <a:latin typeface="Times New Roman" panose="02020603050405020304" pitchFamily="18" charset="0"/>
                          <a:cs typeface="Times New Roman" panose="02020603050405020304" pitchFamily="18" charset="0"/>
                        </a:rPr>
                        <a:t>5 Bands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 3 days</a:t>
                      </a:r>
                    </a:p>
                  </a:txBody>
                  <a:tcPr anchor="ctr"/>
                </a:tc>
                <a:tc>
                  <a:txBody>
                    <a:bodyPr/>
                    <a:lstStyle/>
                    <a:p>
                      <a:pPr algn="ctr"/>
                      <a:r>
                        <a:rPr lang="en-GB" sz="1400" dirty="0">
                          <a:latin typeface="Times New Roman" panose="02020603050405020304" pitchFamily="18" charset="0"/>
                          <a:cs typeface="Times New Roman" panose="02020603050405020304" pitchFamily="18" charset="0"/>
                        </a:rPr>
                        <a:t>11 Bits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latin typeface="Times New Roman" panose="02020603050405020304" pitchFamily="18" charset="0"/>
                          <a:cs typeface="Times New Roman" panose="02020603050405020304" pitchFamily="18" charset="0"/>
                        </a:rPr>
                        <a:t>0.45-0.92</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r>
                        <a:rPr lang="en-GB" sz="1400" dirty="0">
                          <a:latin typeface="Times New Roman" panose="02020603050405020304" pitchFamily="18" charset="0"/>
                          <a:cs typeface="Times New Roman" panose="02020603050405020304" pitchFamily="18" charset="0"/>
                        </a:rPr>
                        <a:t>15.2</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42782451"/>
                  </a:ext>
                </a:extLst>
              </a:tr>
            </a:tbl>
          </a:graphicData>
        </a:graphic>
      </p:graphicFrame>
      <p:sp>
        <p:nvSpPr>
          <p:cNvPr id="2" name="TextBox 1">
            <a:extLst>
              <a:ext uri="{FF2B5EF4-FFF2-40B4-BE49-F238E27FC236}">
                <a16:creationId xmlns:a16="http://schemas.microsoft.com/office/drawing/2014/main" id="{7FEC76EA-B39E-A451-219B-BF0886A2B78C}"/>
              </a:ext>
            </a:extLst>
          </p:cNvPr>
          <p:cNvSpPr txBox="1"/>
          <p:nvPr/>
        </p:nvSpPr>
        <p:spPr>
          <a:xfrm>
            <a:off x="578358" y="514064"/>
            <a:ext cx="2932938" cy="369332"/>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G</a:t>
            </a:r>
            <a:r>
              <a:rPr lang="en-IN" b="1" dirty="0" err="1">
                <a:latin typeface="Times New Roman" panose="02020603050405020304" pitchFamily="18" charset="0"/>
                <a:cs typeface="Times New Roman" panose="02020603050405020304" pitchFamily="18" charset="0"/>
              </a:rPr>
              <a:t>eoEye</a:t>
            </a:r>
            <a:r>
              <a:rPr lang="en-IN" b="1" dirty="0">
                <a:latin typeface="Times New Roman" panose="02020603050405020304" pitchFamily="18" charset="0"/>
                <a:cs typeface="Times New Roman" panose="02020603050405020304" pitchFamily="18" charset="0"/>
              </a:rPr>
              <a:t> Imaging System</a:t>
            </a:r>
          </a:p>
        </p:txBody>
      </p:sp>
      <p:graphicFrame>
        <p:nvGraphicFramePr>
          <p:cNvPr id="6" name="Table 5">
            <a:extLst>
              <a:ext uri="{FF2B5EF4-FFF2-40B4-BE49-F238E27FC236}">
                <a16:creationId xmlns:a16="http://schemas.microsoft.com/office/drawing/2014/main" id="{0AC65153-9274-09C0-E897-9F4E50AE8287}"/>
              </a:ext>
            </a:extLst>
          </p:cNvPr>
          <p:cNvGraphicFramePr>
            <a:graphicFrameLocks noGrp="1"/>
          </p:cNvGraphicFramePr>
          <p:nvPr/>
        </p:nvGraphicFramePr>
        <p:xfrm>
          <a:off x="578358" y="4261104"/>
          <a:ext cx="10725150" cy="2082833"/>
        </p:xfrm>
        <a:graphic>
          <a:graphicData uri="http://schemas.openxmlformats.org/drawingml/2006/table">
            <a:tbl>
              <a:tblPr firstRow="1" bandRow="1">
                <a:tableStyleId>{5C22544A-7EE6-4342-B048-85BDC9FD1C3A}</a:tableStyleId>
              </a:tblPr>
              <a:tblGrid>
                <a:gridCol w="1873841">
                  <a:extLst>
                    <a:ext uri="{9D8B030D-6E8A-4147-A177-3AD203B41FA5}">
                      <a16:colId xmlns:a16="http://schemas.microsoft.com/office/drawing/2014/main" val="3954906567"/>
                    </a:ext>
                  </a:extLst>
                </a:gridCol>
                <a:gridCol w="1949171">
                  <a:extLst>
                    <a:ext uri="{9D8B030D-6E8A-4147-A177-3AD203B41FA5}">
                      <a16:colId xmlns:a16="http://schemas.microsoft.com/office/drawing/2014/main" val="1248303511"/>
                    </a:ext>
                  </a:extLst>
                </a:gridCol>
                <a:gridCol w="1045208">
                  <a:extLst>
                    <a:ext uri="{9D8B030D-6E8A-4147-A177-3AD203B41FA5}">
                      <a16:colId xmlns:a16="http://schemas.microsoft.com/office/drawing/2014/main" val="892788067"/>
                    </a:ext>
                  </a:extLst>
                </a:gridCol>
                <a:gridCol w="979294">
                  <a:extLst>
                    <a:ext uri="{9D8B030D-6E8A-4147-A177-3AD203B41FA5}">
                      <a16:colId xmlns:a16="http://schemas.microsoft.com/office/drawing/2014/main" val="1938854511"/>
                    </a:ext>
                  </a:extLst>
                </a:gridCol>
                <a:gridCol w="960461">
                  <a:extLst>
                    <a:ext uri="{9D8B030D-6E8A-4147-A177-3AD203B41FA5}">
                      <a16:colId xmlns:a16="http://schemas.microsoft.com/office/drawing/2014/main" val="3189432525"/>
                    </a:ext>
                  </a:extLst>
                </a:gridCol>
                <a:gridCol w="998126">
                  <a:extLst>
                    <a:ext uri="{9D8B030D-6E8A-4147-A177-3AD203B41FA5}">
                      <a16:colId xmlns:a16="http://schemas.microsoft.com/office/drawing/2014/main" val="2434127255"/>
                    </a:ext>
                  </a:extLst>
                </a:gridCol>
                <a:gridCol w="1252366">
                  <a:extLst>
                    <a:ext uri="{9D8B030D-6E8A-4147-A177-3AD203B41FA5}">
                      <a16:colId xmlns:a16="http://schemas.microsoft.com/office/drawing/2014/main" val="280925765"/>
                    </a:ext>
                  </a:extLst>
                </a:gridCol>
                <a:gridCol w="1666683">
                  <a:extLst>
                    <a:ext uri="{9D8B030D-6E8A-4147-A177-3AD203B41FA5}">
                      <a16:colId xmlns:a16="http://schemas.microsoft.com/office/drawing/2014/main" val="2862320926"/>
                    </a:ext>
                  </a:extLst>
                </a:gridCol>
              </a:tblGrid>
              <a:tr h="494333">
                <a:tc rowSpan="2">
                  <a:txBody>
                    <a:bodyPr/>
                    <a:lstStyle/>
                    <a:p>
                      <a:pPr algn="ctr"/>
                      <a:r>
                        <a:rPr lang="en-GB" sz="1400" dirty="0">
                          <a:latin typeface="Times New Roman" panose="02020603050405020304" pitchFamily="18" charset="0"/>
                          <a:cs typeface="Times New Roman" panose="02020603050405020304" pitchFamily="18" charset="0"/>
                        </a:rPr>
                        <a:t>Sensor Name</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Vehicle</a:t>
                      </a:r>
                      <a:endParaRPr lang="en-IN" sz="1400" dirty="0">
                        <a:latin typeface="Times New Roman" panose="02020603050405020304" pitchFamily="18" charset="0"/>
                        <a:cs typeface="Times New Roman" panose="02020603050405020304" pitchFamily="18" charset="0"/>
                      </a:endParaRPr>
                    </a:p>
                  </a:txBody>
                  <a:tcPr anchor="ctr"/>
                </a:tc>
                <a:tc gridSpan="4">
                  <a:txBody>
                    <a:bodyPr/>
                    <a:lstStyle/>
                    <a:p>
                      <a:pPr algn="ctr"/>
                      <a:r>
                        <a:rPr lang="en-GB" sz="1400" dirty="0">
                          <a:latin typeface="Times New Roman" panose="02020603050405020304" pitchFamily="18" charset="0"/>
                          <a:cs typeface="Times New Roman" panose="02020603050405020304" pitchFamily="18" charset="0"/>
                        </a:rPr>
                        <a:t>Resolution</a:t>
                      </a:r>
                      <a:endParaRPr lang="en-IN" sz="1400" dirty="0">
                        <a:latin typeface="Times New Roman" panose="02020603050405020304" pitchFamily="18" charset="0"/>
                        <a:cs typeface="Times New Roman" panose="02020603050405020304" pitchFamily="18" charset="0"/>
                      </a:endParaRPr>
                    </a:p>
                  </a:txBody>
                  <a:tcPr anchor="ctr"/>
                </a:tc>
                <a:tc hMerge="1">
                  <a:txBody>
                    <a:bodyPr/>
                    <a:lstStyle/>
                    <a:p>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hMerge="1">
                  <a:txBody>
                    <a:bodyPr/>
                    <a:lstStyle/>
                    <a:p>
                      <a:pPr algn="ctr"/>
                      <a:endParaRPr lang="en-IN" sz="1400" dirty="0">
                        <a:latin typeface="Times New Roman" panose="02020603050405020304" pitchFamily="18" charset="0"/>
                        <a:cs typeface="Times New Roman" panose="02020603050405020304" pitchFamily="18" charset="0"/>
                      </a:endParaRPr>
                    </a:p>
                  </a:txBody>
                  <a:tcPr/>
                </a:tc>
                <a:tc rowSpan="2">
                  <a:txBody>
                    <a:bodyPr/>
                    <a:lstStyle/>
                    <a:p>
                      <a:pPr algn="ctr"/>
                      <a:r>
                        <a:rPr lang="en-GB" sz="1400" dirty="0">
                          <a:latin typeface="Times New Roman" panose="02020603050405020304" pitchFamily="18" charset="0"/>
                          <a:cs typeface="Times New Roman" panose="02020603050405020304" pitchFamily="18" charset="0"/>
                        </a:rPr>
                        <a:t>Wavelength (µm)</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Swath width (km)</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3547769"/>
                  </a:ext>
                </a:extLst>
              </a:tr>
              <a:tr h="385624">
                <a:tc vMerge="1">
                  <a:txBody>
                    <a:bodyPr/>
                    <a:lstStyle/>
                    <a:p>
                      <a:endParaRPr lang="en-IN"/>
                    </a:p>
                  </a:txBody>
                  <a:tcPr/>
                </a:tc>
                <a:tc vMerge="1">
                  <a:txBody>
                    <a:bodyPr/>
                    <a:lstStyle/>
                    <a:p>
                      <a:endParaRPr lang="en-IN"/>
                    </a:p>
                  </a:txBody>
                  <a:tcPr/>
                </a:tc>
                <a:tc>
                  <a:txBody>
                    <a:bodyPr/>
                    <a:lstStyle/>
                    <a:p>
                      <a:pPr algn="ctr"/>
                      <a:r>
                        <a:rPr lang="en-GB" sz="1200" dirty="0">
                          <a:latin typeface="Times New Roman" panose="02020603050405020304" pitchFamily="18" charset="0"/>
                          <a:cs typeface="Times New Roman" panose="02020603050405020304" pitchFamily="18" charset="0"/>
                        </a:rPr>
                        <a:t>Spatial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Spectral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Temporal</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GB" sz="1200" dirty="0">
                          <a:latin typeface="Times New Roman" panose="02020603050405020304" pitchFamily="18" charset="0"/>
                          <a:cs typeface="Times New Roman" panose="02020603050405020304" pitchFamily="18" charset="0"/>
                        </a:rPr>
                        <a:t>Radiometric</a:t>
                      </a:r>
                      <a:endParaRPr lang="en-IN" sz="1200" dirty="0">
                        <a:latin typeface="Times New Roman" panose="02020603050405020304" pitchFamily="18" charset="0"/>
                        <a:cs typeface="Times New Roman" panose="02020603050405020304" pitchFamily="18" charset="0"/>
                      </a:endParaRPr>
                    </a:p>
                  </a:txBody>
                  <a:tcPr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58789725"/>
                  </a:ext>
                </a:extLst>
              </a:tr>
              <a:tr h="601438">
                <a:tc rowSpan="2">
                  <a:txBody>
                    <a:bodyPr/>
                    <a:lstStyle/>
                    <a:p>
                      <a:pPr algn="ctr"/>
                      <a:r>
                        <a:rPr lang="en-GB" sz="1400" b="1" dirty="0">
                          <a:latin typeface="Times New Roman" panose="02020603050405020304" pitchFamily="18" charset="0"/>
                          <a:cs typeface="Times New Roman" panose="02020603050405020304" pitchFamily="18" charset="0"/>
                        </a:rPr>
                        <a:t>High Resolution Imager (</a:t>
                      </a:r>
                      <a:r>
                        <a:rPr lang="en-GB" sz="1400" b="1" dirty="0" err="1">
                          <a:latin typeface="Times New Roman" panose="02020603050405020304" pitchFamily="18" charset="0"/>
                          <a:cs typeface="Times New Roman" panose="02020603050405020304" pitchFamily="18" charset="0"/>
                        </a:rPr>
                        <a:t>HiRI</a:t>
                      </a:r>
                      <a:r>
                        <a:rPr lang="en-GB" sz="1400" b="1" dirty="0">
                          <a:latin typeface="Times New Roman" panose="02020603050405020304" pitchFamily="18" charset="0"/>
                          <a:cs typeface="Times New Roman" panose="02020603050405020304" pitchFamily="18" charset="0"/>
                        </a:rPr>
                        <a:t>)</a:t>
                      </a:r>
                    </a:p>
                    <a:p>
                      <a:pPr algn="ctr"/>
                      <a:r>
                        <a:rPr lang="en-IN" sz="1400" b="0" dirty="0">
                          <a:latin typeface="Times New Roman" panose="02020603050405020304" pitchFamily="18" charset="0"/>
                          <a:cs typeface="Times New Roman" panose="02020603050405020304" pitchFamily="18" charset="0"/>
                        </a:rPr>
                        <a:t>(France)</a:t>
                      </a:r>
                      <a:r>
                        <a:rPr lang="en-IN" sz="1400" b="1" dirty="0">
                          <a:latin typeface="Times New Roman" panose="02020603050405020304" pitchFamily="18" charset="0"/>
                          <a:cs typeface="Times New Roman" panose="02020603050405020304" pitchFamily="18" charset="0"/>
                        </a:rPr>
                        <a:t> </a:t>
                      </a:r>
                    </a:p>
                    <a:p>
                      <a:pPr algn="ct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lgn="l"/>
                      <a:r>
                        <a:rPr lang="en-GB" sz="1400" dirty="0">
                          <a:latin typeface="Times New Roman" panose="02020603050405020304" pitchFamily="18" charset="0"/>
                          <a:cs typeface="Times New Roman" panose="02020603050405020304" pitchFamily="18" charset="0"/>
                        </a:rPr>
                        <a:t>Pleiades 1A</a:t>
                      </a:r>
                    </a:p>
                    <a:p>
                      <a:pPr algn="l"/>
                      <a:r>
                        <a:rPr lang="en-GB" sz="1400" dirty="0">
                          <a:latin typeface="Times New Roman" panose="02020603050405020304" pitchFamily="18" charset="0"/>
                          <a:cs typeface="Times New Roman" panose="02020603050405020304" pitchFamily="18" charset="0"/>
                        </a:rPr>
                        <a:t>(2011-Present)</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Pan; 0.5m</a:t>
                      </a:r>
                    </a:p>
                    <a:p>
                      <a:pPr algn="ctr"/>
                      <a:r>
                        <a:rPr lang="en-GB" sz="1400" dirty="0">
                          <a:latin typeface="Times New Roman" panose="02020603050405020304" pitchFamily="18" charset="0"/>
                          <a:cs typeface="Times New Roman" panose="02020603050405020304" pitchFamily="18" charset="0"/>
                        </a:rPr>
                        <a:t>MS; 2m</a:t>
                      </a: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5 Bands</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1 Day</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12 Bits</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0.48-0.94</a:t>
                      </a:r>
                      <a:endParaRPr lang="en-IN" sz="14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GB" sz="1400" dirty="0">
                          <a:latin typeface="Times New Roman" panose="02020603050405020304" pitchFamily="18" charset="0"/>
                          <a:cs typeface="Times New Roman" panose="02020603050405020304" pitchFamily="18" charset="0"/>
                        </a:rPr>
                        <a:t>20-53</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42782451"/>
                  </a:ext>
                </a:extLst>
              </a:tr>
              <a:tr h="601438">
                <a:tc vMerge="1">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GB" sz="1400" dirty="0">
                          <a:latin typeface="Times New Roman" panose="02020603050405020304" pitchFamily="18" charset="0"/>
                          <a:cs typeface="Times New Roman" panose="02020603050405020304" pitchFamily="18" charset="0"/>
                        </a:rPr>
                        <a:t>Pleiades 1B</a:t>
                      </a:r>
                    </a:p>
                    <a:p>
                      <a:pPr algn="l"/>
                      <a:r>
                        <a:rPr lang="en-GB" sz="1400" dirty="0">
                          <a:latin typeface="Times New Roman" panose="02020603050405020304" pitchFamily="18" charset="0"/>
                          <a:cs typeface="Times New Roman" panose="02020603050405020304" pitchFamily="18" charset="0"/>
                        </a:rPr>
                        <a:t>(2012-Present)</a:t>
                      </a:r>
                      <a:endParaRPr lang="en-IN" sz="1400" dirty="0">
                        <a:latin typeface="Times New Roman" panose="02020603050405020304" pitchFamily="18" charset="0"/>
                        <a:cs typeface="Times New Roman" panose="02020603050405020304" pitchFamily="18" charset="0"/>
                      </a:endParaRPr>
                    </a:p>
                  </a:txBody>
                  <a:tcPr anchor="ctr"/>
                </a:tc>
                <a:tc vMerge="1">
                  <a:txBody>
                    <a:bodyPr/>
                    <a:lstStyle/>
                    <a:p>
                      <a:endParaRPr lang="en-IN" sz="1400" dirty="0">
                        <a:latin typeface="Times New Roman" panose="02020603050405020304" pitchFamily="18" charset="0"/>
                        <a:cs typeface="Times New Roman" panose="02020603050405020304" pitchFamily="18" charset="0"/>
                      </a:endParaRPr>
                    </a:p>
                  </a:txBody>
                  <a:tcPr/>
                </a:tc>
                <a:tc vMerge="1">
                  <a:txBody>
                    <a:bodyPr/>
                    <a:lstStyle/>
                    <a:p>
                      <a:endParaRPr lang="en-IN" sz="1400" dirty="0">
                        <a:latin typeface="Times New Roman" panose="02020603050405020304" pitchFamily="18" charset="0"/>
                        <a:cs typeface="Times New Roman" panose="02020603050405020304" pitchFamily="18" charset="0"/>
                      </a:endParaRPr>
                    </a:p>
                  </a:txBody>
                  <a:tcPr/>
                </a:tc>
                <a:tc vMerge="1">
                  <a:txBody>
                    <a:bodyPr/>
                    <a:lstStyle/>
                    <a:p>
                      <a:endParaRPr lang="en-IN" sz="1400" dirty="0">
                        <a:latin typeface="Times New Roman" panose="02020603050405020304" pitchFamily="18" charset="0"/>
                        <a:cs typeface="Times New Roman" panose="02020603050405020304" pitchFamily="18" charset="0"/>
                      </a:endParaRPr>
                    </a:p>
                  </a:txBody>
                  <a:tcPr/>
                </a:tc>
                <a:tc vMerge="1">
                  <a:txBody>
                    <a:bodyPr/>
                    <a:lstStyle/>
                    <a:p>
                      <a:endParaRPr lang="en-IN" sz="1400" dirty="0">
                        <a:latin typeface="Times New Roman" panose="02020603050405020304" pitchFamily="18" charset="0"/>
                        <a:cs typeface="Times New Roman" panose="02020603050405020304" pitchFamily="18" charset="0"/>
                      </a:endParaRPr>
                    </a:p>
                  </a:txBody>
                  <a:tcPr/>
                </a:tc>
                <a:tc vMerge="1">
                  <a:txBody>
                    <a:bodyPr/>
                    <a:lstStyle/>
                    <a:p>
                      <a:endParaRPr lang="en-IN" sz="1400" dirty="0">
                        <a:latin typeface="Times New Roman" panose="02020603050405020304" pitchFamily="18" charset="0"/>
                        <a:cs typeface="Times New Roman" panose="02020603050405020304" pitchFamily="18" charset="0"/>
                      </a:endParaRPr>
                    </a:p>
                  </a:txBody>
                  <a:tcPr/>
                </a:tc>
                <a:tc vMerge="1">
                  <a:txBody>
                    <a:bodyPr/>
                    <a:lstStyle/>
                    <a:p>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73178283"/>
                  </a:ext>
                </a:extLst>
              </a:tr>
            </a:tbl>
          </a:graphicData>
        </a:graphic>
      </p:graphicFrame>
      <p:sp>
        <p:nvSpPr>
          <p:cNvPr id="8" name="TextBox 7">
            <a:extLst>
              <a:ext uri="{FF2B5EF4-FFF2-40B4-BE49-F238E27FC236}">
                <a16:creationId xmlns:a16="http://schemas.microsoft.com/office/drawing/2014/main" id="{1A687DB8-65B1-0656-FE79-2B1A70705D7E}"/>
              </a:ext>
            </a:extLst>
          </p:cNvPr>
          <p:cNvSpPr txBox="1"/>
          <p:nvPr/>
        </p:nvSpPr>
        <p:spPr>
          <a:xfrm>
            <a:off x="578358" y="3701535"/>
            <a:ext cx="3243834" cy="369332"/>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High Resolution Imager (</a:t>
            </a:r>
            <a:r>
              <a:rPr lang="en-GB" b="1" dirty="0" err="1">
                <a:latin typeface="Times New Roman" panose="02020603050405020304" pitchFamily="18" charset="0"/>
                <a:cs typeface="Times New Roman" panose="02020603050405020304" pitchFamily="18" charset="0"/>
              </a:rPr>
              <a:t>HiRI</a:t>
            </a:r>
            <a:r>
              <a:rPr lang="en-GB" b="1"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60333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DAB0A822-D85C-DF2B-ECD9-38FB744A3B1E}"/>
              </a:ext>
            </a:extLst>
          </p:cNvPr>
          <p:cNvGraphicFramePr>
            <a:graphicFrameLocks noChangeAspect="1"/>
          </p:cNvGraphicFramePr>
          <p:nvPr/>
        </p:nvGraphicFramePr>
        <p:xfrm>
          <a:off x="5481638" y="3232150"/>
          <a:ext cx="1228725" cy="390525"/>
        </p:xfrm>
        <a:graphic>
          <a:graphicData uri="http://schemas.openxmlformats.org/presentationml/2006/ole">
            <mc:AlternateContent xmlns:mc="http://schemas.openxmlformats.org/markup-compatibility/2006">
              <mc:Choice xmlns:v="urn:schemas-microsoft-com:vml" Requires="v">
                <p:oleObj name="Worksheet" r:id="rId2" imgW="1228785" imgH="390369" progId="Excel.Sheet.12">
                  <p:embed/>
                </p:oleObj>
              </mc:Choice>
              <mc:Fallback>
                <p:oleObj name="Worksheet" r:id="rId2" imgW="1228785" imgH="390369" progId="Excel.Sheet.12">
                  <p:embed/>
                  <p:pic>
                    <p:nvPicPr>
                      <p:cNvPr id="3" name="Object 2">
                        <a:extLst>
                          <a:ext uri="{FF2B5EF4-FFF2-40B4-BE49-F238E27FC236}">
                            <a16:creationId xmlns:a16="http://schemas.microsoft.com/office/drawing/2014/main" id="{DAB0A822-D85C-DF2B-ECD9-38FB744A3B1E}"/>
                          </a:ext>
                        </a:extLst>
                      </p:cNvPr>
                      <p:cNvPicPr/>
                      <p:nvPr/>
                    </p:nvPicPr>
                    <p:blipFill>
                      <a:blip r:embed="rId3"/>
                      <a:stretch>
                        <a:fillRect/>
                      </a:stretch>
                    </p:blipFill>
                    <p:spPr>
                      <a:xfrm>
                        <a:off x="5481638" y="3232150"/>
                        <a:ext cx="1228725" cy="390525"/>
                      </a:xfrm>
                      <a:prstGeom prst="rect">
                        <a:avLst/>
                      </a:prstGeom>
                    </p:spPr>
                  </p:pic>
                </p:oleObj>
              </mc:Fallback>
            </mc:AlternateContent>
          </a:graphicData>
        </a:graphic>
      </p:graphicFrame>
      <p:graphicFrame>
        <p:nvGraphicFramePr>
          <p:cNvPr id="4" name="Table 3">
            <a:extLst>
              <a:ext uri="{FF2B5EF4-FFF2-40B4-BE49-F238E27FC236}">
                <a16:creationId xmlns:a16="http://schemas.microsoft.com/office/drawing/2014/main" id="{0329D924-344F-96EE-97DB-C0AE285CB3FE}"/>
              </a:ext>
            </a:extLst>
          </p:cNvPr>
          <p:cNvGraphicFramePr>
            <a:graphicFrameLocks noGrp="1"/>
          </p:cNvGraphicFramePr>
          <p:nvPr/>
        </p:nvGraphicFramePr>
        <p:xfrm>
          <a:off x="548640" y="724093"/>
          <a:ext cx="11274553" cy="5746679"/>
        </p:xfrm>
        <a:graphic>
          <a:graphicData uri="http://schemas.openxmlformats.org/drawingml/2006/table">
            <a:tbl>
              <a:tblPr firstRow="1" bandRow="1">
                <a:tableStyleId>{5C22544A-7EE6-4342-B048-85BDC9FD1C3A}</a:tableStyleId>
              </a:tblPr>
              <a:tblGrid>
                <a:gridCol w="2964743">
                  <a:extLst>
                    <a:ext uri="{9D8B030D-6E8A-4147-A177-3AD203B41FA5}">
                      <a16:colId xmlns:a16="http://schemas.microsoft.com/office/drawing/2014/main" val="2661892085"/>
                    </a:ext>
                  </a:extLst>
                </a:gridCol>
                <a:gridCol w="4551626">
                  <a:extLst>
                    <a:ext uri="{9D8B030D-6E8A-4147-A177-3AD203B41FA5}">
                      <a16:colId xmlns:a16="http://schemas.microsoft.com/office/drawing/2014/main" val="3121148969"/>
                    </a:ext>
                  </a:extLst>
                </a:gridCol>
                <a:gridCol w="3758184">
                  <a:extLst>
                    <a:ext uri="{9D8B030D-6E8A-4147-A177-3AD203B41FA5}">
                      <a16:colId xmlns:a16="http://schemas.microsoft.com/office/drawing/2014/main" val="1810375997"/>
                    </a:ext>
                  </a:extLst>
                </a:gridCol>
              </a:tblGrid>
              <a:tr h="484632">
                <a:tc>
                  <a:txBody>
                    <a:bodyPr/>
                    <a:lstStyle/>
                    <a:p>
                      <a:pPr algn="ctr">
                        <a:buNone/>
                      </a:pPr>
                      <a:r>
                        <a:rPr lang="en-IN" sz="1800" b="1" dirty="0">
                          <a:latin typeface="Times New Roman" panose="02020603050405020304" pitchFamily="18" charset="0"/>
                          <a:cs typeface="Times New Roman" panose="02020603050405020304" pitchFamily="18" charset="0"/>
                        </a:rPr>
                        <a:t>Name of Sensors</a:t>
                      </a:r>
                      <a:endParaRPr lang="en-IN" sz="18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algn="ctr">
                        <a:buNone/>
                      </a:pPr>
                      <a:r>
                        <a:rPr lang="en-IN" sz="1800" b="1" dirty="0">
                          <a:latin typeface="Times New Roman" panose="02020603050405020304" pitchFamily="18" charset="0"/>
                          <a:cs typeface="Times New Roman" panose="02020603050405020304" pitchFamily="18" charset="0"/>
                        </a:rPr>
                        <a:t>Special Applications</a:t>
                      </a:r>
                      <a:endParaRPr lang="en-IN" sz="18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latin typeface="Times New Roman" panose="02020603050405020304" pitchFamily="18" charset="0"/>
                          <a:cs typeface="Times New Roman" panose="02020603050405020304" pitchFamily="18" charset="0"/>
                        </a:rPr>
                        <a:t>Common Applications</a:t>
                      </a:r>
                      <a:endParaRPr lang="en-IN" sz="1800" dirty="0">
                        <a:latin typeface="Times New Roman" panose="02020603050405020304" pitchFamily="18" charset="0"/>
                        <a:cs typeface="Times New Roman" panose="02020603050405020304" pitchFamily="18" charset="0"/>
                      </a:endParaRPr>
                    </a:p>
                  </a:txBody>
                  <a:tcPr marL="79115" marR="79115" marT="39558" marB="39558" anchor="ctr"/>
                </a:tc>
                <a:extLst>
                  <a:ext uri="{0D108BD9-81ED-4DB2-BD59-A6C34878D82A}">
                    <a16:rowId xmlns:a16="http://schemas.microsoft.com/office/drawing/2014/main" val="3236743071"/>
                  </a:ext>
                </a:extLst>
              </a:tr>
              <a:tr h="766379">
                <a:tc>
                  <a:txBody>
                    <a:bodyPr/>
                    <a:lstStyle/>
                    <a:p>
                      <a:pPr>
                        <a:buNone/>
                      </a:pPr>
                      <a:r>
                        <a:rPr lang="en-IN" sz="1600" b="1" dirty="0" err="1">
                          <a:latin typeface="Times New Roman" panose="02020603050405020304" pitchFamily="18" charset="0"/>
                          <a:cs typeface="Times New Roman" panose="02020603050405020304" pitchFamily="18" charset="0"/>
                        </a:rPr>
                        <a:t>PlanetScope</a:t>
                      </a:r>
                      <a:r>
                        <a:rPr lang="en-IN" sz="1600" b="1" dirty="0">
                          <a:latin typeface="Times New Roman" panose="02020603050405020304" pitchFamily="18" charset="0"/>
                          <a:cs typeface="Times New Roman" panose="02020603050405020304" pitchFamily="18" charset="0"/>
                        </a:rPr>
                        <a:t> Camera</a:t>
                      </a:r>
                      <a:endParaRPr lang="en-IN" sz="16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Mining: land reclamation,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Slope monitoring</a:t>
                      </a:r>
                    </a:p>
                  </a:txBody>
                  <a:tcPr marL="79115" marR="79115" marT="39558" marB="39558" anchor="ctr"/>
                </a:tc>
                <a:tc rowSpan="6">
                  <a:txBody>
                    <a:bodyPr/>
                    <a:lstStyle/>
                    <a:p>
                      <a:pPr marL="342900" indent="-342900">
                        <a:buFont typeface="+mj-lt"/>
                        <a:buAutoNum type="arabicPeriod"/>
                      </a:pPr>
                      <a:r>
                        <a:rPr lang="en-GB" sz="1600" b="1" dirty="0">
                          <a:latin typeface="Times New Roman" panose="02020603050405020304" pitchFamily="18" charset="0"/>
                          <a:cs typeface="Times New Roman" panose="02020603050405020304" pitchFamily="18" charset="0"/>
                        </a:rPr>
                        <a:t>Agriculture</a:t>
                      </a:r>
                      <a:r>
                        <a:rPr lang="en-GB" sz="1600" dirty="0">
                          <a:latin typeface="Times New Roman" panose="02020603050405020304" pitchFamily="18" charset="0"/>
                          <a:cs typeface="Times New Roman" panose="02020603050405020304" pitchFamily="18" charset="0"/>
                        </a:rPr>
                        <a:t> – Crop health monitoring, precision farming, yield estimation.</a:t>
                      </a:r>
                    </a:p>
                    <a:p>
                      <a:pPr marL="342900" indent="-342900">
                        <a:buFont typeface="+mj-lt"/>
                        <a:buAutoNum type="arabicPeriod"/>
                      </a:pPr>
                      <a:endParaRPr lang="en-GB" sz="16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GB" sz="1600" b="1" dirty="0">
                          <a:latin typeface="Times New Roman" panose="02020603050405020304" pitchFamily="18" charset="0"/>
                          <a:cs typeface="Times New Roman" panose="02020603050405020304" pitchFamily="18" charset="0"/>
                        </a:rPr>
                        <a:t>Forestry</a:t>
                      </a:r>
                      <a:r>
                        <a:rPr lang="en-GB" sz="1600" dirty="0">
                          <a:latin typeface="Times New Roman" panose="02020603050405020304" pitchFamily="18" charset="0"/>
                          <a:cs typeface="Times New Roman" panose="02020603050405020304" pitchFamily="18" charset="0"/>
                        </a:rPr>
                        <a:t> – Deforestation detection, forest health and biomass assessment.</a:t>
                      </a:r>
                    </a:p>
                    <a:p>
                      <a:pPr marL="342900" indent="-342900">
                        <a:buFont typeface="+mj-lt"/>
                        <a:buAutoNum type="arabicPeriod"/>
                      </a:pPr>
                      <a:endParaRPr lang="en-GB" sz="16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GB" sz="1600" b="1" dirty="0">
                          <a:latin typeface="Times New Roman" panose="02020603050405020304" pitchFamily="18" charset="0"/>
                          <a:cs typeface="Times New Roman" panose="02020603050405020304" pitchFamily="18" charset="0"/>
                        </a:rPr>
                        <a:t>Environmental Monitoring</a:t>
                      </a:r>
                      <a:r>
                        <a:rPr lang="en-GB" sz="1600" dirty="0">
                          <a:latin typeface="Times New Roman" panose="02020603050405020304" pitchFamily="18" charset="0"/>
                          <a:cs typeface="Times New Roman" panose="02020603050405020304" pitchFamily="18" charset="0"/>
                        </a:rPr>
                        <a:t> – Tracking floods, droughts, pollution, and land degradation.</a:t>
                      </a:r>
                    </a:p>
                    <a:p>
                      <a:pPr marL="342900" indent="-342900">
                        <a:buFont typeface="+mj-lt"/>
                        <a:buAutoNum type="arabicPeriod"/>
                      </a:pPr>
                      <a:endParaRPr lang="en-GB" sz="16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GB" sz="1600" b="1" dirty="0">
                          <a:latin typeface="Times New Roman" panose="02020603050405020304" pitchFamily="18" charset="0"/>
                          <a:cs typeface="Times New Roman" panose="02020603050405020304" pitchFamily="18" charset="0"/>
                        </a:rPr>
                        <a:t>Disaster Monitoring/Management</a:t>
                      </a:r>
                      <a:r>
                        <a:rPr lang="en-GB" sz="1600" dirty="0">
                          <a:latin typeface="Times New Roman" panose="02020603050405020304" pitchFamily="18" charset="0"/>
                          <a:cs typeface="Times New Roman" panose="02020603050405020304" pitchFamily="18" charset="0"/>
                        </a:rPr>
                        <a:t> – Assessing and mapping natural disasters like floods, landslides, and fires.</a:t>
                      </a:r>
                    </a:p>
                    <a:p>
                      <a:pPr marL="342900" indent="-342900">
                        <a:buFont typeface="+mj-lt"/>
                        <a:buAutoNum type="arabicPeriod"/>
                      </a:pPr>
                      <a:endParaRPr lang="en-GB" sz="16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GB" sz="1600" b="1" dirty="0">
                          <a:latin typeface="Times New Roman" panose="02020603050405020304" pitchFamily="18" charset="0"/>
                          <a:cs typeface="Times New Roman" panose="02020603050405020304" pitchFamily="18" charset="0"/>
                        </a:rPr>
                        <a:t>Land Use / Land Cover Mapping</a:t>
                      </a:r>
                      <a:r>
                        <a:rPr lang="en-GB" sz="1600" dirty="0">
                          <a:latin typeface="Times New Roman" panose="02020603050405020304" pitchFamily="18" charset="0"/>
                          <a:cs typeface="Times New Roman" panose="02020603050405020304" pitchFamily="18" charset="0"/>
                        </a:rPr>
                        <a:t> – Identifying changes in urban areas, vegetation, and surface features.</a:t>
                      </a:r>
                    </a:p>
                    <a:p>
                      <a:pPr>
                        <a:buNone/>
                      </a:pPr>
                      <a:endParaRPr lang="en-IN" sz="1600" dirty="0">
                        <a:latin typeface="Times New Roman" panose="02020603050405020304" pitchFamily="18" charset="0"/>
                        <a:cs typeface="Times New Roman" panose="02020603050405020304" pitchFamily="18" charset="0"/>
                      </a:endParaRPr>
                    </a:p>
                  </a:txBody>
                  <a:tcPr marL="79115" marR="79115" marT="39558" marB="39558" anchor="ctr"/>
                </a:tc>
                <a:extLst>
                  <a:ext uri="{0D108BD9-81ED-4DB2-BD59-A6C34878D82A}">
                    <a16:rowId xmlns:a16="http://schemas.microsoft.com/office/drawing/2014/main" val="1993531814"/>
                  </a:ext>
                </a:extLst>
              </a:tr>
              <a:tr h="967547">
                <a:tc>
                  <a:txBody>
                    <a:bodyPr/>
                    <a:lstStyle/>
                    <a:p>
                      <a:pPr>
                        <a:buNone/>
                      </a:pPr>
                      <a:r>
                        <a:rPr lang="en-IN" sz="1600" b="1" dirty="0" err="1">
                          <a:latin typeface="Times New Roman" panose="02020603050405020304" pitchFamily="18" charset="0"/>
                          <a:cs typeface="Times New Roman" panose="02020603050405020304" pitchFamily="18" charset="0"/>
                        </a:rPr>
                        <a:t>SkySat</a:t>
                      </a:r>
                      <a:r>
                        <a:rPr lang="en-IN" sz="1600" b="1" dirty="0">
                          <a:latin typeface="Times New Roman" panose="02020603050405020304" pitchFamily="18" charset="0"/>
                          <a:cs typeface="Times New Roman" panose="02020603050405020304" pitchFamily="18" charset="0"/>
                        </a:rPr>
                        <a:t> Camera</a:t>
                      </a:r>
                      <a:endParaRPr lang="en-IN" sz="16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Urban planning, </a:t>
                      </a:r>
                    </a:p>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Infrastructure monitoring, </a:t>
                      </a:r>
                    </a:p>
                    <a:p>
                      <a:pPr marL="285750" indent="-285750">
                        <a:buFont typeface="Arial" panose="020B0604020202020204" pitchFamily="34" charset="0"/>
                        <a:buChar char="•"/>
                      </a:pPr>
                      <a:r>
                        <a:rPr lang="en-GB" sz="1600" dirty="0" err="1">
                          <a:latin typeface="Times New Roman" panose="02020603050405020304" pitchFamily="18" charset="0"/>
                          <a:cs typeface="Times New Roman" panose="02020603050405020304" pitchFamily="18" charset="0"/>
                        </a:rPr>
                        <a:t>Defense</a:t>
                      </a:r>
                      <a:r>
                        <a:rPr lang="en-GB" sz="1600" dirty="0">
                          <a:latin typeface="Times New Roman" panose="02020603050405020304" pitchFamily="18" charset="0"/>
                          <a:cs typeface="Times New Roman" panose="02020603050405020304" pitchFamily="18" charset="0"/>
                        </a:rPr>
                        <a:t> &amp; security, </a:t>
                      </a:r>
                    </a:p>
                  </a:txBody>
                  <a:tcPr marL="79115" marR="79115" marT="39558" marB="39558" anchor="ctr"/>
                </a:tc>
                <a:tc vMerge="1">
                  <a:txBody>
                    <a:bodyPr/>
                    <a:lstStyle/>
                    <a:p>
                      <a:pPr>
                        <a:buNone/>
                      </a:pPr>
                      <a:endParaRPr lang="en-GB" sz="1600" dirty="0"/>
                    </a:p>
                  </a:txBody>
                  <a:tcPr marL="79115" marR="79115" marT="39558" marB="39558" anchor="ctr"/>
                </a:tc>
                <a:extLst>
                  <a:ext uri="{0D108BD9-81ED-4DB2-BD59-A6C34878D82A}">
                    <a16:rowId xmlns:a16="http://schemas.microsoft.com/office/drawing/2014/main" val="2594998976"/>
                  </a:ext>
                </a:extLst>
              </a:tr>
              <a:tr h="861253">
                <a:tc>
                  <a:txBody>
                    <a:bodyPr/>
                    <a:lstStyle/>
                    <a:p>
                      <a:pPr>
                        <a:buNone/>
                      </a:pPr>
                      <a:r>
                        <a:rPr lang="en-IN" sz="1600" b="1" dirty="0" err="1">
                          <a:latin typeface="Times New Roman" panose="02020603050405020304" pitchFamily="18" charset="0"/>
                          <a:cs typeface="Times New Roman" panose="02020603050405020304" pitchFamily="18" charset="0"/>
                        </a:rPr>
                        <a:t>GeoEye</a:t>
                      </a:r>
                      <a:r>
                        <a:rPr lang="en-IN" sz="1600" b="1" dirty="0">
                          <a:latin typeface="Times New Roman" panose="02020603050405020304" pitchFamily="18" charset="0"/>
                          <a:cs typeface="Times New Roman" panose="02020603050405020304" pitchFamily="18" charset="0"/>
                        </a:rPr>
                        <a:t> Imaging System</a:t>
                      </a:r>
                      <a:endParaRPr lang="en-IN" sz="16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High-precision mapping &amp; surveying,  </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&amp; intelligence operations.</a:t>
                      </a:r>
                      <a:endParaRPr lang="en-GB" sz="1600" dirty="0">
                        <a:latin typeface="Times New Roman" panose="02020603050405020304" pitchFamily="18" charset="0"/>
                        <a:cs typeface="Times New Roman" panose="02020603050405020304" pitchFamily="18" charset="0"/>
                      </a:endParaRPr>
                    </a:p>
                  </a:txBody>
                  <a:tcPr marL="79115" marR="79115" marT="39558" marB="39558" anchor="ctr"/>
                </a:tc>
                <a:tc vMerge="1">
                  <a:txBody>
                    <a:bodyPr/>
                    <a:lstStyle/>
                    <a:p>
                      <a:pPr>
                        <a:buNone/>
                      </a:pPr>
                      <a:endParaRPr lang="en-GB" sz="1600" dirty="0"/>
                    </a:p>
                  </a:txBody>
                  <a:tcPr marL="79115" marR="79115" marT="39558" marB="39558" anchor="ctr"/>
                </a:tc>
                <a:extLst>
                  <a:ext uri="{0D108BD9-81ED-4DB2-BD59-A6C34878D82A}">
                    <a16:rowId xmlns:a16="http://schemas.microsoft.com/office/drawing/2014/main" val="4192605258"/>
                  </a:ext>
                </a:extLst>
              </a:tr>
              <a:tr h="950976">
                <a:tc>
                  <a:txBody>
                    <a:bodyPr/>
                    <a:lstStyle/>
                    <a:p>
                      <a:pPr>
                        <a:buNone/>
                      </a:pPr>
                      <a:r>
                        <a:rPr lang="en-GB" sz="1600" b="1" dirty="0">
                          <a:latin typeface="Times New Roman" panose="02020603050405020304" pitchFamily="18" charset="0"/>
                          <a:cs typeface="Times New Roman" panose="02020603050405020304" pitchFamily="18" charset="0"/>
                        </a:rPr>
                        <a:t>High-Resolution Imager</a:t>
                      </a:r>
                      <a:endParaRPr lang="en-GB" sz="16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Geological mapping,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Disaster management</a:t>
                      </a:r>
                    </a:p>
                  </a:txBody>
                  <a:tcPr marL="79115" marR="79115" marT="39558" marB="39558" anchor="ctr"/>
                </a:tc>
                <a:tc vMerge="1">
                  <a:txBody>
                    <a:bodyPr/>
                    <a:lstStyle/>
                    <a:p>
                      <a:pPr>
                        <a:buNone/>
                      </a:pPr>
                      <a:endParaRPr lang="en-IN" sz="1600" dirty="0"/>
                    </a:p>
                  </a:txBody>
                  <a:tcPr marL="79115" marR="79115" marT="39558" marB="39558" anchor="ctr"/>
                </a:tc>
                <a:extLst>
                  <a:ext uri="{0D108BD9-81ED-4DB2-BD59-A6C34878D82A}">
                    <a16:rowId xmlns:a16="http://schemas.microsoft.com/office/drawing/2014/main" val="4288252694"/>
                  </a:ext>
                </a:extLst>
              </a:tr>
              <a:tr h="905256">
                <a:tc>
                  <a:txBody>
                    <a:bodyPr/>
                    <a:lstStyle/>
                    <a:p>
                      <a:pPr>
                        <a:buNone/>
                      </a:pPr>
                      <a:r>
                        <a:rPr lang="en-IN" sz="1600" b="1" dirty="0">
                          <a:latin typeface="Times New Roman" panose="02020603050405020304" pitchFamily="18" charset="0"/>
                          <a:cs typeface="Times New Roman" panose="02020603050405020304" pitchFamily="18" charset="0"/>
                        </a:rPr>
                        <a:t>Remote Sensing Instrument</a:t>
                      </a:r>
                      <a:endParaRPr lang="en-IN" sz="16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Urban/regional planning, </a:t>
                      </a:r>
                    </a:p>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Water resources management, </a:t>
                      </a:r>
                    </a:p>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Detailed mapping</a:t>
                      </a:r>
                    </a:p>
                  </a:txBody>
                  <a:tcPr marL="79115" marR="79115" marT="39558" marB="39558" anchor="ctr"/>
                </a:tc>
                <a:tc vMerge="1">
                  <a:txBody>
                    <a:bodyPr/>
                    <a:lstStyle/>
                    <a:p>
                      <a:pPr>
                        <a:buNone/>
                      </a:pPr>
                      <a:endParaRPr lang="en-GB" sz="1600" dirty="0"/>
                    </a:p>
                  </a:txBody>
                  <a:tcPr marL="79115" marR="79115" marT="39558" marB="39558" anchor="ctr"/>
                </a:tc>
                <a:extLst>
                  <a:ext uri="{0D108BD9-81ED-4DB2-BD59-A6C34878D82A}">
                    <a16:rowId xmlns:a16="http://schemas.microsoft.com/office/drawing/2014/main" val="589173880"/>
                  </a:ext>
                </a:extLst>
              </a:tr>
              <a:tr h="204612">
                <a:tc>
                  <a:txBody>
                    <a:bodyPr/>
                    <a:lstStyle/>
                    <a:p>
                      <a:pPr>
                        <a:buNone/>
                      </a:pPr>
                      <a:r>
                        <a:rPr lang="en-IN" sz="1600" b="1" dirty="0">
                          <a:latin typeface="Times New Roman" panose="02020603050405020304" pitchFamily="18" charset="0"/>
                          <a:cs typeface="Times New Roman" panose="02020603050405020304" pitchFamily="18" charset="0"/>
                        </a:rPr>
                        <a:t>Vegetation Monitoring Instrument </a:t>
                      </a:r>
                      <a:endParaRPr lang="en-IN" sz="1600" dirty="0">
                        <a:latin typeface="Times New Roman" panose="02020603050405020304" pitchFamily="18" charset="0"/>
                        <a:cs typeface="Times New Roman" panose="02020603050405020304" pitchFamily="18" charset="0"/>
                      </a:endParaRPr>
                    </a:p>
                  </a:txBody>
                  <a:tcPr marL="79115" marR="79115" marT="39558" marB="39558" anchor="ctr"/>
                </a:tc>
                <a:tc>
                  <a:txBody>
                    <a:bodyPr/>
                    <a:lstStyle/>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Crop yield prediction, </a:t>
                      </a:r>
                    </a:p>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Drought detection, </a:t>
                      </a:r>
                    </a:p>
                    <a:p>
                      <a:pPr marL="285750" indent="-2857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Vegetation health monitoring</a:t>
                      </a:r>
                    </a:p>
                  </a:txBody>
                  <a:tcPr marL="79115" marR="79115" marT="39558" marB="39558" anchor="ctr"/>
                </a:tc>
                <a:tc vMerge="1">
                  <a:txBody>
                    <a:bodyPr/>
                    <a:lstStyle/>
                    <a:p>
                      <a:pPr>
                        <a:buNone/>
                      </a:pPr>
                      <a:endParaRPr lang="en-GB" sz="1600" dirty="0"/>
                    </a:p>
                  </a:txBody>
                  <a:tcPr marL="79115" marR="79115" marT="39558" marB="39558" anchor="ctr"/>
                </a:tc>
                <a:extLst>
                  <a:ext uri="{0D108BD9-81ED-4DB2-BD59-A6C34878D82A}">
                    <a16:rowId xmlns:a16="http://schemas.microsoft.com/office/drawing/2014/main" val="2570391987"/>
                  </a:ext>
                </a:extLst>
              </a:tr>
            </a:tbl>
          </a:graphicData>
        </a:graphic>
      </p:graphicFrame>
      <p:sp>
        <p:nvSpPr>
          <p:cNvPr id="5" name="TextBox 4">
            <a:extLst>
              <a:ext uri="{FF2B5EF4-FFF2-40B4-BE49-F238E27FC236}">
                <a16:creationId xmlns:a16="http://schemas.microsoft.com/office/drawing/2014/main" id="{603A41D0-DDA5-4501-625A-A496ABED24F7}"/>
              </a:ext>
            </a:extLst>
          </p:cNvPr>
          <p:cNvSpPr txBox="1"/>
          <p:nvPr/>
        </p:nvSpPr>
        <p:spPr>
          <a:xfrm>
            <a:off x="477774" y="197797"/>
            <a:ext cx="2932938" cy="369332"/>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Application of Sensors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10845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35FC3-363B-52D5-6411-502BA6A27BF2}"/>
            </a:ext>
          </a:extLst>
        </p:cNvPr>
        <p:cNvGrpSpPr/>
        <p:nvPr/>
      </p:nvGrpSpPr>
      <p:grpSpPr>
        <a:xfrm>
          <a:off x="0" y="0"/>
          <a:ext cx="0" cy="0"/>
          <a:chOff x="0" y="0"/>
          <a:chExt cx="0" cy="0"/>
        </a:xfrm>
      </p:grpSpPr>
      <p:sp>
        <p:nvSpPr>
          <p:cNvPr id="29" name="Text Placeholder 6">
            <a:extLst>
              <a:ext uri="{FF2B5EF4-FFF2-40B4-BE49-F238E27FC236}">
                <a16:creationId xmlns:a16="http://schemas.microsoft.com/office/drawing/2014/main" id="{EDFF873A-999D-095C-9C49-27B04505E081}"/>
              </a:ext>
            </a:extLst>
          </p:cNvPr>
          <p:cNvSpPr txBox="1">
            <a:spLocks/>
          </p:cNvSpPr>
          <p:nvPr/>
        </p:nvSpPr>
        <p:spPr>
          <a:xfrm>
            <a:off x="542389" y="1079173"/>
            <a:ext cx="10799530" cy="5252080"/>
          </a:xfrm>
          <a:prstGeom prst="rect">
            <a:avLst/>
          </a:prstGeom>
        </p:spPr>
        <p:txBody>
          <a:bodyPr>
            <a:normAutofit/>
          </a:bodyPr>
          <a:lstStyle>
            <a:lvl1pPr marL="342900" marR="0" lvl="0" indent="-342900" algn="l" defTabSz="914400" rtl="0" fontAlgn="auto" hangingPunct="1">
              <a:lnSpc>
                <a:spcPct val="100000"/>
              </a:lnSpc>
              <a:spcBef>
                <a:spcPts val="600"/>
              </a:spcBef>
              <a:spcAft>
                <a:spcPts val="0"/>
              </a:spcAft>
              <a:buClr>
                <a:srgbClr val="006699"/>
              </a:buClr>
              <a:buSzPct val="110000"/>
              <a:buFont typeface="Wingdings" pitchFamily="2"/>
              <a:buChar char="§"/>
              <a:tabLst/>
              <a:defRPr lang="de-DE" sz="2400" b="0" i="0" u="none" strike="noStrike" kern="1200" cap="none" spc="0" baseline="0">
                <a:solidFill>
                  <a:srgbClr val="000000"/>
                </a:solidFill>
                <a:uFillTx/>
                <a:latin typeface="Arial" pitchFamily="34"/>
                <a:cs typeface="Arial" pitchFamily="34"/>
              </a:defRPr>
            </a:lvl1pPr>
            <a:lvl2pPr marL="742950" marR="0" lvl="1" indent="-285750" algn="l" defTabSz="914400" rtl="0" fontAlgn="auto" hangingPunct="1">
              <a:lnSpc>
                <a:spcPct val="100000"/>
              </a:lnSpc>
              <a:spcBef>
                <a:spcPts val="500"/>
              </a:spcBef>
              <a:spcAft>
                <a:spcPts val="0"/>
              </a:spcAft>
              <a:buClr>
                <a:srgbClr val="006699"/>
              </a:buClr>
              <a:buSzPct val="120000"/>
              <a:buFont typeface="Arial" pitchFamily="34"/>
              <a:buChar char="•"/>
              <a:tabLst/>
              <a:defRPr lang="de-DE" sz="2000" b="0" i="0" u="none" strike="noStrike" kern="1200" cap="none" spc="0" baseline="0">
                <a:solidFill>
                  <a:srgbClr val="000000"/>
                </a:solidFill>
                <a:uFillTx/>
                <a:latin typeface="Arial" pitchFamily="34"/>
                <a:cs typeface="Arial" pitchFamily="34"/>
              </a:defRPr>
            </a:lvl2pPr>
            <a:lvl3pPr marL="1143000" marR="0" lvl="2" indent="-228600" algn="l" defTabSz="914400" rtl="0" fontAlgn="auto" hangingPunct="1">
              <a:lnSpc>
                <a:spcPct val="100000"/>
              </a:lnSpc>
              <a:spcBef>
                <a:spcPts val="0"/>
              </a:spcBef>
              <a:spcAft>
                <a:spcPts val="0"/>
              </a:spcAft>
              <a:buClr>
                <a:srgbClr val="006699"/>
              </a:buClr>
              <a:buSzPct val="120000"/>
              <a:buFont typeface="Symbol" pitchFamily="18"/>
              <a:buChar char="-"/>
              <a:tabLst/>
              <a:defRPr lang="de-DE" sz="1800" b="0" i="0" u="none" strike="noStrike" kern="1200" cap="none" spc="0" baseline="0">
                <a:solidFill>
                  <a:srgbClr val="000000"/>
                </a:solidFill>
                <a:uFillTx/>
                <a:latin typeface="Arial" pitchFamily="34"/>
                <a:cs typeface="Arial" pitchFamily="34"/>
              </a:defRPr>
            </a:lvl3pPr>
            <a:lvl4pPr marL="1600200" marR="0" lvl="3" indent="-228600" algn="l" defTabSz="914400" rtl="0" fontAlgn="auto" hangingPunct="1">
              <a:lnSpc>
                <a:spcPct val="100000"/>
              </a:lnSpc>
              <a:spcBef>
                <a:spcPts val="400"/>
              </a:spcBef>
              <a:spcAft>
                <a:spcPts val="0"/>
              </a:spcAft>
              <a:buSzPct val="100000"/>
              <a:buFont typeface="Arial" pitchFamily="34"/>
              <a:buChar char="–"/>
              <a:tabLst/>
              <a:defRPr lang="de-DE" sz="1600" b="0" i="0" u="none" strike="noStrike" kern="1200" cap="none" spc="0" baseline="0">
                <a:solidFill>
                  <a:srgbClr val="000000"/>
                </a:solidFill>
                <a:uFillTx/>
                <a:latin typeface="Arial" pitchFamily="34"/>
                <a:cs typeface="Arial" pitchFamily="34"/>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600" b="1" dirty="0">
              <a:latin typeface="Times New Roman" panose="02020603050405020304" pitchFamily="18" charset="0"/>
              <a:cs typeface="Times New Roman" panose="02020603050405020304" pitchFamily="18" charset="0"/>
            </a:endParaRPr>
          </a:p>
          <a:p>
            <a:endParaRPr lang="en-IN" b="1" dirty="0"/>
          </a:p>
          <a:p>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932DAF0D-2966-7FB5-36E6-34841140E361}"/>
              </a:ext>
            </a:extLst>
          </p:cNvPr>
          <p:cNvSpPr>
            <a:spLocks noGrp="1"/>
          </p:cNvSpPr>
          <p:nvPr>
            <p:ph type="ctrTitle"/>
          </p:nvPr>
        </p:nvSpPr>
        <p:spPr>
          <a:xfrm>
            <a:off x="1370154" y="1317615"/>
            <a:ext cx="9144000" cy="2387598"/>
          </a:xfrm>
        </p:spPr>
        <p:txBody>
          <a:bodyPr/>
          <a:lstStyle/>
          <a:p>
            <a:r>
              <a:rPr lang="en-DE" sz="5400" b="1" dirty="0">
                <a:solidFill>
                  <a:schemeClr val="accent1"/>
                </a:solidFill>
                <a:latin typeface="Times New Roman" panose="02020603050405020304" pitchFamily="18" charset="0"/>
                <a:cs typeface="Times New Roman" panose="02020603050405020304" pitchFamily="18" charset="0"/>
              </a:rPr>
              <a:t>Thank you for your </a:t>
            </a:r>
            <a:r>
              <a:rPr lang="en-IN" sz="5400" b="1" dirty="0">
                <a:solidFill>
                  <a:schemeClr val="accent1"/>
                </a:solidFill>
                <a:latin typeface="Times New Roman" panose="02020603050405020304" pitchFamily="18" charset="0"/>
                <a:cs typeface="Times New Roman" panose="02020603050405020304" pitchFamily="18" charset="0"/>
              </a:rPr>
              <a:t>attention </a:t>
            </a:r>
          </a:p>
        </p:txBody>
      </p:sp>
    </p:spTree>
    <p:extLst>
      <p:ext uri="{BB962C8B-B14F-4D97-AF65-F5344CB8AC3E}">
        <p14:creationId xmlns:p14="http://schemas.microsoft.com/office/powerpoint/2010/main" val="702386728"/>
      </p:ext>
    </p:extLst>
  </p:cSld>
  <p:clrMapOvr>
    <a:masterClrMapping/>
  </p:clrMapOvr>
</p:sld>
</file>

<file path=ppt/theme/theme1.xml><?xml version="1.0" encoding="utf-8"?>
<a:theme xmlns:a="http://schemas.openxmlformats.org/drawingml/2006/main" name="PPT template A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TotalTime>
  <Words>5474</Words>
  <Application>Microsoft Office PowerPoint</Application>
  <PresentationFormat>Widescreen</PresentationFormat>
  <Paragraphs>881</Paragraphs>
  <Slides>67</Slides>
  <Notes>1</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67</vt:i4>
      </vt:variant>
    </vt:vector>
  </HeadingPairs>
  <TitlesOfParts>
    <vt:vector size="83" baseType="lpstr">
      <vt:lpstr>Arial</vt:lpstr>
      <vt:lpstr>Cabin</vt:lpstr>
      <vt:lpstr>Calibri</vt:lpstr>
      <vt:lpstr>Calibri Light</vt:lpstr>
      <vt:lpstr>Courier New</vt:lpstr>
      <vt:lpstr>fkGroteskNeue</vt:lpstr>
      <vt:lpstr>Helvetica</vt:lpstr>
      <vt:lpstr>Playfair</vt:lpstr>
      <vt:lpstr>Sagona ExtraLight</vt:lpstr>
      <vt:lpstr>Speak Pro</vt:lpstr>
      <vt:lpstr>Symbol</vt:lpstr>
      <vt:lpstr>Times New Roman</vt:lpstr>
      <vt:lpstr>Wingdings</vt:lpstr>
      <vt:lpstr>PPT template AN</vt:lpstr>
      <vt:lpstr>Office Theme</vt:lpstr>
      <vt:lpstr>Worksheet</vt:lpstr>
      <vt:lpstr>Multispectral Sensors in Remote Sensing</vt:lpstr>
      <vt:lpstr>Multispectral Sensors</vt:lpstr>
      <vt:lpstr>Multispectral Sensors</vt:lpstr>
      <vt:lpstr>MSS: Multispectral Scanner</vt:lpstr>
      <vt:lpstr>MSS: Multispectral Scanner</vt:lpstr>
      <vt:lpstr>TM: Thematic Mapper</vt:lpstr>
      <vt:lpstr>TM: Thematic Mapper</vt:lpstr>
      <vt:lpstr>ETM+: Enhanced Thematic Mapper Plus</vt:lpstr>
      <vt:lpstr>ETM+: Enhanced Thematic Mapper Plus</vt:lpstr>
      <vt:lpstr>OLI: Operational Land Imager</vt:lpstr>
      <vt:lpstr>OLI: Operational Land Imager</vt:lpstr>
      <vt:lpstr>TIRS: Thermal Infrared Sensor</vt:lpstr>
      <vt:lpstr>HRV: High Resolution Visible</vt:lpstr>
      <vt:lpstr>HRV: High Resolution Visible</vt:lpstr>
      <vt:lpstr>HRVIR: High Resolution Visible and Infrared</vt:lpstr>
      <vt:lpstr>Spectral band configuration</vt:lpstr>
      <vt:lpstr>NAOMI</vt:lpstr>
      <vt:lpstr>SPECTRAL BAND CONFIGURATION </vt:lpstr>
      <vt:lpstr>MODIS</vt:lpstr>
      <vt:lpstr>MODIS</vt:lpstr>
      <vt:lpstr>ASTER</vt:lpstr>
      <vt:lpstr>ASTER</vt:lpstr>
      <vt:lpstr>Terra spacecraft showing the locations of its five instruments.</vt:lpstr>
      <vt:lpstr>AVHRR</vt:lpstr>
      <vt:lpstr>AVHRR</vt:lpstr>
      <vt:lpstr>MERIS</vt:lpstr>
      <vt:lpstr>MERIS</vt:lpstr>
      <vt:lpstr>MERIS</vt:lpstr>
      <vt:lpstr>OSA : Optical Sensor Assembly</vt:lpstr>
      <vt:lpstr>Spectral band configuration</vt:lpstr>
      <vt:lpstr>QuickBird</vt:lpstr>
      <vt:lpstr>SPECTRAL BAND CONFIGURATION </vt:lpstr>
      <vt:lpstr>WorldView-2</vt:lpstr>
      <vt:lpstr>SPECTRAL BAND CONFIGURATION </vt:lpstr>
      <vt:lpstr>WorldView-3</vt:lpstr>
      <vt:lpstr>SPECTRAL BAND CONFIGURATION </vt:lpstr>
      <vt:lpstr>WorldView-4</vt:lpstr>
      <vt:lpstr>SPECTRAL BAND CONFIGURATION </vt:lpstr>
      <vt:lpstr>RapidEye </vt:lpstr>
      <vt:lpstr>SPECTRAL BAND CONFIGURATION </vt:lpstr>
      <vt:lpstr>Sensor Type: Passive Optical  Agencies: ESA (European Space Agency) &amp; Copernicus Programme Orbit: Sun-synchronous, near-polar orbit Altitude: ~786 km Swath Width: 290 km Spatial Resolution: 10 m, 20 m, 60 m (depending on spectral band) Mission Timeline: Sentinel-2A (2015–Present), Sentinel-2B (2017–Present)</vt:lpstr>
      <vt:lpstr>Key facts</vt:lpstr>
      <vt:lpstr>PowerPoint Presentation</vt:lpstr>
      <vt:lpstr>Applications:</vt:lpstr>
      <vt:lpstr>PowerPoint Presentation</vt:lpstr>
      <vt:lpstr>Sensor Type: Passive Optical (Visible, Near Infrared, Shortwave Infrared, Thermal Infrared) Platform: Suomi NPP and NOAA-20 (JPSS Satellite Series) Agencies: NASA (USA) &amp; NOAA (USA) Orbit: Sun-synchronous, near-polar orbit Altitude: ~824 km Swath Width: 3,040 km Spatial Resolution: 375 m (Imagery bands), 750 m (Moderate-resolution bands) Mission Timeline:  Suomi NPP VIIRS: Launched 28 October 2011 (Operational)  NOAA-20 VIIRS: Launched 18 November 2017 (Operational)  NOAA-21 VIIRS: Launched 10 November 2022 (Operational)</vt:lpstr>
      <vt:lpstr>Key facts</vt:lpstr>
      <vt:lpstr>Types / Satellites Carrying VIIRS</vt:lpstr>
      <vt:lpstr>Key Features:  ➤ Combines high radiometric sensitivity with a wide swath for consistent daily global coverage. ➤ Day/Night Band (DNB) detects low-light emissions (e.g., city lights, aurora, wildfires, gas flares). ➤ Enhanced cloud, aerosol, and ocean color detection capability. ➤ Provides continuity with MODIS and AVHRR for long-term environmental data records.   Applications:  ▪ Land: Vegetation indices (NDVI, EVI), urban heat mapping, land surface temperature ▪ Ocean: Chlorophyll concentration, sediment, and turbidity ▪ Atmosphere: Cloud detection, aerosol optical depth, volcanic ash tracking ▪ Cryosphere: Snow/ice monitoring, sea ice concentration ▪ Disaster Monitoring: Fire hotspots, flood mapping, dust storms, and nighttime events </vt:lpstr>
      <vt:lpstr>Sensor Type: Passive Optical (Visible to Near-Infrared) Platform: ALOS (Advanced Land Observing Satellite) Agency: JAXA – Japan Aerospace Exploration Agency Orbit: Sun-synchronous, near-polar orbit Mission Duration: 2006 – 2011 Altitude: ~692 km Swath Width: 70 km Spatial Resolution: 10 m (across all bands) Viewing Angle: ±30° (pointable off-nadir capability)</vt:lpstr>
      <vt:lpstr>Key facts</vt:lpstr>
      <vt:lpstr>Key Features High radiometric accuracy and geometric precision for cartographic applications. Forward and backward tilt capability (±44°) allowing repeated observations of the same target for stereo imaging. Data synergy with ALOS’s PRISM (panchromatic stereo mapper) and PALSAR (L-band radar) for integrated land analysis. Enhanced sensitivity to vegetation, coastal waters, and urban areas.   Applications Land cover and land-use classification Vegetation monitoring and agriculture assessment Coastal and inland water resource studies Urban and regional mapping Disaster observation (floods, landslides, earthquakes) Integration with digital elevation model (DEM) generation</vt:lpstr>
      <vt:lpstr>Sensor Type: Passive Optical (Visible, Near Infrared, and Shortwave Infrared) Platform: IRS Satellite Series (IRS-1A, IRS-1B, IRS-1C, IRS-1D, Resourcesat-1/2) Agency: ISRO – Indian Space Research Organisation Orbit: Sun-synchronous, near-polar orbit Altitude: ~817 km (IRS-1A/1B) Spatial Resolution: 5.8 m – 72.5 m (varies with version) Swath Width: 23 km – 740 km Mission Timeline: 1988 – Present (continuously upgraded series)</vt:lpstr>
      <vt:lpstr>Key facts</vt:lpstr>
      <vt:lpstr>PowerPoint Presentation</vt:lpstr>
      <vt:lpstr>Features -Push-broom scanner providing wide-area multispectral coverage. -Designed for resource management, crop monitoring, and environmental studies. -Progressive enhancement from LISS-I to LISS-IV improved radiometric accuracy and ground detail. -Integrated with PAN cameras for panchromatic and multispectral fusion (e.g., IRS-1C, 1D). Operates alongside AWiFS for large-area imaging.   Applications  1) Agriculture: Crop type mapping, irrigation planning, yield assessment. 2) Forestry: Canopy density and deforestation monitoring. 3) Water Resources: Reservoir and wetland mapping. 4) Urban Studies: Land use/land cover classification. 5) Disaster Management: Drought, flood, and forest fire monitoring.</vt:lpstr>
      <vt:lpstr>The Charge-Coupled Device (CCD) Camera is the primary multispectral imaging system aboard the CBERS satellites. It provides moderate-resolution imagery across visible to near-infrared bands, supporting environmental, agricultural, and land-use applications. Developed jointly by Brazil and China, the CCD sensor made the CBERS program one of the earliest cooperative Earth observation missions.</vt:lpstr>
      <vt:lpstr>Key facts</vt:lpstr>
      <vt:lpstr>PowerPoint Presentation</vt:lpstr>
      <vt:lpstr>The Arirang Electro-Optical Imaging Subsystem (AEISS) is a high-resolution multispectral and panchromatic imaging system developed by KARI for the KOMPSAT satellite program. It provides fine-resolution Earth observation data for national mapping, disaster monitoring, and environmental applications. Each generation of AEISS enhanced spatial, radiometric, and spectral precision to support both civil and governmental missions.</vt:lpstr>
      <vt:lpstr>Key facts</vt:lpstr>
      <vt:lpstr>PowerPoint Presentation</vt:lpstr>
      <vt:lpstr>PowerPoint Presentation</vt:lpstr>
      <vt:lpstr>PowerPoint Presentation</vt:lpstr>
      <vt:lpstr>PowerPoint Presentation</vt:lpstr>
      <vt:lpstr>PowerPoint Presentation</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Maity, Rishikesh</dc:creator>
  <cp:lastModifiedBy>Pratik Kumar</cp:lastModifiedBy>
  <cp:revision>3</cp:revision>
  <dcterms:created xsi:type="dcterms:W3CDTF">2025-10-06T17:43:24Z</dcterms:created>
  <dcterms:modified xsi:type="dcterms:W3CDTF">2025-10-09T06:20:04Z</dcterms:modified>
</cp:coreProperties>
</file>